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5B2498-E919-4E02-91EC-710F924C2D48}" type="datetimeFigureOut">
              <a:rPr lang="es-ES" smtClean="0"/>
              <a:t>30/10/2026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1DC59-A418-4775-B47F-D10E0AAE5853}" type="slidenum">
              <a:rPr lang="es-ES" smtClean="0"/>
              <a:t>‹Nº›</a:t>
            </a:fld>
            <a:endParaRPr lang="es-ES"/>
          </a:p>
        </p:txBody>
      </p:sp>
    </p:spTree>
    <p:extLst>
      <p:ext uri="{BB962C8B-B14F-4D97-AF65-F5344CB8AC3E}">
        <p14:creationId xmlns:p14="http://schemas.microsoft.com/office/powerpoint/2010/main" val="888505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el proyecto como una propuesta de plataforma mayorista para empresas en Ayacucho. Esta entrega corresponde al diseño del Sprint 01. Las funcionalidades y metas aún requieren implementación y validación.</a:t>
            </a:r>
          </a:p>
          <a:p>
            <a:endParaRPr lang="es-ES"/>
          </a:p>
          <a:p>
            <a:r>
              <a:rPr lang="es-ES"/>
              <a:t>Fuente: README.md</a:t>
            </a:r>
          </a:p>
          <a:p>
            <a:r>
              <a:rPr lang="es-ES"/>
              <a:t>Escudo: Universidad Nacional de San Cristóbal de Huamanga. Archivo original sin alteraciones, escalado proporcionalmente. Fuente: https://commons.wikimedia.org/wiki/File:Escudo_de_la_UNSCH.png . Licencia CC BY-SA 4.0: https://creativecommons.org/licenses/by-sa/4.0/ . Referencia institucional: https://enlinea.unsch.edu.pe/identidad/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a:t>
            </a:fld>
            <a:endParaRPr lang="es-ES"/>
          </a:p>
        </p:txBody>
      </p:sp>
    </p:spTree>
    <p:extLst>
      <p:ext uri="{BB962C8B-B14F-4D97-AF65-F5344CB8AC3E}">
        <p14:creationId xmlns:p14="http://schemas.microsoft.com/office/powerpoint/2010/main" val="499594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las necesidades que motivan la propuesta: encontrar proveedores y reunir precios, mínimos y condiciones para decidir una compra. Ejemplo: una librería necesita útiles de varios tipos y busca una oferta que pueda atender su pedido. Estos supuestos requieren validación con negocios locales. No presentar estadísticas de mercado que el proyecto no ha medido.</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2</a:t>
            </a:fld>
            <a:endParaRPr lang="es-ES"/>
          </a:p>
        </p:txBody>
      </p:sp>
    </p:spTree>
    <p:extLst>
      <p:ext uri="{BB962C8B-B14F-4D97-AF65-F5344CB8AC3E}">
        <p14:creationId xmlns:p14="http://schemas.microsoft.com/office/powerpoint/2010/main" val="996194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una plataforma web entre empresas. El comprador reúne su solicitud y acepta condiciones; el proveedor responde y atiende el pedido. El sistema conserva los precios acordados y reserva existencias al crear el pedido. La plataforma no ofrece transporte propio ni custodia fondos.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3</a:t>
            </a:fld>
            <a:endParaRPr lang="es-ES"/>
          </a:p>
        </p:txBody>
      </p:sp>
    </p:spTree>
    <p:extLst>
      <p:ext uri="{BB962C8B-B14F-4D97-AF65-F5344CB8AC3E}">
        <p14:creationId xmlns:p14="http://schemas.microsoft.com/office/powerpoint/2010/main" val="3255904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personas de sistemas externos. El proveedor es una empresa que puede tener varios usuarios autorizados. Comprador y proveedor comparten acceso a su pedido, pero no a información privada de otras empresas. El administrador verifica y supervisa.</a:t>
            </a:r>
          </a:p>
          <a:p>
            <a:endParaRPr lang="es-ES"/>
          </a:p>
          <a:p>
            <a:r>
              <a:rPr lang="es-ES"/>
              <a:t>Fuente: docs/01-analisis-de-sistema/01-actores.md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4</a:t>
            </a:fld>
            <a:endParaRPr lang="es-ES"/>
          </a:p>
        </p:txBody>
      </p:sp>
    </p:spTree>
    <p:extLst>
      <p:ext uri="{BB962C8B-B14F-4D97-AF65-F5344CB8AC3E}">
        <p14:creationId xmlns:p14="http://schemas.microsoft.com/office/powerpoint/2010/main" val="2690384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Las historias expresan la necesidad desde el punto de vista del usuario. Leer actor, acción y beneficio. Se presenta una selección del recorrido principal y se conservan los identificadores del documento. La prioridad alta no implica que ya esté implementada la funcionalidad.</a:t>
            </a:r>
          </a:p>
          <a:p>
            <a:endParaRPr lang="es-ES"/>
          </a:p>
          <a:p>
            <a:r>
              <a:rPr lang="es-ES"/>
              <a:t>Fuente: docs/01-analisis-de-sistema/02-historias-del-usuario.md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5</a:t>
            </a:fld>
            <a:endParaRPr lang="es-ES"/>
          </a:p>
        </p:txBody>
      </p:sp>
    </p:spTree>
    <p:extLst>
      <p:ext uri="{BB962C8B-B14F-4D97-AF65-F5344CB8AC3E}">
        <p14:creationId xmlns:p14="http://schemas.microsoft.com/office/powerpoint/2010/main" val="3386181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proveedor publica su oferta y responde solicitudes. El administrador verifica proveedores antes de que operen. Se conservan las historias del alcance general. Las condiciones exactas y los criterios de aceptación se encuentran en la documentación del repositorio.</a:t>
            </a:r>
          </a:p>
          <a:p>
            <a:endParaRPr lang="es-ES"/>
          </a:p>
          <a:p>
            <a:r>
              <a:rPr lang="es-ES"/>
              <a:t>Fuente: docs/01-analisis-de-sistema/02-historias-del-usuario.md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6</a:t>
            </a:fld>
            <a:endParaRPr lang="es-ES"/>
          </a:p>
        </p:txBody>
      </p:sp>
    </p:spTree>
    <p:extLst>
      <p:ext uri="{BB962C8B-B14F-4D97-AF65-F5344CB8AC3E}">
        <p14:creationId xmlns:p14="http://schemas.microsoft.com/office/powerpoint/2010/main" val="2613120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Los requisitos describen el comportamiento esperado del sistema. Esta tabla resume el contenido, conservando los identificadores originales. RF-13 y RF-14 concretan la solicitud y respuesta de cotización. RF-18 y RF-19 conectan la oferta aceptada con el pedido y la validación de stock. Presentar las metas de rendimiento aparte, como atributos de calidad.</a:t>
            </a:r>
          </a:p>
          <a:p>
            <a:endParaRPr lang="es-ES"/>
          </a:p>
          <a:p>
            <a:r>
              <a:rPr lang="es-ES"/>
              <a:t>Fuente: docs/01-analisis-de-sistema/03-requisitos-funcionales.md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7</a:t>
            </a:fld>
            <a:endParaRPr lang="es-ES"/>
          </a:p>
        </p:txBody>
      </p:sp>
    </p:spTree>
    <p:extLst>
      <p:ext uri="{BB962C8B-B14F-4D97-AF65-F5344CB8AC3E}">
        <p14:creationId xmlns:p14="http://schemas.microsoft.com/office/powerpoint/2010/main" val="2135678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alcance general y primera implementación. La autenticación y los permisos pertenecen al núcleo propuesto. Los requisitos de pago, facturación e IA permanecen en la visión documentada, pero su inclusión en el MVP debe validarse con la docente. El registro manual de un pago no cumple por sí solo el requisito de integración con una pasarela.</a:t>
            </a:r>
          </a:p>
          <a:p>
            <a:endParaRPr lang="es-ES"/>
          </a:p>
          <a:p>
            <a:r>
              <a:rPr lang="es-ES"/>
              <a:t>Fuente: docs/01-analisis-de-sistema/03-requisitos-funcionales.md; README.md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8</a:t>
            </a:fld>
            <a:endParaRPr lang="es-ES"/>
          </a:p>
        </p:txBody>
      </p:sp>
    </p:spTree>
    <p:extLst>
      <p:ext uri="{BB962C8B-B14F-4D97-AF65-F5344CB8AC3E}">
        <p14:creationId xmlns:p14="http://schemas.microsoft.com/office/powerpoint/2010/main" val="1850714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MVP significa producto mínimo viable. El núcleo propuesto conserva el proceso de compra y reduce integraciones iniciales. La modalidad de pagos y la inclusión de IA deben validarse con la docente según la rúbrica. La primera versión puede abarcar varios sprints. No prometer fecha o costo sin estimar horas y recursos.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9</a:t>
            </a:fld>
            <a:endParaRPr lang="es-ES"/>
          </a:p>
        </p:txBody>
      </p:sp>
    </p:spTree>
    <p:extLst>
      <p:ext uri="{BB962C8B-B14F-4D97-AF65-F5344CB8AC3E}">
        <p14:creationId xmlns:p14="http://schemas.microsoft.com/office/powerpoint/2010/main" val="1914934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Todas las cifras son metas propuestas, no resultados. p95 significa que al menos 95% de solicitudes medidas cumple el límite. Los dos mil usuarios son usuarios virtuales activos con pausas, no dos mil solicitudes por segundo. La disponibilidad requiere observación mensual. Para seguridad, la aprobación se limita a la matriz de casos ejecutada.</a:t>
            </a:r>
          </a:p>
          <a:p>
            <a:endParaRPr lang="es-ES"/>
          </a:p>
          <a:p>
            <a:r>
              <a:rPr lang="es-ES"/>
              <a:t>Fuente: docs/01-analisis-de-sistema/04-atributos-de-calidad.md; docs/01-analisis-de-sistema/08-escenarios-atributos-calidad.md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10</a:t>
            </a:fld>
            <a:endParaRPr lang="es-ES"/>
          </a:p>
        </p:txBody>
      </p:sp>
    </p:spTree>
    <p:extLst>
      <p:ext uri="{BB962C8B-B14F-4D97-AF65-F5344CB8AC3E}">
        <p14:creationId xmlns:p14="http://schemas.microsoft.com/office/powerpoint/2010/main" val="1204615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el procedimiento y las herramientas. k6 se ejecuta separado del backend. El perfil propone mesetas de cinco minutos en 500, mil y dos mil usuarios, con subidas de dos minutos y pausas de dos segundos. Se evalúa por endpoint y meseta, separando calentamiento. CloudWatch correlaciona recursos y latencia. La prueba de stock usa quinientos compradores distintos, una creación por comprador y cien unidades iniciales. Las respuestas de negocio esperadas se contabilizan aparte de los errores técnicos. Disponibilidad se observa un mes. Guardar versión, configuración, scripts, métricas y consultas. Los casos de desarrollo comienzan antes del despliegue.</a:t>
            </a:r>
          </a:p>
          <a:p>
            <a:endParaRPr lang="es-ES"/>
          </a:p>
          <a:p>
            <a:r>
              <a:rPr lang="es-ES"/>
              <a:t>Fuente: docs/01-analisis-de-sistema/09-plan-de-medicion-calidad.md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11</a:t>
            </a:fld>
            <a:endParaRPr lang="es-ES"/>
          </a:p>
        </p:txBody>
      </p:sp>
    </p:spTree>
    <p:extLst>
      <p:ext uri="{BB962C8B-B14F-4D97-AF65-F5344CB8AC3E}">
        <p14:creationId xmlns:p14="http://schemas.microsoft.com/office/powerpoint/2010/main" val="843026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 driver es una necesidad que condiciona el diseño. Explicar la relación entre necesidad y decisión técnica. El stock exige transacciones y control de concurrencia. Los permisos requieren autorización por empresa y participación. La mantenibilidad orienta modularidad y capas. El presupuesto limitado exige priorizar el núcleo y medir antes de añadir recursos.</a:t>
            </a:r>
          </a:p>
          <a:p>
            <a:endParaRPr lang="es-ES"/>
          </a:p>
          <a:p>
            <a:r>
              <a:rPr lang="es-ES"/>
              <a:t>Fuente: docs/01-analisis-de-sistema/06-driver-arquitectonicos.md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12</a:t>
            </a:fld>
            <a:endParaRPr lang="es-ES"/>
          </a:p>
        </p:txBody>
      </p:sp>
    </p:spTree>
    <p:extLst>
      <p:ext uri="{BB962C8B-B14F-4D97-AF65-F5344CB8AC3E}">
        <p14:creationId xmlns:p14="http://schemas.microsoft.com/office/powerpoint/2010/main" val="2760351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las decisiones corresponden a perspectivas diferentes y se combinan. Cliente-servidor separa navegador y API. El monolito modular reúne los módulos comerciales en un backend desplegable. Clean Architecture separa reglas y tecnología dentro de cada módulo. El procesamiento asíncrono se propone para tareas posteriores si entran en el alcance. Se evita dividir todo el negocio en microservicios por el esfuerzo operativo adicional.</a:t>
            </a:r>
          </a:p>
          <a:p>
            <a:endParaRPr lang="es-ES"/>
          </a:p>
          <a:p>
            <a:r>
              <a:rPr lang="es-ES"/>
              <a:t>Fuente: docs/02-arquitectura-software/estilo-arquitectonico.md; docs/02-arquitectura-software/enfoque-arquitectonico.md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13</a:t>
            </a:fld>
            <a:endParaRPr lang="es-ES"/>
          </a:p>
        </p:txBody>
      </p:sp>
    </p:spTree>
    <p:extLst>
      <p:ext uri="{BB962C8B-B14F-4D97-AF65-F5344CB8AC3E}">
        <p14:creationId xmlns:p14="http://schemas.microsoft.com/office/powerpoint/2010/main" val="665761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ejemplo: el controlador recibe HTTP, el caso de uso autoriza y coordina, el dominio valida cantidades y estados y los adaptadores ejecutan persistencia e integraciones. Las flechas muestran dependencias del código: infraestructura implementa puertos internos. La composición de NestJS conecta las implementaciones. El dominio no importa el ORM ni SDK de pagos.</a:t>
            </a:r>
          </a:p>
          <a:p>
            <a:endParaRPr lang="es-ES"/>
          </a:p>
          <a:p>
            <a:r>
              <a:rPr lang="es-ES"/>
              <a:t>Fuente: docs/02-arquitectura-software/enfoque-arquitectonico.md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14</a:t>
            </a:fld>
            <a:endParaRPr lang="es-ES"/>
          </a:p>
        </p:txBody>
      </p:sp>
    </p:spTree>
    <p:extLst>
      <p:ext uri="{BB962C8B-B14F-4D97-AF65-F5344CB8AC3E}">
        <p14:creationId xmlns:p14="http://schemas.microsoft.com/office/powerpoint/2010/main" val="1628170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Modelo resumido del flujo, con relaciones y entidades editables. Cada empresa agrupa usuarios. El proveedor publica productos. Una cotización tiene respuestas y una oferta aceptada origina como máximo un pedido. Los ítems conservan precios históricos y las reservas vinculan pedido y producto. El esquema completo incluye destinatarios, detalles de cotización, pagos y auditoría. Cada pedido corresponde a un comprador y un proveedor.</a:t>
            </a:r>
          </a:p>
          <a:p>
            <a:endParaRPr lang="es-ES"/>
          </a:p>
          <a:p>
            <a:r>
              <a:rPr lang="es-ES"/>
              <a:t>Fuente: docs/03-diseno-de-software/esquema-base-de-datos.md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15</a:t>
            </a:fld>
            <a:endParaRPr lang="es-ES"/>
          </a:p>
        </p:txBody>
      </p:sp>
    </p:spTree>
    <p:extLst>
      <p:ext uri="{BB962C8B-B14F-4D97-AF65-F5344CB8AC3E}">
        <p14:creationId xmlns:p14="http://schemas.microsoft.com/office/powerpoint/2010/main" val="3860037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 regla crítica: pedido, ítems, reserva y descuento de stock disponible pertenecen a una misma transacción y conexión. Ante fallo se revierte todo. Bloquear productos de forma ordenada y validar condiciones evita sobreventa. El pago externo sucede después del commit y necesita referencias persistidas, idempotencia y reconciliación. Un timeout de pago conserva incertidumbre y no autoriza liberar automáticamente la reserva.</a:t>
            </a:r>
          </a:p>
          <a:p>
            <a:endParaRPr lang="es-ES"/>
          </a:p>
          <a:p>
            <a:r>
              <a:rPr lang="es-ES"/>
              <a:t>Fuente: docs/03-diseno-de-software/esquema-base-de-datos.md; docs/04-modelo-c4/Nivel4-Diagrama-de-Codigo.md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16</a:t>
            </a:fld>
            <a:endParaRPr lang="es-ES"/>
          </a:p>
        </p:txBody>
      </p:sp>
    </p:spTree>
    <p:extLst>
      <p:ext uri="{BB962C8B-B14F-4D97-AF65-F5344CB8AC3E}">
        <p14:creationId xmlns:p14="http://schemas.microsoft.com/office/powerpoint/2010/main" val="2716886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conectando la documentación con el trabajo posterior. El Sprint 01 entrega análisis, decisiones y diseño. A continuación se valida el alcance del MVP y se implementa el núcleo con sus pruebas. Swagger/OpenAPI pertenece al Sprint 02. La evaluación real de capacidad requiere desplegar el software y conservar evidencias. El presupuesto y las horas disponibles todavía requieren estimación. No prometer todas las integraciones de la visión general en una sola entrega.</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C41DC59-A418-4775-B47F-D10E0AAE5853}" type="slidenum">
              <a:rPr lang="es-ES" smtClean="0"/>
              <a:t>17</a:t>
            </a:fld>
            <a:endParaRPr lang="es-ES"/>
          </a:p>
        </p:txBody>
      </p:sp>
    </p:spTree>
    <p:extLst>
      <p:ext uri="{BB962C8B-B14F-4D97-AF65-F5344CB8AC3E}">
        <p14:creationId xmlns:p14="http://schemas.microsoft.com/office/powerpoint/2010/main" val="4078607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BA5E9-16B7-781F-9456-1105906BA1F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0728BC1-B470-7CE4-DFF1-F15C89AD7F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CA48514-954D-6A87-5229-F2E0AE74B781}"/>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45C5C516-3759-8AFD-A9B9-5130D8F9F4B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B67DE6C-D574-3584-3701-947DD9949266}"/>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2829142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F730E6-1E25-04CA-B782-24451C4CDB1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1E5A2D3-9115-A7D3-D55F-3F6733F7DD1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E16AA37-7E4B-287C-D618-3911EDE553D5}"/>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058821C2-1D6F-263B-2BA8-E97C5863BA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26713E1-6862-6503-5C43-0C618842CC84}"/>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4057597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02CD9F-F830-E2FD-2F1E-6F20806A174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90065635-FAE3-696B-F889-6727247004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0AA900C-E7C5-0C93-A590-7BC1F0782F0C}"/>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6A720C0A-3872-AE2D-9FF9-9CD5B75AE2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BF121CC-6814-6687-7181-8B306C98987A}"/>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4094950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A2DA89-7D7A-837C-1E2B-926E445FCB3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33DCEF4-47B2-BDF8-BA1C-B4D44A09ED9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62C5A7F-158D-A1DE-C0A8-A30F48B0AA8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EFF0AC8-02FD-1FA6-5A5B-289D2E7AC459}"/>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6" name="Marcador de pie de página 5">
            <a:extLst>
              <a:ext uri="{FF2B5EF4-FFF2-40B4-BE49-F238E27FC236}">
                <a16:creationId xmlns:a16="http://schemas.microsoft.com/office/drawing/2014/main" id="{911AA51D-B917-22AF-A900-53BBA854D38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984595B-FFC1-7A3F-B441-F5E463076371}"/>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4048274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A9F593-52C7-F671-EF0A-20BB80EA347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6B80DD8-8641-7DD7-F7E5-274F4B032B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2ADFAD2-BE6E-64A7-64A3-950DB968BD8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4FF40F9-EB7C-302B-CF04-A57288CA2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3D3260B-CF5D-0A3D-3AFB-BDA4843A73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1C41999-2A8F-5026-D54F-5B89FA9D1F4A}"/>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8" name="Marcador de pie de página 7">
            <a:extLst>
              <a:ext uri="{FF2B5EF4-FFF2-40B4-BE49-F238E27FC236}">
                <a16:creationId xmlns:a16="http://schemas.microsoft.com/office/drawing/2014/main" id="{DE6BFE14-010E-6E27-9BE4-FFB587549C8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7B35EFB8-A74E-BC62-0E4D-394B6399BC55}"/>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379950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BBC977-B359-2BB7-497D-C196AA496746}"/>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487C756F-31BA-14B8-BFF0-BD6A080E0515}"/>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4" name="Marcador de pie de página 3">
            <a:extLst>
              <a:ext uri="{FF2B5EF4-FFF2-40B4-BE49-F238E27FC236}">
                <a16:creationId xmlns:a16="http://schemas.microsoft.com/office/drawing/2014/main" id="{A588DFC4-48D2-C924-A858-E03DFD53CA59}"/>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15213877-3FE0-EC26-C4EA-A6BB3D4AFE0F}"/>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992206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C206E51-A037-0E90-4164-8460A1821152}"/>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3" name="Marcador de pie de página 2">
            <a:extLst>
              <a:ext uri="{FF2B5EF4-FFF2-40B4-BE49-F238E27FC236}">
                <a16:creationId xmlns:a16="http://schemas.microsoft.com/office/drawing/2014/main" id="{7781B2C0-BF24-D420-5E68-065EFFA98C67}"/>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9CAC38FD-3CA1-1E97-7DA9-AB5024A3A242}"/>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1668523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FFDEDD-19EE-6CEE-2A91-F01534F9BF4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3F20EF3-0035-E96C-F923-0D8CD7F2DB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B7A39A9-D64B-734C-B77E-BC78C36E8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1B23A3C-AC1C-CA06-BF5A-65F85EF0491E}"/>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6" name="Marcador de pie de página 5">
            <a:extLst>
              <a:ext uri="{FF2B5EF4-FFF2-40B4-BE49-F238E27FC236}">
                <a16:creationId xmlns:a16="http://schemas.microsoft.com/office/drawing/2014/main" id="{0977E461-904A-DC53-560B-C5FAA32FB27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BE29DD3-79FD-911E-AE1D-F3E7E231F8D3}"/>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235100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A0154-3933-E770-619F-6F7744718C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069F7C9-1A48-AA1B-FC07-7F3D368C0A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3C50CE5-071F-8A14-66DD-5A667AB1B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9D51494-1F02-94DE-033C-F2B3F2D25251}"/>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6" name="Marcador de pie de página 5">
            <a:extLst>
              <a:ext uri="{FF2B5EF4-FFF2-40B4-BE49-F238E27FC236}">
                <a16:creationId xmlns:a16="http://schemas.microsoft.com/office/drawing/2014/main" id="{3EA38C9C-41B6-58D7-6BB5-365556A46CE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E984447-6014-5429-FC85-78E2B3C89E8C}"/>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3813688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B477F-A298-F55B-97C1-3B0E7F29C78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E78F2339-0128-6602-AC32-B3F750CF9EF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4E6E718-8376-655F-CC6C-DC155B968959}"/>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D568E09B-3C6E-CBF2-A811-6345BF4B5C0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4FC0E2C-B264-C232-28C6-ADFF61A38EF1}"/>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338823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E3421B-E472-FD1B-284E-5C4CF83CC75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EB4E141-7C61-DB27-BC93-45D175F3EA8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F4A66B9-87D2-5A40-F619-FB93243B97FD}"/>
              </a:ext>
            </a:extLst>
          </p:cNvPr>
          <p:cNvSpPr>
            <a:spLocks noGrp="1"/>
          </p:cNvSpPr>
          <p:nvPr>
            <p:ph type="dt" sz="half" idx="10"/>
          </p:nvPr>
        </p:nvSpPr>
        <p:spPr/>
        <p:txBody>
          <a:body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B37387BA-71F8-EDAD-812C-DBAB2BEFB9B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B0A3DFB-0F63-7FDE-85A3-E2E710264E17}"/>
              </a:ext>
            </a:extLst>
          </p:cNvPr>
          <p:cNvSpPr>
            <a:spLocks noGrp="1"/>
          </p:cNvSpPr>
          <p:nvPr>
            <p:ph type="sldNum" sz="quarter" idx="12"/>
          </p:nvPr>
        </p:nvSpPr>
        <p:spPr/>
        <p:txBody>
          <a:bodyPr/>
          <a:lstStyle/>
          <a:p>
            <a:fld id="{90178684-4BD8-48F2-B07D-E8AA34C8B637}" type="slidenum">
              <a:rPr lang="es-ES" smtClean="0"/>
              <a:t>‹Nº›</a:t>
            </a:fld>
            <a:endParaRPr lang="es-ES"/>
          </a:p>
        </p:txBody>
      </p:sp>
    </p:spTree>
    <p:extLst>
      <p:ext uri="{BB962C8B-B14F-4D97-AF65-F5344CB8AC3E}">
        <p14:creationId xmlns:p14="http://schemas.microsoft.com/office/powerpoint/2010/main" val="2469835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0F3E645-058C-DEC5-CA67-C2AE615A09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8CE9C2E-4FFD-6850-4A6F-6F913937D4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7C82560-9789-8FF0-919C-4AFE5EE339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FDFED-8171-41E4-ADBF-C25E281CE70E}" type="datetimeFigureOut">
              <a:rPr lang="es-ES" smtClean="0"/>
              <a:t>30/10/2026</a:t>
            </a:fld>
            <a:endParaRPr lang="es-ES"/>
          </a:p>
        </p:txBody>
      </p:sp>
      <p:sp>
        <p:nvSpPr>
          <p:cNvPr id="5" name="Marcador de pie de página 4">
            <a:extLst>
              <a:ext uri="{FF2B5EF4-FFF2-40B4-BE49-F238E27FC236}">
                <a16:creationId xmlns:a16="http://schemas.microsoft.com/office/drawing/2014/main" id="{5A86048B-0D58-EAFC-CFEE-81421EB569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CA4C9F28-E4A4-931B-1654-0693FB7A3D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178684-4BD8-48F2-B07D-E8AA34C8B637}" type="slidenum">
              <a:rPr lang="es-ES" smtClean="0"/>
              <a:t>‹Nº›</a:t>
            </a:fld>
            <a:endParaRPr lang="es-ES"/>
          </a:p>
        </p:txBody>
      </p:sp>
    </p:spTree>
    <p:extLst>
      <p:ext uri="{BB962C8B-B14F-4D97-AF65-F5344CB8AC3E}">
        <p14:creationId xmlns:p14="http://schemas.microsoft.com/office/powerpoint/2010/main" val="2885934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A9883E5-A52E-B495-1DF4-61DBD9F03809}"/>
              </a:ext>
            </a:extLst>
          </p:cNvPr>
          <p:cNvSpPr txBox="1"/>
          <p:nvPr/>
        </p:nvSpPr>
        <p:spPr>
          <a:xfrm>
            <a:off x="698500" y="317500"/>
            <a:ext cx="10795000" cy="353943"/>
          </a:xfrm>
          <a:prstGeom prst="rect">
            <a:avLst/>
          </a:prstGeom>
          <a:noFill/>
        </p:spPr>
        <p:txBody>
          <a:bodyPr vert="horz" wrap="square" lIns="0" tIns="0" rIns="0" bIns="0" rtlCol="0">
            <a:spAutoFit/>
          </a:bodyPr>
          <a:lstStyle/>
          <a:p>
            <a:pPr algn="ctr"/>
            <a:r>
              <a:rPr lang="es-ES" sz="2300" b="1">
                <a:solidFill>
                  <a:srgbClr val="74283D"/>
                </a:solidFill>
                <a:latin typeface="Aptos" panose="020B0004020202020204" pitchFamily="34" charset="0"/>
              </a:rPr>
              <a:t>UNIVERSIDAD NACIONAL DE SAN CRISTÓBAL DE HUAMANGA</a:t>
            </a:r>
          </a:p>
        </p:txBody>
      </p:sp>
      <p:sp>
        <p:nvSpPr>
          <p:cNvPr id="6" name="CuadroTexto 5">
            <a:extLst>
              <a:ext uri="{FF2B5EF4-FFF2-40B4-BE49-F238E27FC236}">
                <a16:creationId xmlns:a16="http://schemas.microsoft.com/office/drawing/2014/main" id="{CDBFEBAC-F479-1F71-2121-E563294DA170}"/>
              </a:ext>
            </a:extLst>
          </p:cNvPr>
          <p:cNvSpPr txBox="1"/>
          <p:nvPr/>
        </p:nvSpPr>
        <p:spPr>
          <a:xfrm>
            <a:off x="698500" y="8509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Escuela Profesional de Ingeniería de Sistemas</a:t>
            </a:r>
          </a:p>
        </p:txBody>
      </p:sp>
      <p:pic>
        <p:nvPicPr>
          <p:cNvPr id="8" name="Imagen 7">
            <a:extLst>
              <a:ext uri="{FF2B5EF4-FFF2-40B4-BE49-F238E27FC236}">
                <a16:creationId xmlns:a16="http://schemas.microsoft.com/office/drawing/2014/main" id="{95783339-AE18-14C9-13D6-DA601D935D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27650" y="1333500"/>
            <a:ext cx="1536700" cy="2057400"/>
          </a:xfrm>
          <a:prstGeom prst="rect">
            <a:avLst/>
          </a:prstGeom>
        </p:spPr>
      </p:pic>
      <p:sp>
        <p:nvSpPr>
          <p:cNvPr id="9" name="CuadroTexto 8">
            <a:extLst>
              <a:ext uri="{FF2B5EF4-FFF2-40B4-BE49-F238E27FC236}">
                <a16:creationId xmlns:a16="http://schemas.microsoft.com/office/drawing/2014/main" id="{5D90B9F3-DB1F-0511-9D76-B61CEFC0514B}"/>
              </a:ext>
            </a:extLst>
          </p:cNvPr>
          <p:cNvSpPr txBox="1"/>
          <p:nvPr/>
        </p:nvSpPr>
        <p:spPr>
          <a:xfrm>
            <a:off x="698500" y="3619500"/>
            <a:ext cx="10795000" cy="738664"/>
          </a:xfrm>
          <a:prstGeom prst="rect">
            <a:avLst/>
          </a:prstGeom>
          <a:noFill/>
        </p:spPr>
        <p:txBody>
          <a:bodyPr vert="horz" wrap="square" lIns="0" tIns="0" rIns="0" bIns="0" rtlCol="0">
            <a:spAutoFit/>
          </a:bodyPr>
          <a:lstStyle/>
          <a:p>
            <a:pPr algn="ctr"/>
            <a:r>
              <a:rPr lang="es-ES" sz="4800" b="1">
                <a:solidFill>
                  <a:srgbClr val="74283D"/>
                </a:solidFill>
                <a:latin typeface="Aptos" panose="020B0004020202020204" pitchFamily="34" charset="0"/>
              </a:rPr>
              <a:t>MayoristaPro B2B</a:t>
            </a:r>
          </a:p>
        </p:txBody>
      </p:sp>
      <p:sp>
        <p:nvSpPr>
          <p:cNvPr id="10" name="CuadroTexto 9">
            <a:extLst>
              <a:ext uri="{FF2B5EF4-FFF2-40B4-BE49-F238E27FC236}">
                <a16:creationId xmlns:a16="http://schemas.microsoft.com/office/drawing/2014/main" id="{BB9DDAA2-26FD-97F1-4587-D54D5956E867}"/>
              </a:ext>
            </a:extLst>
          </p:cNvPr>
          <p:cNvSpPr txBox="1"/>
          <p:nvPr/>
        </p:nvSpPr>
        <p:spPr>
          <a:xfrm>
            <a:off x="698500" y="4470400"/>
            <a:ext cx="10795000" cy="338554"/>
          </a:xfrm>
          <a:prstGeom prst="rect">
            <a:avLst/>
          </a:prstGeom>
          <a:noFill/>
        </p:spPr>
        <p:txBody>
          <a:bodyPr vert="horz" wrap="square" lIns="0" tIns="0" rIns="0" bIns="0" rtlCol="0">
            <a:spAutoFit/>
          </a:bodyPr>
          <a:lstStyle/>
          <a:p>
            <a:pPr algn="ctr"/>
            <a:r>
              <a:rPr lang="es-ES" sz="2200">
                <a:solidFill>
                  <a:srgbClr val="203447"/>
                </a:solidFill>
                <a:latin typeface="Aptos" panose="020B0004020202020204" pitchFamily="34" charset="0"/>
              </a:rPr>
              <a:t>Plataforma de comercialización mayorista en Ayacucho</a:t>
            </a:r>
          </a:p>
        </p:txBody>
      </p:sp>
      <p:sp>
        <p:nvSpPr>
          <p:cNvPr id="11" name="CuadroTexto 10">
            <a:extLst>
              <a:ext uri="{FF2B5EF4-FFF2-40B4-BE49-F238E27FC236}">
                <a16:creationId xmlns:a16="http://schemas.microsoft.com/office/drawing/2014/main" id="{065111E0-8357-9824-6C8E-EBE23874DD22}"/>
              </a:ext>
            </a:extLst>
          </p:cNvPr>
          <p:cNvSpPr txBox="1"/>
          <p:nvPr/>
        </p:nvSpPr>
        <p:spPr>
          <a:xfrm>
            <a:off x="698500" y="5041900"/>
            <a:ext cx="10795000" cy="338554"/>
          </a:xfrm>
          <a:prstGeom prst="rect">
            <a:avLst/>
          </a:prstGeom>
          <a:noFill/>
        </p:spPr>
        <p:txBody>
          <a:bodyPr vert="horz" wrap="square" lIns="0" tIns="0" rIns="0" bIns="0" rtlCol="0">
            <a:spAutoFit/>
          </a:bodyPr>
          <a:lstStyle/>
          <a:p>
            <a:pPr algn="ctr"/>
            <a:r>
              <a:rPr lang="es-ES" sz="2200" b="1">
                <a:solidFill>
                  <a:srgbClr val="74283D"/>
                </a:solidFill>
                <a:latin typeface="Aptos" panose="020B0004020202020204" pitchFamily="34" charset="0"/>
              </a:rPr>
              <a:t>Arquitectura de Software</a:t>
            </a:r>
          </a:p>
        </p:txBody>
      </p:sp>
      <p:sp>
        <p:nvSpPr>
          <p:cNvPr id="12" name="CuadroTexto 11">
            <a:extLst>
              <a:ext uri="{FF2B5EF4-FFF2-40B4-BE49-F238E27FC236}">
                <a16:creationId xmlns:a16="http://schemas.microsoft.com/office/drawing/2014/main" id="{CA4FFF70-8B33-1853-493B-9BF36B77A5AF}"/>
              </a:ext>
            </a:extLst>
          </p:cNvPr>
          <p:cNvSpPr txBox="1"/>
          <p:nvPr/>
        </p:nvSpPr>
        <p:spPr>
          <a:xfrm>
            <a:off x="698500" y="5575300"/>
            <a:ext cx="10795000" cy="307777"/>
          </a:xfrm>
          <a:prstGeom prst="rect">
            <a:avLst/>
          </a:prstGeom>
          <a:noFill/>
        </p:spPr>
        <p:txBody>
          <a:bodyPr vert="horz" wrap="square" lIns="0" tIns="0" rIns="0" bIns="0" rtlCol="0">
            <a:spAutoFit/>
          </a:bodyPr>
          <a:lstStyle/>
          <a:p>
            <a:pPr algn="ctr"/>
            <a:r>
              <a:rPr lang="es-ES" sz="2000">
                <a:solidFill>
                  <a:srgbClr val="203447"/>
                </a:solidFill>
                <a:latin typeface="Aptos" panose="020B0004020202020204" pitchFamily="34" charset="0"/>
              </a:rPr>
              <a:t>Yeltsin Wilber Muñoz Corichahua</a:t>
            </a:r>
          </a:p>
        </p:txBody>
      </p:sp>
      <p:sp>
        <p:nvSpPr>
          <p:cNvPr id="13" name="CuadroTexto 12">
            <a:extLst>
              <a:ext uri="{FF2B5EF4-FFF2-40B4-BE49-F238E27FC236}">
                <a16:creationId xmlns:a16="http://schemas.microsoft.com/office/drawing/2014/main" id="{BC586E47-023B-FD9B-A167-FC8B11D079BA}"/>
              </a:ext>
            </a:extLst>
          </p:cNvPr>
          <p:cNvSpPr txBox="1"/>
          <p:nvPr/>
        </p:nvSpPr>
        <p:spPr>
          <a:xfrm>
            <a:off x="698500" y="59817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Docente: Ing. Lizbeth Jaico Quispe</a:t>
            </a:r>
          </a:p>
        </p:txBody>
      </p:sp>
      <p:sp>
        <p:nvSpPr>
          <p:cNvPr id="14" name="CuadroTexto 13">
            <a:extLst>
              <a:ext uri="{FF2B5EF4-FFF2-40B4-BE49-F238E27FC236}">
                <a16:creationId xmlns:a16="http://schemas.microsoft.com/office/drawing/2014/main" id="{58EC5B67-C9EA-12B4-85D0-03A5EB763CCD}"/>
              </a:ext>
            </a:extLst>
          </p:cNvPr>
          <p:cNvSpPr txBox="1"/>
          <p:nvPr/>
        </p:nvSpPr>
        <p:spPr>
          <a:xfrm>
            <a:off x="698500" y="6477000"/>
            <a:ext cx="10795000" cy="230832"/>
          </a:xfrm>
          <a:prstGeom prst="rect">
            <a:avLst/>
          </a:prstGeom>
          <a:noFill/>
        </p:spPr>
        <p:txBody>
          <a:bodyPr vert="horz" wrap="square" lIns="0" tIns="0" rIns="0" bIns="0" rtlCol="0">
            <a:spAutoFit/>
          </a:bodyPr>
          <a:lstStyle/>
          <a:p>
            <a:pPr algn="ctr"/>
            <a:r>
              <a:rPr lang="es-ES" sz="1500">
                <a:solidFill>
                  <a:srgbClr val="52677A"/>
                </a:solidFill>
                <a:latin typeface="Aptos" panose="020B0004020202020204" pitchFamily="34" charset="0"/>
              </a:rPr>
              <a:t>Ayacucho, Perú  /  2026</a:t>
            </a:r>
          </a:p>
        </p:txBody>
      </p:sp>
    </p:spTree>
    <p:extLst>
      <p:ext uri="{BB962C8B-B14F-4D97-AF65-F5344CB8AC3E}">
        <p14:creationId xmlns:p14="http://schemas.microsoft.com/office/powerpoint/2010/main" val="1898748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DEC4B02-117D-7F9D-362D-EFFEE54CC3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El problema de abastecimiento</a:t>
            </a:r>
          </a:p>
        </p:txBody>
      </p:sp>
      <p:sp>
        <p:nvSpPr>
          <p:cNvPr id="3" name="CuadroTexto 2">
            <a:extLst>
              <a:ext uri="{FF2B5EF4-FFF2-40B4-BE49-F238E27FC236}">
                <a16:creationId xmlns:a16="http://schemas.microsoft.com/office/drawing/2014/main" id="{3210376B-86E6-7119-89C8-90F56DBE332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4BA528CA-7893-E6A7-7519-EDF3D3548B5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a:t>
            </a:r>
          </a:p>
        </p:txBody>
      </p:sp>
      <p:sp>
        <p:nvSpPr>
          <p:cNvPr id="5" name="CuadroTexto 4">
            <a:extLst>
              <a:ext uri="{FF2B5EF4-FFF2-40B4-BE49-F238E27FC236}">
                <a16:creationId xmlns:a16="http://schemas.microsoft.com/office/drawing/2014/main" id="{3EFE40A0-649C-91B6-0360-E6DF14CF6F4B}"/>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Situación que aborda el proyecto</a:t>
            </a:r>
          </a:p>
        </p:txBody>
      </p:sp>
      <p:sp>
        <p:nvSpPr>
          <p:cNvPr id="6" name="CuadroTexto 5">
            <a:extLst>
              <a:ext uri="{FF2B5EF4-FFF2-40B4-BE49-F238E27FC236}">
                <a16:creationId xmlns:a16="http://schemas.microsoft.com/office/drawing/2014/main" id="{583647DF-66D6-5CCB-C9F4-CC230B20BC3C}"/>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Los negocios compradores de Ayacucho necesitan encontrar proveedores mayoristas y reunir información sobre productos, precios por volumen y condiciones de entrega antes de abastecerse.</a:t>
            </a:r>
          </a:p>
        </p:txBody>
      </p:sp>
      <p:sp>
        <p:nvSpPr>
          <p:cNvPr id="7" name="CuadroTexto 6">
            <a:extLst>
              <a:ext uri="{FF2B5EF4-FFF2-40B4-BE49-F238E27FC236}">
                <a16:creationId xmlns:a16="http://schemas.microsoft.com/office/drawing/2014/main" id="{E95A3F12-5A66-41C8-30F6-06B4C17F3837}"/>
              </a:ext>
            </a:extLst>
          </p:cNvPr>
          <p:cNvSpPr txBox="1"/>
          <p:nvPr/>
        </p:nvSpPr>
        <p:spPr>
          <a:xfrm>
            <a:off x="533400" y="33020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Dificultad principal</a:t>
            </a:r>
          </a:p>
        </p:txBody>
      </p:sp>
      <p:sp>
        <p:nvSpPr>
          <p:cNvPr id="8" name="CuadroTexto 7">
            <a:extLst>
              <a:ext uri="{FF2B5EF4-FFF2-40B4-BE49-F238E27FC236}">
                <a16:creationId xmlns:a16="http://schemas.microsoft.com/office/drawing/2014/main" id="{E6E49A0A-2450-011D-B2AA-DE7FFDBBEC7A}"/>
              </a:ext>
            </a:extLst>
          </p:cNvPr>
          <p:cNvSpPr txBox="1"/>
          <p:nvPr/>
        </p:nvSpPr>
        <p:spPr>
          <a:xfrm>
            <a:off x="4064000" y="3276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La decisión de compra requiere comparar ofertas, confirmar existencias y conservar las condiciones acordadas. El seguimiento también exige que comprador y proveedor conozcan el estado del pedido.</a:t>
            </a:r>
          </a:p>
        </p:txBody>
      </p:sp>
      <p:sp>
        <p:nvSpPr>
          <p:cNvPr id="9" name="CuadroTexto 8">
            <a:extLst>
              <a:ext uri="{FF2B5EF4-FFF2-40B4-BE49-F238E27FC236}">
                <a16:creationId xmlns:a16="http://schemas.microsoft.com/office/drawing/2014/main" id="{C694A708-3633-4688-44EA-77F40E82DCC6}"/>
              </a:ext>
            </a:extLst>
          </p:cNvPr>
          <p:cNvSpPr txBox="1"/>
          <p:nvPr/>
        </p:nvSpPr>
        <p:spPr>
          <a:xfrm>
            <a:off x="533400" y="49911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Ejemplo</a:t>
            </a:r>
          </a:p>
        </p:txBody>
      </p:sp>
      <p:sp>
        <p:nvSpPr>
          <p:cNvPr id="10" name="CuadroTexto 9">
            <a:extLst>
              <a:ext uri="{FF2B5EF4-FFF2-40B4-BE49-F238E27FC236}">
                <a16:creationId xmlns:a16="http://schemas.microsoft.com/office/drawing/2014/main" id="{8D2FCFB1-4F67-B78F-4F67-202743C8761A}"/>
              </a:ext>
            </a:extLst>
          </p:cNvPr>
          <p:cNvSpPr txBox="1"/>
          <p:nvPr/>
        </p:nvSpPr>
        <p:spPr>
          <a:xfrm>
            <a:off x="4064000" y="49657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Una librería busca útiles al por mayor y necesita saber quién puede atender su solicitud, a qué precio y bajo qué condiciones.</a:t>
            </a:r>
          </a:p>
        </p:txBody>
      </p:sp>
      <p:sp>
        <p:nvSpPr>
          <p:cNvPr id="11" name="CuadroTexto 10">
            <a:extLst>
              <a:ext uri="{FF2B5EF4-FFF2-40B4-BE49-F238E27FC236}">
                <a16:creationId xmlns:a16="http://schemas.microsoft.com/office/drawing/2014/main" id="{A36D8920-04DB-16D9-1BDF-C16C6B1B3928}"/>
              </a:ext>
            </a:extLst>
          </p:cNvPr>
          <p:cNvSpPr txBox="1"/>
          <p:nvPr/>
        </p:nvSpPr>
        <p:spPr>
          <a:xfrm>
            <a:off x="533400" y="6096000"/>
            <a:ext cx="11125200" cy="246221"/>
          </a:xfrm>
          <a:prstGeom prst="rect">
            <a:avLst/>
          </a:prstGeom>
          <a:noFill/>
        </p:spPr>
        <p:txBody>
          <a:bodyPr vert="horz" wrap="square" lIns="0" tIns="0" rIns="0" bIns="0" rtlCol="0">
            <a:spAutoFit/>
          </a:bodyPr>
          <a:lstStyle/>
          <a:p>
            <a:r>
              <a:rPr lang="es-ES" sz="1600">
                <a:solidFill>
                  <a:srgbClr val="52677A"/>
                </a:solidFill>
                <a:latin typeface="Aptos" panose="020B0004020202020204" pitchFamily="34" charset="0"/>
              </a:rPr>
              <a:t>Supuestos del proyecto pendientes de validación con negocios locales</a:t>
            </a:r>
          </a:p>
        </p:txBody>
      </p:sp>
    </p:spTree>
    <p:extLst>
      <p:ext uri="{BB962C8B-B14F-4D97-AF65-F5344CB8AC3E}">
        <p14:creationId xmlns:p14="http://schemas.microsoft.com/office/powerpoint/2010/main" val="2889309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B34134C-EB04-8534-0C72-AB957374D3A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La propuesta de MayoristaPro</a:t>
            </a:r>
          </a:p>
        </p:txBody>
      </p:sp>
      <p:sp>
        <p:nvSpPr>
          <p:cNvPr id="3" name="CuadroTexto 2">
            <a:extLst>
              <a:ext uri="{FF2B5EF4-FFF2-40B4-BE49-F238E27FC236}">
                <a16:creationId xmlns:a16="http://schemas.microsoft.com/office/drawing/2014/main" id="{AAB10C3A-018C-F792-B2BE-E145B04AB711}"/>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11F76B2-C809-1DAF-5DBC-99305EC2765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3</a:t>
            </a:r>
          </a:p>
        </p:txBody>
      </p:sp>
      <p:sp>
        <p:nvSpPr>
          <p:cNvPr id="5" name="CuadroTexto 4">
            <a:extLst>
              <a:ext uri="{FF2B5EF4-FFF2-40B4-BE49-F238E27FC236}">
                <a16:creationId xmlns:a16="http://schemas.microsoft.com/office/drawing/2014/main" id="{8EF13871-5137-5356-424E-981D4D1EBB51}"/>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Una plataforma web para la compra entre empresas</a:t>
            </a:r>
          </a:p>
        </p:txBody>
      </p:sp>
      <p:sp>
        <p:nvSpPr>
          <p:cNvPr id="6" name="CuadroTexto 5">
            <a:extLst>
              <a:ext uri="{FF2B5EF4-FFF2-40B4-BE49-F238E27FC236}">
                <a16:creationId xmlns:a16="http://schemas.microsoft.com/office/drawing/2014/main" id="{8A04BA2D-871A-0EBE-FAEC-A03B960B6477}"/>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MayoristaPro propone reunir el catálogo, las cotizaciones y los pedidos en un mismo sistema. El comprador podrá consultar productos y solicitar una oferta; el proveedor responderá con sus precios y condiciones.</a:t>
            </a:r>
          </a:p>
        </p:txBody>
      </p:sp>
      <p:sp>
        <p:nvSpPr>
          <p:cNvPr id="7" name="CuadroTexto 6">
            <a:extLst>
              <a:ext uri="{FF2B5EF4-FFF2-40B4-BE49-F238E27FC236}">
                <a16:creationId xmlns:a16="http://schemas.microsoft.com/office/drawing/2014/main" id="{8D717856-05FF-42CF-1F45-01A81FCB7359}"/>
              </a:ext>
            </a:extLst>
          </p:cNvPr>
          <p:cNvSpPr txBox="1"/>
          <p:nvPr/>
        </p:nvSpPr>
        <p:spPr>
          <a:xfrm>
            <a:off x="533400" y="34290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Proceso de compra</a:t>
            </a:r>
          </a:p>
        </p:txBody>
      </p:sp>
      <p:sp>
        <p:nvSpPr>
          <p:cNvPr id="8" name="CuadroTexto 7">
            <a:extLst>
              <a:ext uri="{FF2B5EF4-FFF2-40B4-BE49-F238E27FC236}">
                <a16:creationId xmlns:a16="http://schemas.microsoft.com/office/drawing/2014/main" id="{564EA41B-18A8-20EA-63D2-8DD093E869E8}"/>
              </a:ext>
            </a:extLst>
          </p:cNvPr>
          <p:cNvSpPr txBox="1"/>
          <p:nvPr/>
        </p:nvSpPr>
        <p:spPr>
          <a:xfrm>
            <a:off x="4064000" y="3403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Al aceptar una oferta, el comprador podrá generar un pedido. El sistema verificará el stock y guardará las cantidades y los precios acordados para que ambas partes consulten la operación.</a:t>
            </a:r>
          </a:p>
        </p:txBody>
      </p:sp>
      <p:sp>
        <p:nvSpPr>
          <p:cNvPr id="9" name="CuadroTexto 8">
            <a:extLst>
              <a:ext uri="{FF2B5EF4-FFF2-40B4-BE49-F238E27FC236}">
                <a16:creationId xmlns:a16="http://schemas.microsoft.com/office/drawing/2014/main" id="{1B28A0ED-3BD0-A2E5-1572-F03A34CDF8A0}"/>
              </a:ext>
            </a:extLst>
          </p:cNvPr>
          <p:cNvSpPr txBox="1"/>
          <p:nvPr/>
        </p:nvSpPr>
        <p:spPr>
          <a:xfrm>
            <a:off x="533400" y="51308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Resultado esperado</a:t>
            </a:r>
          </a:p>
        </p:txBody>
      </p:sp>
      <p:sp>
        <p:nvSpPr>
          <p:cNvPr id="10" name="CuadroTexto 9">
            <a:extLst>
              <a:ext uri="{FF2B5EF4-FFF2-40B4-BE49-F238E27FC236}">
                <a16:creationId xmlns:a16="http://schemas.microsoft.com/office/drawing/2014/main" id="{8E847A4A-74C4-DFC2-5D6B-282702CE6E27}"/>
              </a:ext>
            </a:extLst>
          </p:cNvPr>
          <p:cNvSpPr txBox="1"/>
          <p:nvPr/>
        </p:nvSpPr>
        <p:spPr>
          <a:xfrm>
            <a:off x="4064000" y="51054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Contar con información organizada para decidir la compra y dar seguimiento al pedido, evitando reservar más unidades de las disponibles.</a:t>
            </a:r>
          </a:p>
        </p:txBody>
      </p:sp>
    </p:spTree>
    <p:extLst>
      <p:ext uri="{BB962C8B-B14F-4D97-AF65-F5344CB8AC3E}">
        <p14:creationId xmlns:p14="http://schemas.microsoft.com/office/powerpoint/2010/main" val="466248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E1D0226-8D31-7E92-6645-0A19ED905BD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Actores y funciones principales</a:t>
            </a:r>
          </a:p>
        </p:txBody>
      </p:sp>
      <p:sp>
        <p:nvSpPr>
          <p:cNvPr id="3" name="CuadroTexto 2">
            <a:extLst>
              <a:ext uri="{FF2B5EF4-FFF2-40B4-BE49-F238E27FC236}">
                <a16:creationId xmlns:a16="http://schemas.microsoft.com/office/drawing/2014/main" id="{8CCD6542-8DF0-3EEF-6E6F-51245C843F9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351A8E1-0433-1C07-1151-04A4A612C300}"/>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4</a:t>
            </a:r>
          </a:p>
        </p:txBody>
      </p:sp>
      <p:graphicFrame>
        <p:nvGraphicFramePr>
          <p:cNvPr id="5" name="Tabla 4">
            <a:extLst>
              <a:ext uri="{FF2B5EF4-FFF2-40B4-BE49-F238E27FC236}">
                <a16:creationId xmlns:a16="http://schemas.microsoft.com/office/drawing/2014/main" id="{9533D250-8816-3E63-88ED-7337EA4186A9}"/>
              </a:ext>
            </a:extLst>
          </p:cNvPr>
          <p:cNvGraphicFramePr>
            <a:graphicFrameLocks noGrp="1"/>
          </p:cNvGraphicFramePr>
          <p:nvPr>
            <p:extLst>
              <p:ext uri="{D42A27DB-BD31-4B8C-83A1-F6EECF244321}">
                <p14:modId xmlns:p14="http://schemas.microsoft.com/office/powerpoint/2010/main" val="4265437993"/>
              </p:ext>
            </p:extLst>
          </p:nvPr>
        </p:nvGraphicFramePr>
        <p:xfrm>
          <a:off x="533400" y="1524000"/>
          <a:ext cx="11125200" cy="39370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1167393326"/>
                    </a:ext>
                  </a:extLst>
                </a:gridCol>
                <a:gridCol w="7886700">
                  <a:extLst>
                    <a:ext uri="{9D8B030D-6E8A-4147-A177-3AD203B41FA5}">
                      <a16:colId xmlns:a16="http://schemas.microsoft.com/office/drawing/2014/main" val="3232294219"/>
                    </a:ext>
                  </a:extLst>
                </a:gridCol>
              </a:tblGrid>
              <a:tr h="984250">
                <a:tc>
                  <a:txBody>
                    <a:bodyPr/>
                    <a:lstStyle/>
                    <a:p>
                      <a:r>
                        <a:rPr lang="es-ES" sz="2300" b="1">
                          <a:solidFill>
                            <a:srgbClr val="FFFFFF"/>
                          </a:solidFill>
                          <a:latin typeface="Aptos" panose="020B0004020202020204" pitchFamily="34" charset="0"/>
                        </a:rPr>
                        <a:t>Actor</a:t>
                      </a:r>
                    </a:p>
                  </a:txBody>
                  <a:tcPr marL="152400" marR="127000" marT="127000" marB="101600">
                    <a:solidFill>
                      <a:srgbClr val="102D4E"/>
                    </a:solidFill>
                  </a:tcPr>
                </a:tc>
                <a:tc>
                  <a:txBody>
                    <a:bodyPr/>
                    <a:lstStyle/>
                    <a:p>
                      <a:r>
                        <a:rPr lang="es-ES" sz="2300" b="1">
                          <a:solidFill>
                            <a:srgbClr val="FFFFFF"/>
                          </a:solidFill>
                          <a:latin typeface="Aptos" panose="020B0004020202020204" pitchFamily="34" charset="0"/>
                        </a:rPr>
                        <a:t>Funciones principales</a:t>
                      </a:r>
                    </a:p>
                  </a:txBody>
                  <a:tcPr marL="152400" marR="127000" marT="127000" marB="101600">
                    <a:solidFill>
                      <a:srgbClr val="102D4E"/>
                    </a:solidFill>
                  </a:tcPr>
                </a:tc>
                <a:extLst>
                  <a:ext uri="{0D108BD9-81ED-4DB2-BD59-A6C34878D82A}">
                    <a16:rowId xmlns:a16="http://schemas.microsoft.com/office/drawing/2014/main" val="2913551538"/>
                  </a:ext>
                </a:extLst>
              </a:tr>
              <a:tr h="984250">
                <a:tc>
                  <a:txBody>
                    <a:bodyPr/>
                    <a:lstStyle/>
                    <a:p>
                      <a:r>
                        <a:rPr lang="es-ES" sz="2300" b="0">
                          <a:solidFill>
                            <a:srgbClr val="203447"/>
                          </a:solidFill>
                          <a:latin typeface="Aptos" panose="020B0004020202020204" pitchFamily="34" charset="0"/>
                        </a:rPr>
                        <a:t>Comprador empresarial</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Consulta catálogo, solicita cotizaciones y realiza pedidos.</a:t>
                      </a:r>
                    </a:p>
                  </a:txBody>
                  <a:tcPr marL="152400" marR="127000" marT="127000" marB="101600">
                    <a:solidFill>
                      <a:srgbClr val="EDF4FA"/>
                    </a:solidFill>
                  </a:tcPr>
                </a:tc>
                <a:extLst>
                  <a:ext uri="{0D108BD9-81ED-4DB2-BD59-A6C34878D82A}">
                    <a16:rowId xmlns:a16="http://schemas.microsoft.com/office/drawing/2014/main" val="2583716754"/>
                  </a:ext>
                </a:extLst>
              </a:tr>
              <a:tr h="984250">
                <a:tc>
                  <a:txBody>
                    <a:bodyPr/>
                    <a:lstStyle/>
                    <a:p>
                      <a:r>
                        <a:rPr lang="es-ES" sz="2300" b="0">
                          <a:solidFill>
                            <a:srgbClr val="203447"/>
                          </a:solidFill>
                          <a:latin typeface="Aptos" panose="020B0004020202020204" pitchFamily="34" charset="0"/>
                        </a:rPr>
                        <a:t>Proveedor mayorista</a:t>
                      </a:r>
                    </a:p>
                  </a:txBody>
                  <a:tcPr marL="152400" marR="127000" marT="127000" marB="101600">
                    <a:solidFill>
                      <a:srgbClr val="FFFFFF"/>
                    </a:solidFill>
                  </a:tcPr>
                </a:tc>
                <a:tc>
                  <a:txBody>
                    <a:bodyPr/>
                    <a:lstStyle/>
                    <a:p>
                      <a:r>
                        <a:rPr lang="es-ES" sz="2300" b="0">
                          <a:solidFill>
                            <a:srgbClr val="203447"/>
                          </a:solidFill>
                          <a:latin typeface="Aptos" panose="020B0004020202020204" pitchFamily="34" charset="0"/>
                        </a:rPr>
                        <a:t>Publica productos, responde ofertas y atiende pedidos.</a:t>
                      </a:r>
                    </a:p>
                  </a:txBody>
                  <a:tcPr marL="152400" marR="127000" marT="127000" marB="101600">
                    <a:solidFill>
                      <a:srgbClr val="FFFFFF"/>
                    </a:solidFill>
                  </a:tcPr>
                </a:tc>
                <a:extLst>
                  <a:ext uri="{0D108BD9-81ED-4DB2-BD59-A6C34878D82A}">
                    <a16:rowId xmlns:a16="http://schemas.microsoft.com/office/drawing/2014/main" val="46927139"/>
                  </a:ext>
                </a:extLst>
              </a:tr>
              <a:tr h="984250">
                <a:tc>
                  <a:txBody>
                    <a:bodyPr/>
                    <a:lstStyle/>
                    <a:p>
                      <a:r>
                        <a:rPr lang="es-ES" sz="2300" b="0">
                          <a:solidFill>
                            <a:srgbClr val="203447"/>
                          </a:solidFill>
                          <a:latin typeface="Aptos" panose="020B0004020202020204" pitchFamily="34" charset="0"/>
                        </a:rPr>
                        <a:t>Administrador</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Verifica proveedores y supervisa las operaciones.</a:t>
                      </a:r>
                    </a:p>
                  </a:txBody>
                  <a:tcPr marL="152400" marR="127000" marT="127000" marB="101600">
                    <a:solidFill>
                      <a:srgbClr val="EDF4FA"/>
                    </a:solidFill>
                  </a:tcPr>
                </a:tc>
                <a:extLst>
                  <a:ext uri="{0D108BD9-81ED-4DB2-BD59-A6C34878D82A}">
                    <a16:rowId xmlns:a16="http://schemas.microsoft.com/office/drawing/2014/main" val="561717312"/>
                  </a:ext>
                </a:extLst>
              </a:tr>
            </a:tbl>
          </a:graphicData>
        </a:graphic>
      </p:graphicFrame>
      <p:sp>
        <p:nvSpPr>
          <p:cNvPr id="6" name="CuadroTexto 5">
            <a:extLst>
              <a:ext uri="{FF2B5EF4-FFF2-40B4-BE49-F238E27FC236}">
                <a16:creationId xmlns:a16="http://schemas.microsoft.com/office/drawing/2014/main" id="{F2D28412-0EF3-B39B-5D63-64FAFA497061}"/>
              </a:ext>
            </a:extLst>
          </p:cNvPr>
          <p:cNvSpPr txBox="1"/>
          <p:nvPr/>
        </p:nvSpPr>
        <p:spPr>
          <a:xfrm>
            <a:off x="533400" y="5753100"/>
            <a:ext cx="11125200" cy="292388"/>
          </a:xfrm>
          <a:prstGeom prst="rect">
            <a:avLst/>
          </a:prstGeom>
          <a:noFill/>
        </p:spPr>
        <p:txBody>
          <a:bodyPr vert="horz" wrap="square" lIns="0" tIns="0" rIns="0" bIns="0" rtlCol="0">
            <a:spAutoFit/>
          </a:bodyPr>
          <a:lstStyle/>
          <a:p>
            <a:r>
              <a:rPr lang="es-ES" sz="1900">
                <a:solidFill>
                  <a:srgbClr val="52677A"/>
                </a:solidFill>
                <a:latin typeface="Aptos" panose="020B0004020202020204" pitchFamily="34" charset="0"/>
              </a:rPr>
              <a:t>El acceso depende de la empresa, el rol y la participación en cada operación</a:t>
            </a:r>
          </a:p>
        </p:txBody>
      </p:sp>
    </p:spTree>
    <p:extLst>
      <p:ext uri="{BB962C8B-B14F-4D97-AF65-F5344CB8AC3E}">
        <p14:creationId xmlns:p14="http://schemas.microsoft.com/office/powerpoint/2010/main" val="2372343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F50338B-7AFE-5488-478E-B476D1C1D78B}"/>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Historias de usuario: comprador</a:t>
            </a:r>
          </a:p>
        </p:txBody>
      </p:sp>
      <p:sp>
        <p:nvSpPr>
          <p:cNvPr id="3" name="CuadroTexto 2">
            <a:extLst>
              <a:ext uri="{FF2B5EF4-FFF2-40B4-BE49-F238E27FC236}">
                <a16:creationId xmlns:a16="http://schemas.microsoft.com/office/drawing/2014/main" id="{5A996305-1CA3-D4A7-099E-B2BEFE3B07F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174EB529-2853-ABCA-1784-5B83A573042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5</a:t>
            </a:r>
          </a:p>
        </p:txBody>
      </p:sp>
      <p:graphicFrame>
        <p:nvGraphicFramePr>
          <p:cNvPr id="5" name="Tabla 4">
            <a:extLst>
              <a:ext uri="{FF2B5EF4-FFF2-40B4-BE49-F238E27FC236}">
                <a16:creationId xmlns:a16="http://schemas.microsoft.com/office/drawing/2014/main" id="{94CF6A28-31BF-99FF-8131-55E993D30E46}"/>
              </a:ext>
            </a:extLst>
          </p:cNvPr>
          <p:cNvGraphicFramePr>
            <a:graphicFrameLocks noGrp="1"/>
          </p:cNvGraphicFramePr>
          <p:nvPr>
            <p:extLst>
              <p:ext uri="{D42A27DB-BD31-4B8C-83A1-F6EECF244321}">
                <p14:modId xmlns:p14="http://schemas.microsoft.com/office/powerpoint/2010/main" val="3084909279"/>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777031013"/>
                    </a:ext>
                  </a:extLst>
                </a:gridCol>
                <a:gridCol w="9702800">
                  <a:extLst>
                    <a:ext uri="{9D8B030D-6E8A-4147-A177-3AD203B41FA5}">
                      <a16:colId xmlns:a16="http://schemas.microsoft.com/office/drawing/2014/main" val="2751597310"/>
                    </a:ext>
                  </a:extLst>
                </a:gridCol>
              </a:tblGrid>
              <a:tr h="1085850">
                <a:tc>
                  <a:txBody>
                    <a:bodyPr/>
                    <a:lstStyle/>
                    <a:p>
                      <a:r>
                        <a:rPr lang="es-ES" sz="22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200" b="1">
                          <a:solidFill>
                            <a:srgbClr val="FFFFFF"/>
                          </a:solidFill>
                          <a:latin typeface="Aptos" panose="020B0004020202020204" pitchFamily="34" charset="0"/>
                        </a:rPr>
                        <a:t>Historia de usuario</a:t>
                      </a:r>
                    </a:p>
                  </a:txBody>
                  <a:tcPr marL="152400" marR="127000" marT="127000" marB="101600">
                    <a:solidFill>
                      <a:srgbClr val="102D4E"/>
                    </a:solidFill>
                  </a:tcPr>
                </a:tc>
                <a:extLst>
                  <a:ext uri="{0D108BD9-81ED-4DB2-BD59-A6C34878D82A}">
                    <a16:rowId xmlns:a16="http://schemas.microsoft.com/office/drawing/2014/main" val="476747371"/>
                  </a:ext>
                </a:extLst>
              </a:tr>
              <a:tr h="1085850">
                <a:tc>
                  <a:txBody>
                    <a:bodyPr/>
                    <a:lstStyle/>
                    <a:p>
                      <a:r>
                        <a:rPr lang="es-ES" sz="2200" b="0">
                          <a:solidFill>
                            <a:srgbClr val="203447"/>
                          </a:solidFill>
                          <a:latin typeface="Aptos" panose="020B0004020202020204" pitchFamily="34" charset="0"/>
                        </a:rPr>
                        <a:t>HU-09</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comprador empresarial, quiero buscar productos por nombre, categoría, precio o proveedor, para encontrar lo que necesito rápidamente.</a:t>
                      </a:r>
                    </a:p>
                  </a:txBody>
                  <a:tcPr marL="152400" marR="127000" marT="127000" marB="101600">
                    <a:solidFill>
                      <a:srgbClr val="EDF4FA"/>
                    </a:solidFill>
                  </a:tcPr>
                </a:tc>
                <a:extLst>
                  <a:ext uri="{0D108BD9-81ED-4DB2-BD59-A6C34878D82A}">
                    <a16:rowId xmlns:a16="http://schemas.microsoft.com/office/drawing/2014/main" val="1790446290"/>
                  </a:ext>
                </a:extLst>
              </a:tr>
              <a:tr h="1085850">
                <a:tc>
                  <a:txBody>
                    <a:bodyPr/>
                    <a:lstStyle/>
                    <a:p>
                      <a:r>
                        <a:rPr lang="es-ES" sz="2200" b="0">
                          <a:solidFill>
                            <a:srgbClr val="203447"/>
                          </a:solidFill>
                          <a:latin typeface="Aptos" panose="020B0004020202020204" pitchFamily="34" charset="0"/>
                        </a:rPr>
                        <a:t>HU-11</a:t>
                      </a:r>
                    </a:p>
                  </a:txBody>
                  <a:tcPr marL="152400" marR="127000" marT="127000" marB="101600">
                    <a:solidFill>
                      <a:srgbClr val="FFFFFF"/>
                    </a:solidFill>
                  </a:tcPr>
                </a:tc>
                <a:tc>
                  <a:txBody>
                    <a:bodyPr/>
                    <a:lstStyle/>
                    <a:p>
                      <a:r>
                        <a:rPr lang="es-ES" sz="2200" b="0">
                          <a:solidFill>
                            <a:srgbClr val="203447"/>
                          </a:solidFill>
                          <a:latin typeface="Aptos" panose="020B0004020202020204" pitchFamily="34" charset="0"/>
                        </a:rPr>
                        <a:t>Como comprador empresarial, quiero solicitar cotización a uno o varios proveedores, para obtener precios y condiciones antes de comprar.</a:t>
                      </a:r>
                    </a:p>
                  </a:txBody>
                  <a:tcPr marL="152400" marR="127000" marT="127000" marB="101600">
                    <a:solidFill>
                      <a:srgbClr val="FFFFFF"/>
                    </a:solidFill>
                  </a:tcPr>
                </a:tc>
                <a:extLst>
                  <a:ext uri="{0D108BD9-81ED-4DB2-BD59-A6C34878D82A}">
                    <a16:rowId xmlns:a16="http://schemas.microsoft.com/office/drawing/2014/main" val="991776114"/>
                  </a:ext>
                </a:extLst>
              </a:tr>
              <a:tr h="1085850">
                <a:tc>
                  <a:txBody>
                    <a:bodyPr/>
                    <a:lstStyle/>
                    <a:p>
                      <a:r>
                        <a:rPr lang="es-ES" sz="2200" b="0">
                          <a:solidFill>
                            <a:srgbClr val="203447"/>
                          </a:solidFill>
                          <a:latin typeface="Aptos" panose="020B0004020202020204" pitchFamily="34" charset="0"/>
                        </a:rPr>
                        <a:t>HU-15</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comprador empresarial, quiero confirmar un pedido a partir de una cotización aceptada, para concretar la compra.</a:t>
                      </a:r>
                    </a:p>
                  </a:txBody>
                  <a:tcPr marL="152400" marR="127000" marT="127000" marB="101600">
                    <a:solidFill>
                      <a:srgbClr val="EDF4FA"/>
                    </a:solidFill>
                  </a:tcPr>
                </a:tc>
                <a:extLst>
                  <a:ext uri="{0D108BD9-81ED-4DB2-BD59-A6C34878D82A}">
                    <a16:rowId xmlns:a16="http://schemas.microsoft.com/office/drawing/2014/main" val="1031598871"/>
                  </a:ext>
                </a:extLst>
              </a:tr>
            </a:tbl>
          </a:graphicData>
        </a:graphic>
      </p:graphicFrame>
      <p:sp>
        <p:nvSpPr>
          <p:cNvPr id="6" name="CuadroTexto 5">
            <a:extLst>
              <a:ext uri="{FF2B5EF4-FFF2-40B4-BE49-F238E27FC236}">
                <a16:creationId xmlns:a16="http://schemas.microsoft.com/office/drawing/2014/main" id="{229210E9-2D63-76E3-305F-3167DEBA1B93}"/>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Selección de historias de prioridad alta del alcance general</a:t>
            </a:r>
          </a:p>
        </p:txBody>
      </p:sp>
    </p:spTree>
    <p:extLst>
      <p:ext uri="{BB962C8B-B14F-4D97-AF65-F5344CB8AC3E}">
        <p14:creationId xmlns:p14="http://schemas.microsoft.com/office/powerpoint/2010/main" val="101195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92D0C39-1005-B301-8E82-60A13CDBB36B}"/>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Historias de usuario: proveedor y administrador</a:t>
            </a:r>
          </a:p>
        </p:txBody>
      </p:sp>
      <p:sp>
        <p:nvSpPr>
          <p:cNvPr id="3" name="CuadroTexto 2">
            <a:extLst>
              <a:ext uri="{FF2B5EF4-FFF2-40B4-BE49-F238E27FC236}">
                <a16:creationId xmlns:a16="http://schemas.microsoft.com/office/drawing/2014/main" id="{8A941143-E2EE-6DCC-109D-A2E39C1B79F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40933EC7-D780-3426-8ADF-CFCC6DA2229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6</a:t>
            </a:r>
          </a:p>
        </p:txBody>
      </p:sp>
      <p:graphicFrame>
        <p:nvGraphicFramePr>
          <p:cNvPr id="5" name="Tabla 4">
            <a:extLst>
              <a:ext uri="{FF2B5EF4-FFF2-40B4-BE49-F238E27FC236}">
                <a16:creationId xmlns:a16="http://schemas.microsoft.com/office/drawing/2014/main" id="{B25B3B75-C922-45C5-1BC7-945D09FC4A60}"/>
              </a:ext>
            </a:extLst>
          </p:cNvPr>
          <p:cNvGraphicFramePr>
            <a:graphicFrameLocks noGrp="1"/>
          </p:cNvGraphicFramePr>
          <p:nvPr>
            <p:extLst>
              <p:ext uri="{D42A27DB-BD31-4B8C-83A1-F6EECF244321}">
                <p14:modId xmlns:p14="http://schemas.microsoft.com/office/powerpoint/2010/main" val="723435858"/>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1077738496"/>
                    </a:ext>
                  </a:extLst>
                </a:gridCol>
                <a:gridCol w="9702800">
                  <a:extLst>
                    <a:ext uri="{9D8B030D-6E8A-4147-A177-3AD203B41FA5}">
                      <a16:colId xmlns:a16="http://schemas.microsoft.com/office/drawing/2014/main" val="96341084"/>
                    </a:ext>
                  </a:extLst>
                </a:gridCol>
              </a:tblGrid>
              <a:tr h="1085850">
                <a:tc>
                  <a:txBody>
                    <a:bodyPr/>
                    <a:lstStyle/>
                    <a:p>
                      <a:r>
                        <a:rPr lang="es-ES" sz="22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200" b="1">
                          <a:solidFill>
                            <a:srgbClr val="FFFFFF"/>
                          </a:solidFill>
                          <a:latin typeface="Aptos" panose="020B0004020202020204" pitchFamily="34" charset="0"/>
                        </a:rPr>
                        <a:t>Historia de usuario</a:t>
                      </a:r>
                    </a:p>
                  </a:txBody>
                  <a:tcPr marL="152400" marR="127000" marT="127000" marB="101600">
                    <a:solidFill>
                      <a:srgbClr val="102D4E"/>
                    </a:solidFill>
                  </a:tcPr>
                </a:tc>
                <a:extLst>
                  <a:ext uri="{0D108BD9-81ED-4DB2-BD59-A6C34878D82A}">
                    <a16:rowId xmlns:a16="http://schemas.microsoft.com/office/drawing/2014/main" val="3797908490"/>
                  </a:ext>
                </a:extLst>
              </a:tr>
              <a:tr h="1085850">
                <a:tc>
                  <a:txBody>
                    <a:bodyPr/>
                    <a:lstStyle/>
                    <a:p>
                      <a:r>
                        <a:rPr lang="es-ES" sz="2200" b="0">
                          <a:solidFill>
                            <a:srgbClr val="203447"/>
                          </a:solidFill>
                          <a:latin typeface="Aptos" panose="020B0004020202020204" pitchFamily="34" charset="0"/>
                        </a:rPr>
                        <a:t>HU-04</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administrador, quiero verificar y aprobar proveedores antes de que operen, para garantizar la confianza en la plataforma.</a:t>
                      </a:r>
                    </a:p>
                  </a:txBody>
                  <a:tcPr marL="152400" marR="127000" marT="127000" marB="101600">
                    <a:solidFill>
                      <a:srgbClr val="EDF4FA"/>
                    </a:solidFill>
                  </a:tcPr>
                </a:tc>
                <a:extLst>
                  <a:ext uri="{0D108BD9-81ED-4DB2-BD59-A6C34878D82A}">
                    <a16:rowId xmlns:a16="http://schemas.microsoft.com/office/drawing/2014/main" val="196779997"/>
                  </a:ext>
                </a:extLst>
              </a:tr>
              <a:tr h="1085850">
                <a:tc>
                  <a:txBody>
                    <a:bodyPr/>
                    <a:lstStyle/>
                    <a:p>
                      <a:r>
                        <a:rPr lang="es-ES" sz="2200" b="0">
                          <a:solidFill>
                            <a:srgbClr val="203447"/>
                          </a:solidFill>
                          <a:latin typeface="Aptos" panose="020B0004020202020204" pitchFamily="34" charset="0"/>
                        </a:rPr>
                        <a:t>HU-05</a:t>
                      </a:r>
                    </a:p>
                  </a:txBody>
                  <a:tcPr marL="152400" marR="127000" marT="127000" marB="101600">
                    <a:solidFill>
                      <a:srgbClr val="FFFFFF"/>
                    </a:solidFill>
                  </a:tcPr>
                </a:tc>
                <a:tc>
                  <a:txBody>
                    <a:bodyPr/>
                    <a:lstStyle/>
                    <a:p>
                      <a:r>
                        <a:rPr lang="es-ES" sz="2200" b="0">
                          <a:solidFill>
                            <a:srgbClr val="203447"/>
                          </a:solidFill>
                          <a:latin typeface="Aptos" panose="020B0004020202020204" pitchFamily="34" charset="0"/>
                        </a:rPr>
                        <a:t>Como proveedor, quiero publicar productos con nombre, descripción, categoría, precio, stock e imágenes, para ofrecerlos a compradores empresariales.</a:t>
                      </a:r>
                    </a:p>
                  </a:txBody>
                  <a:tcPr marL="152400" marR="127000" marT="127000" marB="101600">
                    <a:solidFill>
                      <a:srgbClr val="FFFFFF"/>
                    </a:solidFill>
                  </a:tcPr>
                </a:tc>
                <a:extLst>
                  <a:ext uri="{0D108BD9-81ED-4DB2-BD59-A6C34878D82A}">
                    <a16:rowId xmlns:a16="http://schemas.microsoft.com/office/drawing/2014/main" val="1418229725"/>
                  </a:ext>
                </a:extLst>
              </a:tr>
              <a:tr h="1085850">
                <a:tc>
                  <a:txBody>
                    <a:bodyPr/>
                    <a:lstStyle/>
                    <a:p>
                      <a:r>
                        <a:rPr lang="es-ES" sz="2200" b="0">
                          <a:solidFill>
                            <a:srgbClr val="203447"/>
                          </a:solidFill>
                          <a:latin typeface="Aptos" panose="020B0004020202020204" pitchFamily="34" charset="0"/>
                        </a:rPr>
                        <a:t>HU-12</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proveedor, quiero responder cotizaciones indicando precio, disponibilidad y condiciones, para ofrecer mis productos.</a:t>
                      </a:r>
                    </a:p>
                  </a:txBody>
                  <a:tcPr marL="152400" marR="127000" marT="127000" marB="101600">
                    <a:solidFill>
                      <a:srgbClr val="EDF4FA"/>
                    </a:solidFill>
                  </a:tcPr>
                </a:tc>
                <a:extLst>
                  <a:ext uri="{0D108BD9-81ED-4DB2-BD59-A6C34878D82A}">
                    <a16:rowId xmlns:a16="http://schemas.microsoft.com/office/drawing/2014/main" val="2963251291"/>
                  </a:ext>
                </a:extLst>
              </a:tr>
            </a:tbl>
          </a:graphicData>
        </a:graphic>
      </p:graphicFrame>
      <p:sp>
        <p:nvSpPr>
          <p:cNvPr id="6" name="CuadroTexto 5">
            <a:extLst>
              <a:ext uri="{FF2B5EF4-FFF2-40B4-BE49-F238E27FC236}">
                <a16:creationId xmlns:a16="http://schemas.microsoft.com/office/drawing/2014/main" id="{E7AF80F4-A22E-6FC7-2435-F9B819F02D7E}"/>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Selección de historias de prioridad alta del alcance general</a:t>
            </a:r>
          </a:p>
        </p:txBody>
      </p:sp>
    </p:spTree>
    <p:extLst>
      <p:ext uri="{BB962C8B-B14F-4D97-AF65-F5344CB8AC3E}">
        <p14:creationId xmlns:p14="http://schemas.microsoft.com/office/powerpoint/2010/main" val="292785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BEA28DB-DD5C-89C0-0A5C-94D67DA0B16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Requisitos funcionales del proceso de compra</a:t>
            </a:r>
          </a:p>
        </p:txBody>
      </p:sp>
      <p:sp>
        <p:nvSpPr>
          <p:cNvPr id="3" name="CuadroTexto 2">
            <a:extLst>
              <a:ext uri="{FF2B5EF4-FFF2-40B4-BE49-F238E27FC236}">
                <a16:creationId xmlns:a16="http://schemas.microsoft.com/office/drawing/2014/main" id="{402F5DBE-DD1A-9CC0-9FF8-F432EB481C8B}"/>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807EE9E-8659-C054-3654-596A0734C29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7</a:t>
            </a:r>
          </a:p>
        </p:txBody>
      </p:sp>
      <p:graphicFrame>
        <p:nvGraphicFramePr>
          <p:cNvPr id="5" name="Tabla 4">
            <a:extLst>
              <a:ext uri="{FF2B5EF4-FFF2-40B4-BE49-F238E27FC236}">
                <a16:creationId xmlns:a16="http://schemas.microsoft.com/office/drawing/2014/main" id="{A55E2EE2-D80B-C22A-E3CA-E8FD7E278DFC}"/>
              </a:ext>
            </a:extLst>
          </p:cNvPr>
          <p:cNvGraphicFramePr>
            <a:graphicFrameLocks noGrp="1"/>
          </p:cNvGraphicFramePr>
          <p:nvPr>
            <p:extLst>
              <p:ext uri="{D42A27DB-BD31-4B8C-83A1-F6EECF244321}">
                <p14:modId xmlns:p14="http://schemas.microsoft.com/office/powerpoint/2010/main" val="3403726845"/>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2349500">
                  <a:extLst>
                    <a:ext uri="{9D8B030D-6E8A-4147-A177-3AD203B41FA5}">
                      <a16:colId xmlns:a16="http://schemas.microsoft.com/office/drawing/2014/main" val="1380061315"/>
                    </a:ext>
                  </a:extLst>
                </a:gridCol>
                <a:gridCol w="8775700">
                  <a:extLst>
                    <a:ext uri="{9D8B030D-6E8A-4147-A177-3AD203B41FA5}">
                      <a16:colId xmlns:a16="http://schemas.microsoft.com/office/drawing/2014/main" val="3155130332"/>
                    </a:ext>
                  </a:extLst>
                </a:gridCol>
              </a:tblGrid>
              <a:tr h="723900">
                <a:tc>
                  <a:txBody>
                    <a:bodyPr/>
                    <a:lstStyle/>
                    <a:p>
                      <a:r>
                        <a:rPr lang="es-ES" sz="21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Comportamiento esperado</a:t>
                      </a:r>
                    </a:p>
                  </a:txBody>
                  <a:tcPr marL="152400" marR="127000" marT="127000" marB="101600">
                    <a:solidFill>
                      <a:srgbClr val="102D4E"/>
                    </a:solidFill>
                  </a:tcPr>
                </a:tc>
                <a:extLst>
                  <a:ext uri="{0D108BD9-81ED-4DB2-BD59-A6C34878D82A}">
                    <a16:rowId xmlns:a16="http://schemas.microsoft.com/office/drawing/2014/main" val="451671753"/>
                  </a:ext>
                </a:extLst>
              </a:tr>
              <a:tr h="723900">
                <a:tc>
                  <a:txBody>
                    <a:bodyPr/>
                    <a:lstStyle/>
                    <a:p>
                      <a:r>
                        <a:rPr lang="es-ES" sz="2100" b="0">
                          <a:solidFill>
                            <a:srgbClr val="203447"/>
                          </a:solidFill>
                          <a:latin typeface="Aptos" panose="020B0004020202020204" pitchFamily="34" charset="0"/>
                        </a:rPr>
                        <a:t>RF-07</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Publicar productos con precio, mínimo de compra, stock e imágenes.</a:t>
                      </a:r>
                    </a:p>
                  </a:txBody>
                  <a:tcPr marL="152400" marR="127000" marT="127000" marB="101600">
                    <a:solidFill>
                      <a:srgbClr val="EDF4FA"/>
                    </a:solidFill>
                  </a:tcPr>
                </a:tc>
                <a:extLst>
                  <a:ext uri="{0D108BD9-81ED-4DB2-BD59-A6C34878D82A}">
                    <a16:rowId xmlns:a16="http://schemas.microsoft.com/office/drawing/2014/main" val="3614825085"/>
                  </a:ext>
                </a:extLst>
              </a:tr>
              <a:tr h="723900">
                <a:tc>
                  <a:txBody>
                    <a:bodyPr/>
                    <a:lstStyle/>
                    <a:p>
                      <a:r>
                        <a:rPr lang="es-ES" sz="2100" b="0">
                          <a:solidFill>
                            <a:srgbClr val="203447"/>
                          </a:solidFill>
                          <a:latin typeface="Aptos" panose="020B0004020202020204" pitchFamily="34" charset="0"/>
                        </a:rPr>
                        <a:t>RF-11</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Buscar productos por nombre, categoría, precio y proveedor.</a:t>
                      </a:r>
                    </a:p>
                  </a:txBody>
                  <a:tcPr marL="152400" marR="127000" marT="127000" marB="101600">
                    <a:solidFill>
                      <a:srgbClr val="FFFFFF"/>
                    </a:solidFill>
                  </a:tcPr>
                </a:tc>
                <a:extLst>
                  <a:ext uri="{0D108BD9-81ED-4DB2-BD59-A6C34878D82A}">
                    <a16:rowId xmlns:a16="http://schemas.microsoft.com/office/drawing/2014/main" val="3803458075"/>
                  </a:ext>
                </a:extLst>
              </a:tr>
              <a:tr h="723900">
                <a:tc>
                  <a:txBody>
                    <a:bodyPr/>
                    <a:lstStyle/>
                    <a:p>
                      <a:r>
                        <a:rPr lang="es-ES" sz="2100" b="0">
                          <a:solidFill>
                            <a:srgbClr val="203447"/>
                          </a:solidFill>
                          <a:latin typeface="Aptos" panose="020B0004020202020204" pitchFamily="34" charset="0"/>
                        </a:rPr>
                        <a:t>RF-13 / RF-14</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Solicitar cotizaciones y responder con precios y condiciones.</a:t>
                      </a:r>
                    </a:p>
                  </a:txBody>
                  <a:tcPr marL="152400" marR="127000" marT="127000" marB="101600">
                    <a:solidFill>
                      <a:srgbClr val="EDF4FA"/>
                    </a:solidFill>
                  </a:tcPr>
                </a:tc>
                <a:extLst>
                  <a:ext uri="{0D108BD9-81ED-4DB2-BD59-A6C34878D82A}">
                    <a16:rowId xmlns:a16="http://schemas.microsoft.com/office/drawing/2014/main" val="2114622393"/>
                  </a:ext>
                </a:extLst>
              </a:tr>
              <a:tr h="723900">
                <a:tc>
                  <a:txBody>
                    <a:bodyPr/>
                    <a:lstStyle/>
                    <a:p>
                      <a:r>
                        <a:rPr lang="es-ES" sz="2100" b="0">
                          <a:solidFill>
                            <a:srgbClr val="203447"/>
                          </a:solidFill>
                          <a:latin typeface="Aptos" panose="020B0004020202020204" pitchFamily="34" charset="0"/>
                        </a:rPr>
                        <a:t>RF-15 / RF-18</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Aceptar una oferta y generar el pedido correspondiente.</a:t>
                      </a:r>
                    </a:p>
                  </a:txBody>
                  <a:tcPr marL="152400" marR="127000" marT="127000" marB="101600">
                    <a:solidFill>
                      <a:srgbClr val="FFFFFF"/>
                    </a:solidFill>
                  </a:tcPr>
                </a:tc>
                <a:extLst>
                  <a:ext uri="{0D108BD9-81ED-4DB2-BD59-A6C34878D82A}">
                    <a16:rowId xmlns:a16="http://schemas.microsoft.com/office/drawing/2014/main" val="3939688755"/>
                  </a:ext>
                </a:extLst>
              </a:tr>
              <a:tr h="723900">
                <a:tc>
                  <a:txBody>
                    <a:bodyPr/>
                    <a:lstStyle/>
                    <a:p>
                      <a:r>
                        <a:rPr lang="es-ES" sz="2100" b="0">
                          <a:solidFill>
                            <a:srgbClr val="203447"/>
                          </a:solidFill>
                          <a:latin typeface="Aptos" panose="020B0004020202020204" pitchFamily="34" charset="0"/>
                        </a:rPr>
                        <a:t>RF-19 / RF-21</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stock con control de concurrencia y consultar pedidos.</a:t>
                      </a:r>
                    </a:p>
                  </a:txBody>
                  <a:tcPr marL="152400" marR="127000" marT="127000" marB="101600">
                    <a:solidFill>
                      <a:srgbClr val="EDF4FA"/>
                    </a:solidFill>
                  </a:tcPr>
                </a:tc>
                <a:extLst>
                  <a:ext uri="{0D108BD9-81ED-4DB2-BD59-A6C34878D82A}">
                    <a16:rowId xmlns:a16="http://schemas.microsoft.com/office/drawing/2014/main" val="1376887174"/>
                  </a:ext>
                </a:extLst>
              </a:tr>
            </a:tbl>
          </a:graphicData>
        </a:graphic>
      </p:graphicFrame>
      <p:sp>
        <p:nvSpPr>
          <p:cNvPr id="6" name="CuadroTexto 5">
            <a:extLst>
              <a:ext uri="{FF2B5EF4-FFF2-40B4-BE49-F238E27FC236}">
                <a16:creationId xmlns:a16="http://schemas.microsoft.com/office/drawing/2014/main" id="{BD5A1F3C-5410-3F6B-1E8B-1B4A144C2E90}"/>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Resumen de requisitos documentados. Implementación por etapas</a:t>
            </a:r>
          </a:p>
        </p:txBody>
      </p:sp>
    </p:spTree>
    <p:extLst>
      <p:ext uri="{BB962C8B-B14F-4D97-AF65-F5344CB8AC3E}">
        <p14:creationId xmlns:p14="http://schemas.microsoft.com/office/powerpoint/2010/main" val="412161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EEBC1BA-A35B-F041-8469-3E22CAAF83A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Requisitos de acceso e integraciones</a:t>
            </a:r>
          </a:p>
        </p:txBody>
      </p:sp>
      <p:sp>
        <p:nvSpPr>
          <p:cNvPr id="3" name="CuadroTexto 2">
            <a:extLst>
              <a:ext uri="{FF2B5EF4-FFF2-40B4-BE49-F238E27FC236}">
                <a16:creationId xmlns:a16="http://schemas.microsoft.com/office/drawing/2014/main" id="{0CAD30CF-BED7-A932-60D0-63CCD36D967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AD0AA37-C30E-061A-FA90-FEB7AB9EAC8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8</a:t>
            </a:r>
          </a:p>
        </p:txBody>
      </p:sp>
      <p:graphicFrame>
        <p:nvGraphicFramePr>
          <p:cNvPr id="5" name="Tabla 4">
            <a:extLst>
              <a:ext uri="{FF2B5EF4-FFF2-40B4-BE49-F238E27FC236}">
                <a16:creationId xmlns:a16="http://schemas.microsoft.com/office/drawing/2014/main" id="{B186630E-C29B-F707-5D34-4508B762C1A1}"/>
              </a:ext>
            </a:extLst>
          </p:cNvPr>
          <p:cNvGraphicFramePr>
            <a:graphicFrameLocks noGrp="1"/>
          </p:cNvGraphicFramePr>
          <p:nvPr>
            <p:extLst>
              <p:ext uri="{D42A27DB-BD31-4B8C-83A1-F6EECF244321}">
                <p14:modId xmlns:p14="http://schemas.microsoft.com/office/powerpoint/2010/main" val="1003216603"/>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2349500">
                  <a:extLst>
                    <a:ext uri="{9D8B030D-6E8A-4147-A177-3AD203B41FA5}">
                      <a16:colId xmlns:a16="http://schemas.microsoft.com/office/drawing/2014/main" val="2978843947"/>
                    </a:ext>
                  </a:extLst>
                </a:gridCol>
                <a:gridCol w="8775700">
                  <a:extLst>
                    <a:ext uri="{9D8B030D-6E8A-4147-A177-3AD203B41FA5}">
                      <a16:colId xmlns:a16="http://schemas.microsoft.com/office/drawing/2014/main" val="140610662"/>
                    </a:ext>
                  </a:extLst>
                </a:gridCol>
              </a:tblGrid>
              <a:tr h="723900">
                <a:tc>
                  <a:txBody>
                    <a:bodyPr/>
                    <a:lstStyle/>
                    <a:p>
                      <a:r>
                        <a:rPr lang="es-ES" sz="21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Comportamiento esperado</a:t>
                      </a:r>
                    </a:p>
                  </a:txBody>
                  <a:tcPr marL="152400" marR="127000" marT="127000" marB="101600">
                    <a:solidFill>
                      <a:srgbClr val="102D4E"/>
                    </a:solidFill>
                  </a:tcPr>
                </a:tc>
                <a:extLst>
                  <a:ext uri="{0D108BD9-81ED-4DB2-BD59-A6C34878D82A}">
                    <a16:rowId xmlns:a16="http://schemas.microsoft.com/office/drawing/2014/main" val="1896036362"/>
                  </a:ext>
                </a:extLst>
              </a:tr>
              <a:tr h="723900">
                <a:tc>
                  <a:txBody>
                    <a:bodyPr/>
                    <a:lstStyle/>
                    <a:p>
                      <a:r>
                        <a:rPr lang="es-ES" sz="2100" b="0">
                          <a:solidFill>
                            <a:srgbClr val="203447"/>
                          </a:solidFill>
                          <a:latin typeface="Aptos" panose="020B0004020202020204" pitchFamily="34" charset="0"/>
                        </a:rPr>
                        <a:t>RF-03 / RF-04</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Autenticar usuarios y asignar permisos según su rol.</a:t>
                      </a:r>
                    </a:p>
                  </a:txBody>
                  <a:tcPr marL="152400" marR="127000" marT="127000" marB="101600">
                    <a:solidFill>
                      <a:srgbClr val="EDF4FA"/>
                    </a:solidFill>
                  </a:tcPr>
                </a:tc>
                <a:extLst>
                  <a:ext uri="{0D108BD9-81ED-4DB2-BD59-A6C34878D82A}">
                    <a16:rowId xmlns:a16="http://schemas.microsoft.com/office/drawing/2014/main" val="2578978495"/>
                  </a:ext>
                </a:extLst>
              </a:tr>
              <a:tr h="723900">
                <a:tc>
                  <a:txBody>
                    <a:bodyPr/>
                    <a:lstStyle/>
                    <a:p>
                      <a:r>
                        <a:rPr lang="es-ES" sz="2100" b="0">
                          <a:solidFill>
                            <a:srgbClr val="203447"/>
                          </a:solidFill>
                          <a:latin typeface="Aptos" panose="020B0004020202020204" pitchFamily="34" charset="0"/>
                        </a:rPr>
                        <a:t>RF-05</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Permitir la verificación y aprobación de proveedores.</a:t>
                      </a:r>
                    </a:p>
                  </a:txBody>
                  <a:tcPr marL="152400" marR="127000" marT="127000" marB="101600">
                    <a:solidFill>
                      <a:srgbClr val="FFFFFF"/>
                    </a:solidFill>
                  </a:tcPr>
                </a:tc>
                <a:extLst>
                  <a:ext uri="{0D108BD9-81ED-4DB2-BD59-A6C34878D82A}">
                    <a16:rowId xmlns:a16="http://schemas.microsoft.com/office/drawing/2014/main" val="3780127355"/>
                  </a:ext>
                </a:extLst>
              </a:tr>
              <a:tr h="723900">
                <a:tc>
                  <a:txBody>
                    <a:bodyPr/>
                    <a:lstStyle/>
                    <a:p>
                      <a:r>
                        <a:rPr lang="es-ES" sz="2100" b="0">
                          <a:solidFill>
                            <a:srgbClr val="203447"/>
                          </a:solidFill>
                          <a:latin typeface="Aptos" panose="020B0004020202020204" pitchFamily="34" charset="0"/>
                        </a:rPr>
                        <a:t>RF-22 / RF-24</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Integrar una pasarela y registrar los estados del pago.</a:t>
                      </a:r>
                    </a:p>
                  </a:txBody>
                  <a:tcPr marL="152400" marR="127000" marT="127000" marB="101600">
                    <a:solidFill>
                      <a:srgbClr val="EDF4FA"/>
                    </a:solidFill>
                  </a:tcPr>
                </a:tc>
                <a:extLst>
                  <a:ext uri="{0D108BD9-81ED-4DB2-BD59-A6C34878D82A}">
                    <a16:rowId xmlns:a16="http://schemas.microsoft.com/office/drawing/2014/main" val="993282197"/>
                  </a:ext>
                </a:extLst>
              </a:tr>
              <a:tr h="723900">
                <a:tc>
                  <a:txBody>
                    <a:bodyPr/>
                    <a:lstStyle/>
                    <a:p>
                      <a:r>
                        <a:rPr lang="es-ES" sz="2100" b="0">
                          <a:solidFill>
                            <a:srgbClr val="203447"/>
                          </a:solidFill>
                          <a:latin typeface="Aptos" panose="020B0004020202020204" pitchFamily="34" charset="0"/>
                        </a:rPr>
                        <a:t>RF-25</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Integrar un PSE para emitir comprobantes electrónicos.</a:t>
                      </a:r>
                    </a:p>
                  </a:txBody>
                  <a:tcPr marL="152400" marR="127000" marT="127000" marB="101600">
                    <a:solidFill>
                      <a:srgbClr val="FFFFFF"/>
                    </a:solidFill>
                  </a:tcPr>
                </a:tc>
                <a:extLst>
                  <a:ext uri="{0D108BD9-81ED-4DB2-BD59-A6C34878D82A}">
                    <a16:rowId xmlns:a16="http://schemas.microsoft.com/office/drawing/2014/main" val="2182824718"/>
                  </a:ext>
                </a:extLst>
              </a:tr>
              <a:tr h="723900">
                <a:tc>
                  <a:txBody>
                    <a:bodyPr/>
                    <a:lstStyle/>
                    <a:p>
                      <a:r>
                        <a:rPr lang="es-ES" sz="2100" b="0">
                          <a:solidFill>
                            <a:srgbClr val="203447"/>
                          </a:solidFill>
                          <a:latin typeface="Aptos" panose="020B0004020202020204" pitchFamily="34" charset="0"/>
                        </a:rPr>
                        <a:t>RF-16 / RF-17</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Recomendar proveedores y mantener la consulta ante fallas.</a:t>
                      </a:r>
                    </a:p>
                  </a:txBody>
                  <a:tcPr marL="152400" marR="127000" marT="127000" marB="101600">
                    <a:solidFill>
                      <a:srgbClr val="EDF4FA"/>
                    </a:solidFill>
                  </a:tcPr>
                </a:tc>
                <a:extLst>
                  <a:ext uri="{0D108BD9-81ED-4DB2-BD59-A6C34878D82A}">
                    <a16:rowId xmlns:a16="http://schemas.microsoft.com/office/drawing/2014/main" val="3039416230"/>
                  </a:ext>
                </a:extLst>
              </a:tr>
            </a:tbl>
          </a:graphicData>
        </a:graphic>
      </p:graphicFrame>
      <p:sp>
        <p:nvSpPr>
          <p:cNvPr id="6" name="CuadroTexto 5">
            <a:extLst>
              <a:ext uri="{FF2B5EF4-FFF2-40B4-BE49-F238E27FC236}">
                <a16:creationId xmlns:a16="http://schemas.microsoft.com/office/drawing/2014/main" id="{DA5BB454-A2D1-62EF-6FC5-379B613397AC}"/>
              </a:ext>
            </a:extLst>
          </p:cNvPr>
          <p:cNvSpPr txBox="1"/>
          <p:nvPr/>
        </p:nvSpPr>
        <p:spPr>
          <a:xfrm>
            <a:off x="533400" y="6019800"/>
            <a:ext cx="111252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Pagos, facturación e IA: priorización sujeta al alcance académico acordado</a:t>
            </a:r>
          </a:p>
        </p:txBody>
      </p:sp>
    </p:spTree>
    <p:extLst>
      <p:ext uri="{BB962C8B-B14F-4D97-AF65-F5344CB8AC3E}">
        <p14:creationId xmlns:p14="http://schemas.microsoft.com/office/powerpoint/2010/main" val="2388975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3C57D0D-4FA2-9CC8-E287-6B1B7D0896C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Alcance de la primera versión</a:t>
            </a:r>
          </a:p>
        </p:txBody>
      </p:sp>
      <p:sp>
        <p:nvSpPr>
          <p:cNvPr id="3" name="CuadroTexto 2">
            <a:extLst>
              <a:ext uri="{FF2B5EF4-FFF2-40B4-BE49-F238E27FC236}">
                <a16:creationId xmlns:a16="http://schemas.microsoft.com/office/drawing/2014/main" id="{311E94CF-ECAD-EAC8-CB2C-7A8136A4552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8EC358FF-9AC6-4A76-B829-1E138633F5D6}"/>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9</a:t>
            </a:r>
          </a:p>
        </p:txBody>
      </p:sp>
      <p:sp>
        <p:nvSpPr>
          <p:cNvPr id="5" name="CuadroTexto 4">
            <a:extLst>
              <a:ext uri="{FF2B5EF4-FFF2-40B4-BE49-F238E27FC236}">
                <a16:creationId xmlns:a16="http://schemas.microsoft.com/office/drawing/2014/main" id="{B6EB2173-610C-00C8-C437-4F49611C9510}"/>
              </a:ext>
            </a:extLst>
          </p:cNvPr>
          <p:cNvSpPr txBox="1"/>
          <p:nvPr/>
        </p:nvSpPr>
        <p:spPr>
          <a:xfrm>
            <a:off x="533400" y="1460500"/>
            <a:ext cx="5334000" cy="415498"/>
          </a:xfrm>
          <a:prstGeom prst="rect">
            <a:avLst/>
          </a:prstGeom>
          <a:noFill/>
        </p:spPr>
        <p:txBody>
          <a:bodyPr vert="horz" wrap="square" lIns="0" tIns="0" rIns="0" bIns="0" rtlCol="0">
            <a:spAutoFit/>
          </a:bodyPr>
          <a:lstStyle/>
          <a:p>
            <a:r>
              <a:rPr lang="es-ES" sz="2700" b="1">
                <a:solidFill>
                  <a:srgbClr val="1269B0"/>
                </a:solidFill>
                <a:latin typeface="Aptos" panose="020B0004020202020204" pitchFamily="34" charset="0"/>
              </a:rPr>
              <a:t>MVP propuesto</a:t>
            </a:r>
          </a:p>
        </p:txBody>
      </p:sp>
      <p:sp>
        <p:nvSpPr>
          <p:cNvPr id="6" name="CuadroTexto 5">
            <a:extLst>
              <a:ext uri="{FF2B5EF4-FFF2-40B4-BE49-F238E27FC236}">
                <a16:creationId xmlns:a16="http://schemas.microsoft.com/office/drawing/2014/main" id="{D2F9EDCD-09D2-AD91-FAF3-FDF688490FB6}"/>
              </a:ext>
            </a:extLst>
          </p:cNvPr>
          <p:cNvSpPr txBox="1"/>
          <p:nvPr/>
        </p:nvSpPr>
        <p:spPr>
          <a:xfrm>
            <a:off x="533400" y="2209800"/>
            <a:ext cx="5270500" cy="3046988"/>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Registro y permisos por empresa</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Catálogo y verificación manual</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Cotización a un proveedor</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Pedido y reserva de stock</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Atención y estados básicos</a:t>
            </a:r>
          </a:p>
        </p:txBody>
      </p:sp>
      <p:sp>
        <p:nvSpPr>
          <p:cNvPr id="7" name="CuadroTexto 6">
            <a:extLst>
              <a:ext uri="{FF2B5EF4-FFF2-40B4-BE49-F238E27FC236}">
                <a16:creationId xmlns:a16="http://schemas.microsoft.com/office/drawing/2014/main" id="{4FBF0B2E-C8FD-6912-7C53-16B9D6F92D25}"/>
              </a:ext>
            </a:extLst>
          </p:cNvPr>
          <p:cNvSpPr txBox="1"/>
          <p:nvPr/>
        </p:nvSpPr>
        <p:spPr>
          <a:xfrm>
            <a:off x="6604000" y="1460500"/>
            <a:ext cx="5054600" cy="415498"/>
          </a:xfrm>
          <a:prstGeom prst="rect">
            <a:avLst/>
          </a:prstGeom>
          <a:noFill/>
        </p:spPr>
        <p:txBody>
          <a:bodyPr vert="horz" wrap="square" lIns="0" tIns="0" rIns="0" bIns="0" rtlCol="0">
            <a:spAutoFit/>
          </a:bodyPr>
          <a:lstStyle/>
          <a:p>
            <a:r>
              <a:rPr lang="es-ES" sz="2700" b="1">
                <a:solidFill>
                  <a:srgbClr val="0F776F"/>
                </a:solidFill>
                <a:latin typeface="Aptos" panose="020B0004020202020204" pitchFamily="34" charset="0"/>
              </a:rPr>
              <a:t>Entregas posteriores</a:t>
            </a:r>
          </a:p>
        </p:txBody>
      </p:sp>
      <p:sp>
        <p:nvSpPr>
          <p:cNvPr id="8" name="CuadroTexto 7">
            <a:extLst>
              <a:ext uri="{FF2B5EF4-FFF2-40B4-BE49-F238E27FC236}">
                <a16:creationId xmlns:a16="http://schemas.microsoft.com/office/drawing/2014/main" id="{0548D294-CAFD-29FE-8B2C-677586E56DC1}"/>
              </a:ext>
            </a:extLst>
          </p:cNvPr>
          <p:cNvSpPr txBox="1"/>
          <p:nvPr/>
        </p:nvSpPr>
        <p:spPr>
          <a:xfrm>
            <a:off x="6604000" y="2209800"/>
            <a:ext cx="5054600" cy="2369880"/>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Recomendaciones de proveedores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Facturación y avisos externos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Reportes y reclamos avanzados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Mapas y automatizaciones</a:t>
            </a:r>
          </a:p>
        </p:txBody>
      </p:sp>
      <p:sp>
        <p:nvSpPr>
          <p:cNvPr id="9" name="CuadroTexto 8">
            <a:extLst>
              <a:ext uri="{FF2B5EF4-FFF2-40B4-BE49-F238E27FC236}">
                <a16:creationId xmlns:a16="http://schemas.microsoft.com/office/drawing/2014/main" id="{42162141-02A9-AA72-E9DE-962B2BDAFC81}"/>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Pagos e IA: alcance sujeto a los requisitos del curso y validación docente</a:t>
            </a:r>
          </a:p>
        </p:txBody>
      </p:sp>
    </p:spTree>
    <p:extLst>
      <p:ext uri="{BB962C8B-B14F-4D97-AF65-F5344CB8AC3E}">
        <p14:creationId xmlns:p14="http://schemas.microsoft.com/office/powerpoint/2010/main" val="2840094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D024C87-E953-D4E4-6046-7552BB6AC0F2}"/>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Atributos de calidad prioritarios</a:t>
            </a:r>
          </a:p>
        </p:txBody>
      </p:sp>
      <p:sp>
        <p:nvSpPr>
          <p:cNvPr id="3" name="CuadroTexto 2">
            <a:extLst>
              <a:ext uri="{FF2B5EF4-FFF2-40B4-BE49-F238E27FC236}">
                <a16:creationId xmlns:a16="http://schemas.microsoft.com/office/drawing/2014/main" id="{08A17037-FD4E-AB7D-57B4-13F09B9B09C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D984D0A-5125-3178-A046-C9135AAB733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10</a:t>
            </a:r>
          </a:p>
        </p:txBody>
      </p:sp>
      <p:graphicFrame>
        <p:nvGraphicFramePr>
          <p:cNvPr id="5" name="Tabla 4">
            <a:extLst>
              <a:ext uri="{FF2B5EF4-FFF2-40B4-BE49-F238E27FC236}">
                <a16:creationId xmlns:a16="http://schemas.microsoft.com/office/drawing/2014/main" id="{CC25C680-7010-371A-7A21-4529EA22394E}"/>
              </a:ext>
            </a:extLst>
          </p:cNvPr>
          <p:cNvGraphicFramePr>
            <a:graphicFrameLocks noGrp="1"/>
          </p:cNvGraphicFramePr>
          <p:nvPr>
            <p:extLst>
              <p:ext uri="{D42A27DB-BD31-4B8C-83A1-F6EECF244321}">
                <p14:modId xmlns:p14="http://schemas.microsoft.com/office/powerpoint/2010/main" val="1712518129"/>
              </p:ext>
            </p:extLst>
          </p:nvPr>
        </p:nvGraphicFramePr>
        <p:xfrm>
          <a:off x="533400" y="1409700"/>
          <a:ext cx="11125200" cy="4343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526412470"/>
                    </a:ext>
                  </a:extLst>
                </a:gridCol>
                <a:gridCol w="5651500">
                  <a:extLst>
                    <a:ext uri="{9D8B030D-6E8A-4147-A177-3AD203B41FA5}">
                      <a16:colId xmlns:a16="http://schemas.microsoft.com/office/drawing/2014/main" val="480232716"/>
                    </a:ext>
                  </a:extLst>
                </a:gridCol>
                <a:gridCol w="2984500">
                  <a:extLst>
                    <a:ext uri="{9D8B030D-6E8A-4147-A177-3AD203B41FA5}">
                      <a16:colId xmlns:a16="http://schemas.microsoft.com/office/drawing/2014/main" val="3116891446"/>
                    </a:ext>
                  </a:extLst>
                </a:gridCol>
              </a:tblGrid>
              <a:tr h="723900">
                <a:tc>
                  <a:txBody>
                    <a:bodyPr/>
                    <a:lstStyle/>
                    <a:p>
                      <a:r>
                        <a:rPr lang="es-ES" sz="1900" b="1">
                          <a:solidFill>
                            <a:srgbClr val="FFFFFF"/>
                          </a:solidFill>
                          <a:latin typeface="Aptos" panose="020B0004020202020204" pitchFamily="34" charset="0"/>
                        </a:rPr>
                        <a:t>Atributo</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Meta propuesta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Herramienta</a:t>
                      </a:r>
                    </a:p>
                  </a:txBody>
                  <a:tcPr marL="152400" marR="127000" marT="127000" marB="101600">
                    <a:solidFill>
                      <a:srgbClr val="102D4E"/>
                    </a:solidFill>
                  </a:tcPr>
                </a:tc>
                <a:extLst>
                  <a:ext uri="{0D108BD9-81ED-4DB2-BD59-A6C34878D82A}">
                    <a16:rowId xmlns:a16="http://schemas.microsoft.com/office/drawing/2014/main" val="2261113821"/>
                  </a:ext>
                </a:extLst>
              </a:tr>
              <a:tr h="723900">
                <a:tc>
                  <a:txBody>
                    <a:bodyPr/>
                    <a:lstStyle/>
                    <a:p>
                      <a:r>
                        <a:rPr lang="es-ES" sz="1900" b="0">
                          <a:solidFill>
                            <a:srgbClr val="203447"/>
                          </a:solidFill>
                          <a:latin typeface="Aptos" panose="020B0004020202020204" pitchFamily="34" charset="0"/>
                        </a:rPr>
                        <a:t>Rendimiento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de hasta 500 ms por endpoint local.</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a:t>
                      </a:r>
                    </a:p>
                  </a:txBody>
                  <a:tcPr marL="152400" marR="127000" marT="127000" marB="101600">
                    <a:solidFill>
                      <a:srgbClr val="EDF4FA"/>
                    </a:solidFill>
                  </a:tcPr>
                </a:tc>
                <a:extLst>
                  <a:ext uri="{0D108BD9-81ED-4DB2-BD59-A6C34878D82A}">
                    <a16:rowId xmlns:a16="http://schemas.microsoft.com/office/drawing/2014/main" val="3535887310"/>
                  </a:ext>
                </a:extLst>
              </a:tr>
              <a:tr h="723900">
                <a:tc>
                  <a:txBody>
                    <a:bodyPr/>
                    <a:lstStyle/>
                    <a:p>
                      <a:r>
                        <a:rPr lang="es-ES" sz="1900" b="0">
                          <a:solidFill>
                            <a:srgbClr val="203447"/>
                          </a:solidFill>
                          <a:latin typeface="Aptos" panose="020B0004020202020204" pitchFamily="34" charset="0"/>
                        </a:rPr>
                        <a:t>Escalabilidad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Evaluar hasta 2,000 usuarios virtuales.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k6 + CloudWatch</a:t>
                      </a:r>
                    </a:p>
                  </a:txBody>
                  <a:tcPr marL="152400" marR="127000" marT="127000" marB="101600">
                    <a:solidFill>
                      <a:srgbClr val="FFFFFF"/>
                    </a:solidFill>
                  </a:tcPr>
                </a:tc>
                <a:extLst>
                  <a:ext uri="{0D108BD9-81ED-4DB2-BD59-A6C34878D82A}">
                    <a16:rowId xmlns:a16="http://schemas.microsoft.com/office/drawing/2014/main" val="2568053526"/>
                  </a:ext>
                </a:extLst>
              </a:tr>
              <a:tr h="723900">
                <a:tc>
                  <a:txBody>
                    <a:bodyPr/>
                    <a:lstStyle/>
                    <a:p>
                      <a:r>
                        <a:rPr lang="es-ES" sz="1900" b="0">
                          <a:solidFill>
                            <a:srgbClr val="203447"/>
                          </a:solidFill>
                          <a:latin typeface="Aptos" panose="020B0004020202020204" pitchFamily="34" charset="0"/>
                        </a:rPr>
                        <a:t>Concurrencia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Sin sobreventa ni stock negativo.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 + SQL</a:t>
                      </a:r>
                    </a:p>
                  </a:txBody>
                  <a:tcPr marL="152400" marR="127000" marT="127000" marB="101600">
                    <a:solidFill>
                      <a:srgbClr val="EDF4FA"/>
                    </a:solidFill>
                  </a:tcPr>
                </a:tc>
                <a:extLst>
                  <a:ext uri="{0D108BD9-81ED-4DB2-BD59-A6C34878D82A}">
                    <a16:rowId xmlns:a16="http://schemas.microsoft.com/office/drawing/2014/main" val="117405160"/>
                  </a:ext>
                </a:extLst>
              </a:tr>
              <a:tr h="723900">
                <a:tc>
                  <a:txBody>
                    <a:bodyPr/>
                    <a:lstStyle/>
                    <a:p>
                      <a:r>
                        <a:rPr lang="es-ES" sz="1900" b="0">
                          <a:solidFill>
                            <a:srgbClr val="203447"/>
                          </a:solidFill>
                          <a:latin typeface="Aptos" panose="020B0004020202020204" pitchFamily="34" charset="0"/>
                        </a:rPr>
                        <a:t>Seguridad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Rechazar accesos indebidos de la matriz.</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Jest + HTTP</a:t>
                      </a:r>
                    </a:p>
                  </a:txBody>
                  <a:tcPr marL="152400" marR="127000" marT="127000" marB="101600">
                    <a:solidFill>
                      <a:srgbClr val="FFFFFF"/>
                    </a:solidFill>
                  </a:tcPr>
                </a:tc>
                <a:extLst>
                  <a:ext uri="{0D108BD9-81ED-4DB2-BD59-A6C34878D82A}">
                    <a16:rowId xmlns:a16="http://schemas.microsoft.com/office/drawing/2014/main" val="2657892172"/>
                  </a:ext>
                </a:extLst>
              </a:tr>
              <a:tr h="7239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EDF4FA"/>
                    </a:solidFill>
                  </a:tcPr>
                </a:tc>
                <a:tc>
                  <a:txBody>
                    <a:bodyPr/>
                    <a:lstStyle/>
                    <a:p>
                      <a:r>
                        <a:rPr lang="pt-BR" sz="1900" b="0">
                          <a:solidFill>
                            <a:srgbClr val="203447"/>
                          </a:solidFill>
                          <a:latin typeface="Aptos" panose="020B0004020202020204" pitchFamily="34" charset="0"/>
                        </a:rPr>
                        <a:t>99.5% mensual, RTO 4 h y RPO 1 h.</a:t>
                      </a:r>
                      <a:endParaRPr lang="es-ES" sz="1900" b="0">
                        <a:solidFill>
                          <a:srgbClr val="203447"/>
                        </a:solidFill>
                        <a:latin typeface="Aptos" panose="020B0004020202020204" pitchFamily="34" charset="0"/>
                      </a:endParaRP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Sondas + CloudWatch</a:t>
                      </a:r>
                    </a:p>
                  </a:txBody>
                  <a:tcPr marL="152400" marR="127000" marT="127000" marB="101600">
                    <a:solidFill>
                      <a:srgbClr val="EDF4FA"/>
                    </a:solidFill>
                  </a:tcPr>
                </a:tc>
                <a:extLst>
                  <a:ext uri="{0D108BD9-81ED-4DB2-BD59-A6C34878D82A}">
                    <a16:rowId xmlns:a16="http://schemas.microsoft.com/office/drawing/2014/main" val="3347077375"/>
                  </a:ext>
                </a:extLst>
              </a:tr>
            </a:tbl>
          </a:graphicData>
        </a:graphic>
      </p:graphicFrame>
      <p:sp>
        <p:nvSpPr>
          <p:cNvPr id="6" name="CuadroTexto 5">
            <a:extLst>
              <a:ext uri="{FF2B5EF4-FFF2-40B4-BE49-F238E27FC236}">
                <a16:creationId xmlns:a16="http://schemas.microsoft.com/office/drawing/2014/main" id="{DD8AD33D-B506-CFA4-D4D6-3B05FAC65AD5}"/>
              </a:ext>
            </a:extLst>
          </p:cNvPr>
          <p:cNvSpPr txBox="1"/>
          <p:nvPr/>
        </p:nvSpPr>
        <p:spPr>
          <a:xfrm>
            <a:off x="533400" y="60071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Metas pendientes de validación sobre el software implementado</a:t>
            </a:r>
          </a:p>
        </p:txBody>
      </p:sp>
    </p:spTree>
    <p:extLst>
      <p:ext uri="{BB962C8B-B14F-4D97-AF65-F5344CB8AC3E}">
        <p14:creationId xmlns:p14="http://schemas.microsoft.com/office/powerpoint/2010/main" val="2792942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AA3463-C482-7F8B-5F90-CBCEF9309DB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Medición después del despliegue</a:t>
            </a:r>
          </a:p>
        </p:txBody>
      </p:sp>
      <p:sp>
        <p:nvSpPr>
          <p:cNvPr id="3" name="CuadroTexto 2">
            <a:extLst>
              <a:ext uri="{FF2B5EF4-FFF2-40B4-BE49-F238E27FC236}">
                <a16:creationId xmlns:a16="http://schemas.microsoft.com/office/drawing/2014/main" id="{9F48734A-AAB7-DD4A-1EC3-5C2320D48F7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96020C21-043C-4B69-0FA5-10FE4FF02913}"/>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11</a:t>
            </a:r>
          </a:p>
        </p:txBody>
      </p:sp>
      <p:graphicFrame>
        <p:nvGraphicFramePr>
          <p:cNvPr id="5" name="Tabla 4">
            <a:extLst>
              <a:ext uri="{FF2B5EF4-FFF2-40B4-BE49-F238E27FC236}">
                <a16:creationId xmlns:a16="http://schemas.microsoft.com/office/drawing/2014/main" id="{E2E325CC-3B7C-D205-10CD-3D6D3E18BED0}"/>
              </a:ext>
            </a:extLst>
          </p:cNvPr>
          <p:cNvGraphicFramePr>
            <a:graphicFrameLocks noGrp="1"/>
          </p:cNvGraphicFramePr>
          <p:nvPr>
            <p:extLst>
              <p:ext uri="{D42A27DB-BD31-4B8C-83A1-F6EECF244321}">
                <p14:modId xmlns:p14="http://schemas.microsoft.com/office/powerpoint/2010/main" val="4261631368"/>
              </p:ext>
            </p:extLst>
          </p:nvPr>
        </p:nvGraphicFramePr>
        <p:xfrm>
          <a:off x="533400" y="1435100"/>
          <a:ext cx="11125200" cy="419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4213022502"/>
                    </a:ext>
                  </a:extLst>
                </a:gridCol>
                <a:gridCol w="5143500">
                  <a:extLst>
                    <a:ext uri="{9D8B030D-6E8A-4147-A177-3AD203B41FA5}">
                      <a16:colId xmlns:a16="http://schemas.microsoft.com/office/drawing/2014/main" val="2828706292"/>
                    </a:ext>
                  </a:extLst>
                </a:gridCol>
                <a:gridCol w="3568700">
                  <a:extLst>
                    <a:ext uri="{9D8B030D-6E8A-4147-A177-3AD203B41FA5}">
                      <a16:colId xmlns:a16="http://schemas.microsoft.com/office/drawing/2014/main" val="3125476243"/>
                    </a:ext>
                  </a:extLst>
                </a:gridCol>
              </a:tblGrid>
              <a:tr h="838200">
                <a:tc>
                  <a:txBody>
                    <a:bodyPr/>
                    <a:lstStyle/>
                    <a:p>
                      <a:r>
                        <a:rPr lang="es-ES" sz="1900" b="1">
                          <a:solidFill>
                            <a:srgbClr val="FFFFFF"/>
                          </a:solidFill>
                          <a:latin typeface="Aptos" panose="020B0004020202020204" pitchFamily="34" charset="0"/>
                        </a:rPr>
                        <a:t>Prueba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Cómo se realizará</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Evidencia</a:t>
                      </a:r>
                    </a:p>
                  </a:txBody>
                  <a:tcPr marL="152400" marR="127000" marT="127000" marB="101600">
                    <a:solidFill>
                      <a:srgbClr val="102D4E"/>
                    </a:solidFill>
                  </a:tcPr>
                </a:tc>
                <a:extLst>
                  <a:ext uri="{0D108BD9-81ED-4DB2-BD59-A6C34878D82A}">
                    <a16:rowId xmlns:a16="http://schemas.microsoft.com/office/drawing/2014/main" val="655416487"/>
                  </a:ext>
                </a:extLst>
              </a:tr>
              <a:tr h="838200">
                <a:tc>
                  <a:txBody>
                    <a:bodyPr/>
                    <a:lstStyle/>
                    <a:p>
                      <a:r>
                        <a:rPr lang="es-ES" sz="1900" b="0">
                          <a:solidFill>
                            <a:srgbClr val="203447"/>
                          </a:solidFill>
                          <a:latin typeface="Aptos" panose="020B0004020202020204" pitchFamily="34" charset="0"/>
                        </a:rPr>
                        <a:t>Carga con k6</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500, 1,000 y 2,000 usuarios.</a:t>
                      </a:r>
                    </a:p>
                    <a:p>
                      <a:r>
                        <a:rPr lang="es-ES" sz="1900" b="0">
                          <a:solidFill>
                            <a:srgbClr val="203447"/>
                          </a:solidFill>
                          <a:latin typeface="Aptos" panose="020B0004020202020204" pitchFamily="34" charset="0"/>
                        </a:rPr>
                        <a:t>Mesetas de 5 min y pausas de 2 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y errores por endpoint y etapa.</a:t>
                      </a:r>
                    </a:p>
                  </a:txBody>
                  <a:tcPr marL="152400" marR="127000" marT="127000" marB="101600">
                    <a:solidFill>
                      <a:srgbClr val="EDF4FA"/>
                    </a:solidFill>
                  </a:tcPr>
                </a:tc>
                <a:extLst>
                  <a:ext uri="{0D108BD9-81ED-4DB2-BD59-A6C34878D82A}">
                    <a16:rowId xmlns:a16="http://schemas.microsoft.com/office/drawing/2014/main" val="1116569031"/>
                  </a:ext>
                </a:extLst>
              </a:tr>
              <a:tr h="838200">
                <a:tc>
                  <a:txBody>
                    <a:bodyPr/>
                    <a:lstStyle/>
                    <a:p>
                      <a:r>
                        <a:rPr lang="es-ES" sz="1900" b="0">
                          <a:solidFill>
                            <a:srgbClr val="203447"/>
                          </a:solidFill>
                          <a:latin typeface="Aptos" panose="020B0004020202020204" pitchFamily="34" charset="0"/>
                        </a:rPr>
                        <a:t>Stock concurrente</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500 compradores y 100 unidades.</a:t>
                      </a:r>
                    </a:p>
                    <a:p>
                      <a:r>
                        <a:rPr lang="es-ES" sz="1900" b="0">
                          <a:solidFill>
                            <a:srgbClr val="203447"/>
                          </a:solidFill>
                          <a:latin typeface="Aptos" panose="020B0004020202020204" pitchFamily="34" charset="0"/>
                        </a:rPr>
                        <a:t>Una unidad por intento.</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100 aceptados, 400 rechazos y stock 0.</a:t>
                      </a:r>
                    </a:p>
                  </a:txBody>
                  <a:tcPr marL="152400" marR="127000" marT="127000" marB="101600">
                    <a:solidFill>
                      <a:srgbClr val="FFFFFF"/>
                    </a:solidFill>
                  </a:tcPr>
                </a:tc>
                <a:extLst>
                  <a:ext uri="{0D108BD9-81ED-4DB2-BD59-A6C34878D82A}">
                    <a16:rowId xmlns:a16="http://schemas.microsoft.com/office/drawing/2014/main" val="911222536"/>
                  </a:ext>
                </a:extLst>
              </a:tr>
              <a:tr h="838200">
                <a:tc>
                  <a:txBody>
                    <a:bodyPr/>
                    <a:lstStyle/>
                    <a:p>
                      <a:r>
                        <a:rPr lang="es-ES" sz="1900" b="0">
                          <a:solidFill>
                            <a:srgbClr val="203447"/>
                          </a:solidFill>
                          <a:latin typeface="Aptos" panose="020B0004020202020204" pitchFamily="34" charset="0"/>
                        </a:rPr>
                        <a:t>Infraestructura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Correlacionar carga con CPU, memoria instrumentada y conexiones.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Métricas y registros en CloudWatch.</a:t>
                      </a:r>
                    </a:p>
                  </a:txBody>
                  <a:tcPr marL="152400" marR="127000" marT="127000" marB="101600">
                    <a:solidFill>
                      <a:srgbClr val="EDF4FA"/>
                    </a:solidFill>
                  </a:tcPr>
                </a:tc>
                <a:extLst>
                  <a:ext uri="{0D108BD9-81ED-4DB2-BD59-A6C34878D82A}">
                    <a16:rowId xmlns:a16="http://schemas.microsoft.com/office/drawing/2014/main" val="2630759357"/>
                  </a:ext>
                </a:extLst>
              </a:tr>
              <a:tr h="8382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Sondas cada minuto durante un mes.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Historial, incidentes y cobertura.</a:t>
                      </a:r>
                    </a:p>
                  </a:txBody>
                  <a:tcPr marL="152400" marR="127000" marT="127000" marB="101600">
                    <a:solidFill>
                      <a:srgbClr val="FFFFFF"/>
                    </a:solidFill>
                  </a:tcPr>
                </a:tc>
                <a:extLst>
                  <a:ext uri="{0D108BD9-81ED-4DB2-BD59-A6C34878D82A}">
                    <a16:rowId xmlns:a16="http://schemas.microsoft.com/office/drawing/2014/main" val="2447801955"/>
                  </a:ext>
                </a:extLst>
              </a:tr>
            </a:tbl>
          </a:graphicData>
        </a:graphic>
      </p:graphicFrame>
      <p:sp>
        <p:nvSpPr>
          <p:cNvPr id="6" name="CuadroTexto 5">
            <a:extLst>
              <a:ext uri="{FF2B5EF4-FFF2-40B4-BE49-F238E27FC236}">
                <a16:creationId xmlns:a16="http://schemas.microsoft.com/office/drawing/2014/main" id="{3745EC7A-9837-A534-2E08-ABBFCB974FF5}"/>
              </a:ext>
            </a:extLst>
          </p:cNvPr>
          <p:cNvSpPr txBox="1"/>
          <p:nvPr/>
        </p:nvSpPr>
        <p:spPr>
          <a:xfrm>
            <a:off x="533400" y="59182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Ejecución pendiente. El informe incluirá versión, entorno y resultados reales</a:t>
            </a:r>
          </a:p>
        </p:txBody>
      </p:sp>
    </p:spTree>
    <p:extLst>
      <p:ext uri="{BB962C8B-B14F-4D97-AF65-F5344CB8AC3E}">
        <p14:creationId xmlns:p14="http://schemas.microsoft.com/office/powerpoint/2010/main" val="3342610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774B2E7-E271-A6C8-CFF0-3A1E0B49E3DB}"/>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Drivers que orientan la arquitectura</a:t>
            </a:r>
          </a:p>
        </p:txBody>
      </p:sp>
      <p:sp>
        <p:nvSpPr>
          <p:cNvPr id="3" name="CuadroTexto 2">
            <a:extLst>
              <a:ext uri="{FF2B5EF4-FFF2-40B4-BE49-F238E27FC236}">
                <a16:creationId xmlns:a16="http://schemas.microsoft.com/office/drawing/2014/main" id="{CABE1D76-34A5-2238-23F0-98BCEDBE246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43A9152B-7A72-FECB-3058-697A613E3287}"/>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12</a:t>
            </a:r>
          </a:p>
        </p:txBody>
      </p:sp>
      <p:graphicFrame>
        <p:nvGraphicFramePr>
          <p:cNvPr id="5" name="Tabla 4">
            <a:extLst>
              <a:ext uri="{FF2B5EF4-FFF2-40B4-BE49-F238E27FC236}">
                <a16:creationId xmlns:a16="http://schemas.microsoft.com/office/drawing/2014/main" id="{3791ABEB-EC9E-92C7-0B9A-1505F4EA7357}"/>
              </a:ext>
            </a:extLst>
          </p:cNvPr>
          <p:cNvGraphicFramePr>
            <a:graphicFrameLocks noGrp="1"/>
          </p:cNvGraphicFramePr>
          <p:nvPr>
            <p:extLst>
              <p:ext uri="{D42A27DB-BD31-4B8C-83A1-F6EECF244321}">
                <p14:modId xmlns:p14="http://schemas.microsoft.com/office/powerpoint/2010/main" val="2957012697"/>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1272937129"/>
                    </a:ext>
                  </a:extLst>
                </a:gridCol>
                <a:gridCol w="4483100">
                  <a:extLst>
                    <a:ext uri="{9D8B030D-6E8A-4147-A177-3AD203B41FA5}">
                      <a16:colId xmlns:a16="http://schemas.microsoft.com/office/drawing/2014/main" val="465199436"/>
                    </a:ext>
                  </a:extLst>
                </a:gridCol>
                <a:gridCol w="4483100">
                  <a:extLst>
                    <a:ext uri="{9D8B030D-6E8A-4147-A177-3AD203B41FA5}">
                      <a16:colId xmlns:a16="http://schemas.microsoft.com/office/drawing/2014/main" val="449280353"/>
                    </a:ext>
                  </a:extLst>
                </a:gridCol>
              </a:tblGrid>
              <a:tr h="850900">
                <a:tc>
                  <a:txBody>
                    <a:bodyPr/>
                    <a:lstStyle/>
                    <a:p>
                      <a:r>
                        <a:rPr lang="es-ES" sz="2100" b="1">
                          <a:solidFill>
                            <a:srgbClr val="FFFFFF"/>
                          </a:solidFill>
                          <a:latin typeface="Aptos" panose="020B0004020202020204" pitchFamily="34" charset="0"/>
                        </a:rPr>
                        <a:t>Driver</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Necesidad</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Respuesta de diseño</a:t>
                      </a:r>
                    </a:p>
                  </a:txBody>
                  <a:tcPr marL="152400" marR="127000" marT="127000" marB="101600">
                    <a:solidFill>
                      <a:srgbClr val="102D4E"/>
                    </a:solidFill>
                  </a:tcPr>
                </a:tc>
                <a:extLst>
                  <a:ext uri="{0D108BD9-81ED-4DB2-BD59-A6C34878D82A}">
                    <a16:rowId xmlns:a16="http://schemas.microsoft.com/office/drawing/2014/main" val="1650936791"/>
                  </a:ext>
                </a:extLst>
              </a:tr>
              <a:tr h="850900">
                <a:tc>
                  <a:txBody>
                    <a:bodyPr/>
                    <a:lstStyle/>
                    <a:p>
                      <a:r>
                        <a:rPr lang="es-ES" sz="2100" b="0">
                          <a:solidFill>
                            <a:srgbClr val="203447"/>
                          </a:solidFill>
                          <a:latin typeface="Aptos" panose="020B0004020202020204" pitchFamily="34" charset="0"/>
                        </a:rPr>
                        <a:t>DA03 / DA11</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Mantener pedidos y stock consistentes.</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Transacción local y recuperación.</a:t>
                      </a:r>
                    </a:p>
                  </a:txBody>
                  <a:tcPr marL="152400" marR="127000" marT="127000" marB="101600">
                    <a:solidFill>
                      <a:srgbClr val="EDF4FA"/>
                    </a:solidFill>
                  </a:tcPr>
                </a:tc>
                <a:extLst>
                  <a:ext uri="{0D108BD9-81ED-4DB2-BD59-A6C34878D82A}">
                    <a16:rowId xmlns:a16="http://schemas.microsoft.com/office/drawing/2014/main" val="1684809390"/>
                  </a:ext>
                </a:extLst>
              </a:tr>
              <a:tr h="850900">
                <a:tc>
                  <a:txBody>
                    <a:bodyPr/>
                    <a:lstStyle/>
                    <a:p>
                      <a:r>
                        <a:rPr lang="es-ES" sz="2100" b="0">
                          <a:solidFill>
                            <a:srgbClr val="203447"/>
                          </a:solidFill>
                          <a:latin typeface="Aptos" panose="020B0004020202020204" pitchFamily="34" charset="0"/>
                        </a:rPr>
                        <a:t>DA04</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Proteger la información comercial.</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Autorización por empresa y rol.</a:t>
                      </a:r>
                    </a:p>
                  </a:txBody>
                  <a:tcPr marL="152400" marR="127000" marT="127000" marB="101600">
                    <a:solidFill>
                      <a:srgbClr val="FFFFFF"/>
                    </a:solidFill>
                  </a:tcPr>
                </a:tc>
                <a:extLst>
                  <a:ext uri="{0D108BD9-81ED-4DB2-BD59-A6C34878D82A}">
                    <a16:rowId xmlns:a16="http://schemas.microsoft.com/office/drawing/2014/main" val="1150414319"/>
                  </a:ext>
                </a:extLst>
              </a:tr>
              <a:tr h="850900">
                <a:tc>
                  <a:txBody>
                    <a:bodyPr/>
                    <a:lstStyle/>
                    <a:p>
                      <a:r>
                        <a:rPr lang="es-ES" sz="2100" b="0">
                          <a:solidFill>
                            <a:srgbClr val="203447"/>
                          </a:solidFill>
                          <a:latin typeface="Aptos" panose="020B0004020202020204" pitchFamily="34" charset="0"/>
                        </a:rPr>
                        <a:t>DA09</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Modificar funcionalidades con menor acoplamiento.</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Módulos y Clean Architecture.</a:t>
                      </a:r>
                    </a:p>
                  </a:txBody>
                  <a:tcPr marL="152400" marR="127000" marT="127000" marB="101600">
                    <a:solidFill>
                      <a:srgbClr val="EDF4FA"/>
                    </a:solidFill>
                  </a:tcPr>
                </a:tc>
                <a:extLst>
                  <a:ext uri="{0D108BD9-81ED-4DB2-BD59-A6C34878D82A}">
                    <a16:rowId xmlns:a16="http://schemas.microsoft.com/office/drawing/2014/main" val="1175570303"/>
                  </a:ext>
                </a:extLst>
              </a:tr>
              <a:tr h="850900">
                <a:tc>
                  <a:txBody>
                    <a:bodyPr/>
                    <a:lstStyle/>
                    <a:p>
                      <a:r>
                        <a:rPr lang="es-ES" sz="2100" b="0">
                          <a:solidFill>
                            <a:srgbClr val="203447"/>
                          </a:solidFill>
                          <a:latin typeface="Aptos" panose="020B0004020202020204" pitchFamily="34" charset="0"/>
                        </a:rPr>
                        <a:t>DA12</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Trabajar con presupuesto limitado.</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MVP y despliegue por etapas.</a:t>
                      </a:r>
                    </a:p>
                  </a:txBody>
                  <a:tcPr marL="152400" marR="127000" marT="127000" marB="101600">
                    <a:solidFill>
                      <a:srgbClr val="FFFFFF"/>
                    </a:solidFill>
                  </a:tcPr>
                </a:tc>
                <a:extLst>
                  <a:ext uri="{0D108BD9-81ED-4DB2-BD59-A6C34878D82A}">
                    <a16:rowId xmlns:a16="http://schemas.microsoft.com/office/drawing/2014/main" val="2587200889"/>
                  </a:ext>
                </a:extLst>
              </a:tr>
            </a:tbl>
          </a:graphicData>
        </a:graphic>
      </p:graphicFrame>
      <p:sp>
        <p:nvSpPr>
          <p:cNvPr id="6" name="CuadroTexto 5">
            <a:extLst>
              <a:ext uri="{FF2B5EF4-FFF2-40B4-BE49-F238E27FC236}">
                <a16:creationId xmlns:a16="http://schemas.microsoft.com/office/drawing/2014/main" id="{4980A9AF-2E7E-1296-334F-C224BEB7FBEB}"/>
              </a:ext>
            </a:extLst>
          </p:cNvPr>
          <p:cNvSpPr txBox="1"/>
          <p:nvPr/>
        </p:nvSpPr>
        <p:spPr>
          <a:xfrm>
            <a:off x="533400" y="59944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Las decisiones responden a necesidades concretas del sistema</a:t>
            </a:r>
          </a:p>
        </p:txBody>
      </p:sp>
    </p:spTree>
    <p:extLst>
      <p:ext uri="{BB962C8B-B14F-4D97-AF65-F5344CB8AC3E}">
        <p14:creationId xmlns:p14="http://schemas.microsoft.com/office/powerpoint/2010/main" val="409775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B24058E-AF7F-10B5-4760-067E44F7B7F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Estilos y decisiones arquitectónicas</a:t>
            </a:r>
          </a:p>
        </p:txBody>
      </p:sp>
      <p:sp>
        <p:nvSpPr>
          <p:cNvPr id="3" name="CuadroTexto 2">
            <a:extLst>
              <a:ext uri="{FF2B5EF4-FFF2-40B4-BE49-F238E27FC236}">
                <a16:creationId xmlns:a16="http://schemas.microsoft.com/office/drawing/2014/main" id="{002AB8D5-59CD-CFD3-A7E5-F8FC0BC406D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CB9386A-CD39-947D-3C58-020223025FC6}"/>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13</a:t>
            </a:r>
          </a:p>
        </p:txBody>
      </p:sp>
      <p:graphicFrame>
        <p:nvGraphicFramePr>
          <p:cNvPr id="5" name="Tabla 4">
            <a:extLst>
              <a:ext uri="{FF2B5EF4-FFF2-40B4-BE49-F238E27FC236}">
                <a16:creationId xmlns:a16="http://schemas.microsoft.com/office/drawing/2014/main" id="{86D9C4A2-4348-5085-DD89-E70BDBCEBFEE}"/>
              </a:ext>
            </a:extLst>
          </p:cNvPr>
          <p:cNvGraphicFramePr>
            <a:graphicFrameLocks noGrp="1"/>
          </p:cNvGraphicFramePr>
          <p:nvPr>
            <p:extLst>
              <p:ext uri="{D42A27DB-BD31-4B8C-83A1-F6EECF244321}">
                <p14:modId xmlns:p14="http://schemas.microsoft.com/office/powerpoint/2010/main" val="940196854"/>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867682840"/>
                    </a:ext>
                  </a:extLst>
                </a:gridCol>
                <a:gridCol w="4152900">
                  <a:extLst>
                    <a:ext uri="{9D8B030D-6E8A-4147-A177-3AD203B41FA5}">
                      <a16:colId xmlns:a16="http://schemas.microsoft.com/office/drawing/2014/main" val="2090873714"/>
                    </a:ext>
                  </a:extLst>
                </a:gridCol>
                <a:gridCol w="4152900">
                  <a:extLst>
                    <a:ext uri="{9D8B030D-6E8A-4147-A177-3AD203B41FA5}">
                      <a16:colId xmlns:a16="http://schemas.microsoft.com/office/drawing/2014/main" val="3175997788"/>
                    </a:ext>
                  </a:extLst>
                </a:gridCol>
              </a:tblGrid>
              <a:tr h="850900">
                <a:tc>
                  <a:txBody>
                    <a:bodyPr/>
                    <a:lstStyle/>
                    <a:p>
                      <a:r>
                        <a:rPr lang="es-ES" sz="2000" b="1">
                          <a:solidFill>
                            <a:srgbClr val="FFFFFF"/>
                          </a:solidFill>
                          <a:latin typeface="Aptos" panose="020B0004020202020204" pitchFamily="34" charset="0"/>
                        </a:rPr>
                        <a:t>Decisión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Aplicación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Justificación</a:t>
                      </a:r>
                    </a:p>
                  </a:txBody>
                  <a:tcPr marL="152400" marR="127000" marT="127000" marB="101600">
                    <a:solidFill>
                      <a:srgbClr val="102D4E"/>
                    </a:solidFill>
                  </a:tcPr>
                </a:tc>
                <a:extLst>
                  <a:ext uri="{0D108BD9-81ED-4DB2-BD59-A6C34878D82A}">
                    <a16:rowId xmlns:a16="http://schemas.microsoft.com/office/drawing/2014/main" val="2784833335"/>
                  </a:ext>
                </a:extLst>
              </a:tr>
              <a:tr h="850900">
                <a:tc>
                  <a:txBody>
                    <a:bodyPr/>
                    <a:lstStyle/>
                    <a:p>
                      <a:r>
                        <a:rPr lang="es-ES" sz="2000" b="0">
                          <a:solidFill>
                            <a:srgbClr val="203447"/>
                          </a:solidFill>
                          <a:latin typeface="Aptos" panose="020B0004020202020204" pitchFamily="34" charset="0"/>
                        </a:rPr>
                        <a:t>Cliente-servidor</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Angular consume la API REST.</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Separar la interfaz del backend.</a:t>
                      </a:r>
                    </a:p>
                  </a:txBody>
                  <a:tcPr marL="152400" marR="127000" marT="127000" marB="101600">
                    <a:solidFill>
                      <a:srgbClr val="EDF4FA"/>
                    </a:solidFill>
                  </a:tcPr>
                </a:tc>
                <a:extLst>
                  <a:ext uri="{0D108BD9-81ED-4DB2-BD59-A6C34878D82A}">
                    <a16:rowId xmlns:a16="http://schemas.microsoft.com/office/drawing/2014/main" val="3705217594"/>
                  </a:ext>
                </a:extLst>
              </a:tr>
              <a:tr h="850900">
                <a:tc>
                  <a:txBody>
                    <a:bodyPr/>
                    <a:lstStyle/>
                    <a:p>
                      <a:r>
                        <a:rPr lang="es-ES" sz="2000" b="0">
                          <a:solidFill>
                            <a:srgbClr val="203447"/>
                          </a:solidFill>
                          <a:latin typeface="Aptos" panose="020B0004020202020204" pitchFamily="34" charset="0"/>
                        </a:rPr>
                        <a:t>Monolito modular</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Módulos comerciales en NestJS.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Simplificar despliegue y coordinación.</a:t>
                      </a:r>
                    </a:p>
                  </a:txBody>
                  <a:tcPr marL="152400" marR="127000" marT="127000" marB="101600">
                    <a:solidFill>
                      <a:srgbClr val="FFFFFF"/>
                    </a:solidFill>
                  </a:tcPr>
                </a:tc>
                <a:extLst>
                  <a:ext uri="{0D108BD9-81ED-4DB2-BD59-A6C34878D82A}">
                    <a16:rowId xmlns:a16="http://schemas.microsoft.com/office/drawing/2014/main" val="3064910005"/>
                  </a:ext>
                </a:extLst>
              </a:tr>
              <a:tr h="850900">
                <a:tc>
                  <a:txBody>
                    <a:bodyPr/>
                    <a:lstStyle/>
                    <a:p>
                      <a:r>
                        <a:rPr lang="es-ES" sz="2000" b="0">
                          <a:solidFill>
                            <a:srgbClr val="203447"/>
                          </a:solidFill>
                          <a:latin typeface="Aptos" panose="020B0004020202020204" pitchFamily="34" charset="0"/>
                        </a:rPr>
                        <a:t>Clean Architecture</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Capas dentro de cada módulo.</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Aislar las reglas de negocio.</a:t>
                      </a:r>
                    </a:p>
                  </a:txBody>
                  <a:tcPr marL="152400" marR="127000" marT="127000" marB="101600">
                    <a:solidFill>
                      <a:srgbClr val="EDF4FA"/>
                    </a:solidFill>
                  </a:tcPr>
                </a:tc>
                <a:extLst>
                  <a:ext uri="{0D108BD9-81ED-4DB2-BD59-A6C34878D82A}">
                    <a16:rowId xmlns:a16="http://schemas.microsoft.com/office/drawing/2014/main" val="4180768227"/>
                  </a:ext>
                </a:extLst>
              </a:tr>
              <a:tr h="850900">
                <a:tc>
                  <a:txBody>
                    <a:bodyPr/>
                    <a:lstStyle/>
                    <a:p>
                      <a:r>
                        <a:rPr lang="es-ES" sz="2000" b="0">
                          <a:solidFill>
                            <a:srgbClr val="203447"/>
                          </a:solidFill>
                          <a:latin typeface="Aptos" panose="020B0004020202020204" pitchFamily="34" charset="0"/>
                        </a:rPr>
                        <a:t>Tareas asíncronas</a:t>
                      </a:r>
                    </a:p>
                  </a:txBody>
                  <a:tcPr marL="152400" marR="127000" marT="127000" marB="101600">
                    <a:solidFill>
                      <a:srgbClr val="FFFFFF"/>
                    </a:solidFill>
                  </a:tcPr>
                </a:tc>
                <a:tc>
                  <a:txBody>
                    <a:bodyPr/>
                    <a:lstStyle/>
                    <a:p>
                      <a:r>
                        <a:rPr lang="en-US" sz="2000" b="0">
                          <a:solidFill>
                            <a:srgbClr val="203447"/>
                          </a:solidFill>
                          <a:latin typeface="Aptos" panose="020B0004020202020204" pitchFamily="34" charset="0"/>
                        </a:rPr>
                        <a:t>Outbox, SQS y workers previstos.</a:t>
                      </a:r>
                      <a:endParaRPr lang="es-ES" sz="2000" b="0">
                        <a:solidFill>
                          <a:srgbClr val="203447"/>
                        </a:solidFill>
                        <a:latin typeface="Aptos" panose="020B0004020202020204" pitchFamily="34" charset="0"/>
                      </a:endParaRP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Ejecutar tareas con reintentos.</a:t>
                      </a:r>
                    </a:p>
                  </a:txBody>
                  <a:tcPr marL="152400" marR="127000" marT="127000" marB="101600">
                    <a:solidFill>
                      <a:srgbClr val="FFFFFF"/>
                    </a:solidFill>
                  </a:tcPr>
                </a:tc>
                <a:extLst>
                  <a:ext uri="{0D108BD9-81ED-4DB2-BD59-A6C34878D82A}">
                    <a16:rowId xmlns:a16="http://schemas.microsoft.com/office/drawing/2014/main" val="1326715609"/>
                  </a:ext>
                </a:extLst>
              </a:tr>
            </a:tbl>
          </a:graphicData>
        </a:graphic>
      </p:graphicFrame>
      <p:sp>
        <p:nvSpPr>
          <p:cNvPr id="6" name="CuadroTexto 5">
            <a:extLst>
              <a:ext uri="{FF2B5EF4-FFF2-40B4-BE49-F238E27FC236}">
                <a16:creationId xmlns:a16="http://schemas.microsoft.com/office/drawing/2014/main" id="{7300B61D-EBA1-D751-DA4A-AE6FCA4678C8}"/>
              </a:ext>
            </a:extLst>
          </p:cNvPr>
          <p:cNvSpPr txBox="1"/>
          <p:nvPr/>
        </p:nvSpPr>
        <p:spPr>
          <a:xfrm>
            <a:off x="533400" y="5918200"/>
            <a:ext cx="11125200" cy="307777"/>
          </a:xfrm>
          <a:prstGeom prst="rect">
            <a:avLst/>
          </a:prstGeom>
          <a:noFill/>
        </p:spPr>
        <p:txBody>
          <a:bodyPr vert="horz" wrap="square" lIns="0" tIns="0" rIns="0" bIns="0" rtlCol="0">
            <a:spAutoFit/>
          </a:bodyPr>
          <a:lstStyle/>
          <a:p>
            <a:r>
              <a:rPr lang="es-ES" sz="2000" b="1">
                <a:solidFill>
                  <a:srgbClr val="1269B0"/>
                </a:solidFill>
                <a:latin typeface="Aptos" panose="020B0004020202020204" pitchFamily="34" charset="0"/>
              </a:rPr>
              <a:t>Base del núcleo inicial: Angular, NestJS y PostgreSQL</a:t>
            </a:r>
          </a:p>
        </p:txBody>
      </p:sp>
    </p:spTree>
    <p:extLst>
      <p:ext uri="{BB962C8B-B14F-4D97-AF65-F5344CB8AC3E}">
        <p14:creationId xmlns:p14="http://schemas.microsoft.com/office/powerpoint/2010/main" val="2827915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2362FE-5080-B3A4-2AEC-BB31ED2F6EFB}"/>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Organización interna del módulo</a:t>
            </a:r>
          </a:p>
        </p:txBody>
      </p:sp>
      <p:sp>
        <p:nvSpPr>
          <p:cNvPr id="3" name="CuadroTexto 2">
            <a:extLst>
              <a:ext uri="{FF2B5EF4-FFF2-40B4-BE49-F238E27FC236}">
                <a16:creationId xmlns:a16="http://schemas.microsoft.com/office/drawing/2014/main" id="{F3127E34-98DC-5EC2-33CE-6E1CF3F6D62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BA5BC67-4811-D870-5539-4F7F9745C4B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14</a:t>
            </a:r>
          </a:p>
        </p:txBody>
      </p:sp>
      <p:sp>
        <p:nvSpPr>
          <p:cNvPr id="5" name="Rectángulo 4">
            <a:extLst>
              <a:ext uri="{FF2B5EF4-FFF2-40B4-BE49-F238E27FC236}">
                <a16:creationId xmlns:a16="http://schemas.microsoft.com/office/drawing/2014/main" id="{6D686CDC-7800-B9AC-A50D-51216D5B45CD}"/>
              </a:ext>
            </a:extLst>
          </p:cNvPr>
          <p:cNvSpPr/>
          <p:nvPr/>
        </p:nvSpPr>
        <p:spPr>
          <a:xfrm>
            <a:off x="533400" y="1841500"/>
            <a:ext cx="3302000" cy="14986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55849BD-CFF7-6033-D167-B101D73A5BCD}"/>
              </a:ext>
            </a:extLst>
          </p:cNvPr>
          <p:cNvSpPr txBox="1"/>
          <p:nvPr/>
        </p:nvSpPr>
        <p:spPr>
          <a:xfrm>
            <a:off x="6858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Presentación</a:t>
            </a:r>
          </a:p>
        </p:txBody>
      </p:sp>
      <p:sp>
        <p:nvSpPr>
          <p:cNvPr id="7" name="CuadroTexto 6">
            <a:extLst>
              <a:ext uri="{FF2B5EF4-FFF2-40B4-BE49-F238E27FC236}">
                <a16:creationId xmlns:a16="http://schemas.microsoft.com/office/drawing/2014/main" id="{DC3FB283-F337-C34F-140A-6EC08803A376}"/>
              </a:ext>
            </a:extLst>
          </p:cNvPr>
          <p:cNvSpPr txBox="1"/>
          <p:nvPr/>
        </p:nvSpPr>
        <p:spPr>
          <a:xfrm>
            <a:off x="6858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Controladores HTTP</a:t>
            </a:r>
          </a:p>
          <a:p>
            <a:r>
              <a:rPr lang="es-ES" sz="1600">
                <a:solidFill>
                  <a:srgbClr val="FFFFFF"/>
                </a:solidFill>
                <a:latin typeface="Aptos" panose="020B0004020202020204" pitchFamily="34" charset="0"/>
              </a:rPr>
              <a:t>Validación de entrada</a:t>
            </a:r>
          </a:p>
        </p:txBody>
      </p:sp>
      <p:sp>
        <p:nvSpPr>
          <p:cNvPr id="8" name="Rectángulo 7">
            <a:extLst>
              <a:ext uri="{FF2B5EF4-FFF2-40B4-BE49-F238E27FC236}">
                <a16:creationId xmlns:a16="http://schemas.microsoft.com/office/drawing/2014/main" id="{3FEEEAAA-6E4B-AD83-A1AE-1A8364B002C0}"/>
              </a:ext>
            </a:extLst>
          </p:cNvPr>
          <p:cNvSpPr/>
          <p:nvPr/>
        </p:nvSpPr>
        <p:spPr>
          <a:xfrm>
            <a:off x="4445000" y="1841500"/>
            <a:ext cx="3302000" cy="14986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6B5E4B87-05B7-39AC-F6DE-E767E31397BC}"/>
              </a:ext>
            </a:extLst>
          </p:cNvPr>
          <p:cNvSpPr txBox="1"/>
          <p:nvPr/>
        </p:nvSpPr>
        <p:spPr>
          <a:xfrm>
            <a:off x="45974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Aplicación</a:t>
            </a:r>
          </a:p>
        </p:txBody>
      </p:sp>
      <p:sp>
        <p:nvSpPr>
          <p:cNvPr id="10" name="CuadroTexto 9">
            <a:extLst>
              <a:ext uri="{FF2B5EF4-FFF2-40B4-BE49-F238E27FC236}">
                <a16:creationId xmlns:a16="http://schemas.microsoft.com/office/drawing/2014/main" id="{03BD5865-28DA-8D61-4DCB-6E2C0639CA0A}"/>
              </a:ext>
            </a:extLst>
          </p:cNvPr>
          <p:cNvSpPr txBox="1"/>
          <p:nvPr/>
        </p:nvSpPr>
        <p:spPr>
          <a:xfrm>
            <a:off x="45974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Casos de uso</a:t>
            </a:r>
          </a:p>
          <a:p>
            <a:r>
              <a:rPr lang="es-ES" sz="1600">
                <a:solidFill>
                  <a:srgbClr val="FFFFFF"/>
                </a:solidFill>
                <a:latin typeface="Aptos" panose="020B0004020202020204" pitchFamily="34" charset="0"/>
              </a:rPr>
              <a:t>Autorización y coordinación</a:t>
            </a:r>
          </a:p>
        </p:txBody>
      </p:sp>
      <p:sp>
        <p:nvSpPr>
          <p:cNvPr id="11" name="Rectángulo 10">
            <a:extLst>
              <a:ext uri="{FF2B5EF4-FFF2-40B4-BE49-F238E27FC236}">
                <a16:creationId xmlns:a16="http://schemas.microsoft.com/office/drawing/2014/main" id="{10679132-5667-3377-499A-B1D8506792B7}"/>
              </a:ext>
            </a:extLst>
          </p:cNvPr>
          <p:cNvSpPr/>
          <p:nvPr/>
        </p:nvSpPr>
        <p:spPr>
          <a:xfrm>
            <a:off x="8356600" y="1841500"/>
            <a:ext cx="3302000" cy="14986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7FB99215-4601-46E4-75E2-B0A37BD04D41}"/>
              </a:ext>
            </a:extLst>
          </p:cNvPr>
          <p:cNvSpPr txBox="1"/>
          <p:nvPr/>
        </p:nvSpPr>
        <p:spPr>
          <a:xfrm>
            <a:off x="85090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Dominio</a:t>
            </a:r>
          </a:p>
        </p:txBody>
      </p:sp>
      <p:sp>
        <p:nvSpPr>
          <p:cNvPr id="13" name="CuadroTexto 12">
            <a:extLst>
              <a:ext uri="{FF2B5EF4-FFF2-40B4-BE49-F238E27FC236}">
                <a16:creationId xmlns:a16="http://schemas.microsoft.com/office/drawing/2014/main" id="{70E7B7D1-516E-626E-D63A-853023ABD004}"/>
              </a:ext>
            </a:extLst>
          </p:cNvPr>
          <p:cNvSpPr txBox="1"/>
          <p:nvPr/>
        </p:nvSpPr>
        <p:spPr>
          <a:xfrm>
            <a:off x="85090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Pedido e ítems</a:t>
            </a:r>
          </a:p>
          <a:p>
            <a:r>
              <a:rPr lang="es-ES" sz="1600">
                <a:solidFill>
                  <a:srgbClr val="FFFFFF"/>
                </a:solidFill>
                <a:latin typeface="Aptos" panose="020B0004020202020204" pitchFamily="34" charset="0"/>
              </a:rPr>
              <a:t>Reglas y contratos</a:t>
            </a:r>
          </a:p>
        </p:txBody>
      </p:sp>
      <p:cxnSp>
        <p:nvCxnSpPr>
          <p:cNvPr id="14" name="Conector recto 13">
            <a:extLst>
              <a:ext uri="{FF2B5EF4-FFF2-40B4-BE49-F238E27FC236}">
                <a16:creationId xmlns:a16="http://schemas.microsoft.com/office/drawing/2014/main" id="{13B4DF82-4E0B-FABA-D45B-2D6D293495C9}"/>
              </a:ext>
            </a:extLst>
          </p:cNvPr>
          <p:cNvCxnSpPr/>
          <p:nvPr/>
        </p:nvCxnSpPr>
        <p:spPr>
          <a:xfrm>
            <a:off x="38354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1BD0345D-F875-596F-A7EC-841D5C5103BA}"/>
              </a:ext>
            </a:extLst>
          </p:cNvPr>
          <p:cNvCxnSpPr/>
          <p:nvPr/>
        </p:nvCxnSpPr>
        <p:spPr>
          <a:xfrm>
            <a:off x="77470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11615041-2FAF-B1B7-55FD-02F9AC805EA6}"/>
              </a:ext>
            </a:extLst>
          </p:cNvPr>
          <p:cNvSpPr/>
          <p:nvPr/>
        </p:nvSpPr>
        <p:spPr>
          <a:xfrm>
            <a:off x="4445000" y="4445000"/>
            <a:ext cx="7213600" cy="13716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FCD47EE3-FBB8-4337-48D9-B9DC3E9909AA}"/>
              </a:ext>
            </a:extLst>
          </p:cNvPr>
          <p:cNvSpPr txBox="1"/>
          <p:nvPr/>
        </p:nvSpPr>
        <p:spPr>
          <a:xfrm>
            <a:off x="4597400" y="4597400"/>
            <a:ext cx="69088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Infraestructura</a:t>
            </a:r>
          </a:p>
        </p:txBody>
      </p:sp>
      <p:sp>
        <p:nvSpPr>
          <p:cNvPr id="18" name="CuadroTexto 17">
            <a:extLst>
              <a:ext uri="{FF2B5EF4-FFF2-40B4-BE49-F238E27FC236}">
                <a16:creationId xmlns:a16="http://schemas.microsoft.com/office/drawing/2014/main" id="{BEC5882A-3540-2213-D929-535F8BC48BFA}"/>
              </a:ext>
            </a:extLst>
          </p:cNvPr>
          <p:cNvSpPr txBox="1"/>
          <p:nvPr/>
        </p:nvSpPr>
        <p:spPr>
          <a:xfrm>
            <a:off x="4597400" y="5054600"/>
            <a:ext cx="69088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 y adaptadores externos</a:t>
            </a:r>
          </a:p>
        </p:txBody>
      </p:sp>
      <p:cxnSp>
        <p:nvCxnSpPr>
          <p:cNvPr id="19" name="Conector recto 18">
            <a:extLst>
              <a:ext uri="{FF2B5EF4-FFF2-40B4-BE49-F238E27FC236}">
                <a16:creationId xmlns:a16="http://schemas.microsoft.com/office/drawing/2014/main" id="{C9CF4F17-AE8C-99B0-10FB-F57CDD11076F}"/>
              </a:ext>
            </a:extLst>
          </p:cNvPr>
          <p:cNvCxnSpPr/>
          <p:nvPr/>
        </p:nvCxnSpPr>
        <p:spPr>
          <a:xfrm flipV="1">
            <a:off x="615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C14495A4-3913-068C-C5C9-0B968A83394F}"/>
              </a:ext>
            </a:extLst>
          </p:cNvPr>
          <p:cNvSpPr txBox="1"/>
          <p:nvPr/>
        </p:nvSpPr>
        <p:spPr>
          <a:xfrm>
            <a:off x="4381500" y="3695700"/>
            <a:ext cx="2540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puertos</a:t>
            </a:r>
          </a:p>
        </p:txBody>
      </p:sp>
      <p:cxnSp>
        <p:nvCxnSpPr>
          <p:cNvPr id="21" name="Conector recto 20">
            <a:extLst>
              <a:ext uri="{FF2B5EF4-FFF2-40B4-BE49-F238E27FC236}">
                <a16:creationId xmlns:a16="http://schemas.microsoft.com/office/drawing/2014/main" id="{8BB5EB90-3F15-6CD2-1876-7F2A0C51217E}"/>
              </a:ext>
            </a:extLst>
          </p:cNvPr>
          <p:cNvCxnSpPr/>
          <p:nvPr/>
        </p:nvCxnSpPr>
        <p:spPr>
          <a:xfrm flipV="1">
            <a:off x="996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7046E290-09FA-1110-84C0-7D5D28489703}"/>
              </a:ext>
            </a:extLst>
          </p:cNvPr>
          <p:cNvSpPr txBox="1"/>
          <p:nvPr/>
        </p:nvSpPr>
        <p:spPr>
          <a:xfrm>
            <a:off x="8801100" y="3695700"/>
            <a:ext cx="28575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repositorios</a:t>
            </a:r>
          </a:p>
        </p:txBody>
      </p:sp>
      <p:sp>
        <p:nvSpPr>
          <p:cNvPr id="23" name="CuadroTexto 22">
            <a:extLst>
              <a:ext uri="{FF2B5EF4-FFF2-40B4-BE49-F238E27FC236}">
                <a16:creationId xmlns:a16="http://schemas.microsoft.com/office/drawing/2014/main" id="{F011C24A-3FB6-5492-DBFE-BAA8508D1584}"/>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Las reglas de negocio permanecen independientes de NestJS y PostgreSQL</a:t>
            </a:r>
          </a:p>
        </p:txBody>
      </p:sp>
    </p:spTree>
    <p:extLst>
      <p:ext uri="{BB962C8B-B14F-4D97-AF65-F5344CB8AC3E}">
        <p14:creationId xmlns:p14="http://schemas.microsoft.com/office/powerpoint/2010/main" val="3574040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02B40D8-EF78-B3E0-67B7-51CCC632A96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Diseño de datos del flujo principal</a:t>
            </a:r>
          </a:p>
        </p:txBody>
      </p:sp>
      <p:sp>
        <p:nvSpPr>
          <p:cNvPr id="3" name="CuadroTexto 2">
            <a:extLst>
              <a:ext uri="{FF2B5EF4-FFF2-40B4-BE49-F238E27FC236}">
                <a16:creationId xmlns:a16="http://schemas.microsoft.com/office/drawing/2014/main" id="{205252EE-8058-C56A-4AB4-8D47CF2D93BE}"/>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103DF85-F7CF-49B4-CD31-9421F2C71987}"/>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15</a:t>
            </a:r>
          </a:p>
        </p:txBody>
      </p:sp>
      <p:graphicFrame>
        <p:nvGraphicFramePr>
          <p:cNvPr id="5" name="Tabla 4">
            <a:extLst>
              <a:ext uri="{FF2B5EF4-FFF2-40B4-BE49-F238E27FC236}">
                <a16:creationId xmlns:a16="http://schemas.microsoft.com/office/drawing/2014/main" id="{6FFC673D-2269-0B51-D852-80D3B9C4EE6D}"/>
              </a:ext>
            </a:extLst>
          </p:cNvPr>
          <p:cNvGraphicFramePr>
            <a:graphicFrameLocks noGrp="1"/>
          </p:cNvGraphicFramePr>
          <p:nvPr>
            <p:extLst>
              <p:ext uri="{D42A27DB-BD31-4B8C-83A1-F6EECF244321}">
                <p14:modId xmlns:p14="http://schemas.microsoft.com/office/powerpoint/2010/main" val="1029563460"/>
              </p:ext>
            </p:extLst>
          </p:nvPr>
        </p:nvGraphicFramePr>
        <p:xfrm>
          <a:off x="533400" y="1435100"/>
          <a:ext cx="11125200" cy="43561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1118860863"/>
                    </a:ext>
                  </a:extLst>
                </a:gridCol>
                <a:gridCol w="7442200">
                  <a:extLst>
                    <a:ext uri="{9D8B030D-6E8A-4147-A177-3AD203B41FA5}">
                      <a16:colId xmlns:a16="http://schemas.microsoft.com/office/drawing/2014/main" val="3135866223"/>
                    </a:ext>
                  </a:extLst>
                </a:gridCol>
              </a:tblGrid>
              <a:tr h="726017">
                <a:tc>
                  <a:txBody>
                    <a:bodyPr/>
                    <a:lstStyle/>
                    <a:p>
                      <a:r>
                        <a:rPr lang="es-ES" sz="2000" b="1">
                          <a:solidFill>
                            <a:srgbClr val="FFFFFF"/>
                          </a:solidFill>
                          <a:latin typeface="Aptos" panose="020B0004020202020204" pitchFamily="34" charset="0"/>
                        </a:rPr>
                        <a:t>Grupo de datos</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Relaciones principales</a:t>
                      </a:r>
                    </a:p>
                  </a:txBody>
                  <a:tcPr marL="152400" marR="127000" marT="127000" marB="101600">
                    <a:solidFill>
                      <a:srgbClr val="102D4E"/>
                    </a:solidFill>
                  </a:tcPr>
                </a:tc>
                <a:extLst>
                  <a:ext uri="{0D108BD9-81ED-4DB2-BD59-A6C34878D82A}">
                    <a16:rowId xmlns:a16="http://schemas.microsoft.com/office/drawing/2014/main" val="1328499682"/>
                  </a:ext>
                </a:extLst>
              </a:tr>
              <a:tr h="726017">
                <a:tc>
                  <a:txBody>
                    <a:bodyPr/>
                    <a:lstStyle/>
                    <a:p>
                      <a:r>
                        <a:rPr lang="es-ES" sz="2000" b="0">
                          <a:solidFill>
                            <a:srgbClr val="203447"/>
                          </a:solidFill>
                          <a:latin typeface="Aptos" panose="020B0004020202020204" pitchFamily="34" charset="0"/>
                        </a:rPr>
                        <a:t>Empresas y usuarios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Una empresa agrupa usuarios con roles y permisos.</a:t>
                      </a:r>
                    </a:p>
                  </a:txBody>
                  <a:tcPr marL="152400" marR="127000" marT="127000" marB="101600">
                    <a:solidFill>
                      <a:srgbClr val="EDF4FA"/>
                    </a:solidFill>
                  </a:tcPr>
                </a:tc>
                <a:extLst>
                  <a:ext uri="{0D108BD9-81ED-4DB2-BD59-A6C34878D82A}">
                    <a16:rowId xmlns:a16="http://schemas.microsoft.com/office/drawing/2014/main" val="4290545898"/>
                  </a:ext>
                </a:extLst>
              </a:tr>
              <a:tr h="726017">
                <a:tc>
                  <a:txBody>
                    <a:bodyPr/>
                    <a:lstStyle/>
                    <a:p>
                      <a:r>
                        <a:rPr lang="es-ES" sz="2000" b="0">
                          <a:solidFill>
                            <a:srgbClr val="203447"/>
                          </a:solidFill>
                          <a:latin typeface="Aptos" panose="020B0004020202020204" pitchFamily="34" charset="0"/>
                        </a:rPr>
                        <a:t>Proveedores y productos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proveedor publica varios productos y precios por volumen.</a:t>
                      </a:r>
                    </a:p>
                  </a:txBody>
                  <a:tcPr marL="152400" marR="127000" marT="127000" marB="101600">
                    <a:solidFill>
                      <a:srgbClr val="FFFFFF"/>
                    </a:solidFill>
                  </a:tcPr>
                </a:tc>
                <a:extLst>
                  <a:ext uri="{0D108BD9-81ED-4DB2-BD59-A6C34878D82A}">
                    <a16:rowId xmlns:a16="http://schemas.microsoft.com/office/drawing/2014/main" val="1868095329"/>
                  </a:ext>
                </a:extLst>
              </a:tr>
              <a:tr h="726017">
                <a:tc>
                  <a:txBody>
                    <a:bodyPr/>
                    <a:lstStyle/>
                    <a:p>
                      <a:r>
                        <a:rPr lang="es-ES" sz="2000" b="0">
                          <a:solidFill>
                            <a:srgbClr val="203447"/>
                          </a:solidFill>
                          <a:latin typeface="Aptos" panose="020B0004020202020204" pitchFamily="34" charset="0"/>
                        </a:rPr>
                        <a:t>Cotizaciones y respuestas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La oferta aceptada define condiciones y precios del pedido.</a:t>
                      </a:r>
                    </a:p>
                  </a:txBody>
                  <a:tcPr marL="152400" marR="127000" marT="127000" marB="101600">
                    <a:solidFill>
                      <a:srgbClr val="EDF4FA"/>
                    </a:solidFill>
                  </a:tcPr>
                </a:tc>
                <a:extLst>
                  <a:ext uri="{0D108BD9-81ED-4DB2-BD59-A6C34878D82A}">
                    <a16:rowId xmlns:a16="http://schemas.microsoft.com/office/drawing/2014/main" val="2762381611"/>
                  </a:ext>
                </a:extLst>
              </a:tr>
              <a:tr h="726017">
                <a:tc>
                  <a:txBody>
                    <a:bodyPr/>
                    <a:lstStyle/>
                    <a:p>
                      <a:r>
                        <a:rPr lang="es-ES" sz="2000" b="0">
                          <a:solidFill>
                            <a:srgbClr val="203447"/>
                          </a:solidFill>
                          <a:latin typeface="Aptos" panose="020B0004020202020204" pitchFamily="34" charset="0"/>
                        </a:rPr>
                        <a:t>Pedidos e ítems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pedido conserva sus productos, cantidades y precios.</a:t>
                      </a:r>
                    </a:p>
                  </a:txBody>
                  <a:tcPr marL="152400" marR="127000" marT="127000" marB="101600">
                    <a:solidFill>
                      <a:srgbClr val="FFFFFF"/>
                    </a:solidFill>
                  </a:tcPr>
                </a:tc>
                <a:extLst>
                  <a:ext uri="{0D108BD9-81ED-4DB2-BD59-A6C34878D82A}">
                    <a16:rowId xmlns:a16="http://schemas.microsoft.com/office/drawing/2014/main" val="2453432958"/>
                  </a:ext>
                </a:extLst>
              </a:tr>
              <a:tr h="726017">
                <a:tc>
                  <a:txBody>
                    <a:bodyPr/>
                    <a:lstStyle/>
                    <a:p>
                      <a:r>
                        <a:rPr lang="es-ES" sz="2000" b="0">
                          <a:solidFill>
                            <a:srgbClr val="203447"/>
                          </a:solidFill>
                          <a:latin typeface="Aptos" panose="020B0004020202020204" pitchFamily="34" charset="0"/>
                        </a:rPr>
                        <a:t>Reservas de stock</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Cada reserva relaciona un pedido con un producto.</a:t>
                      </a:r>
                    </a:p>
                  </a:txBody>
                  <a:tcPr marL="152400" marR="127000" marT="127000" marB="101600">
                    <a:solidFill>
                      <a:srgbClr val="EDF4FA"/>
                    </a:solidFill>
                  </a:tcPr>
                </a:tc>
                <a:extLst>
                  <a:ext uri="{0D108BD9-81ED-4DB2-BD59-A6C34878D82A}">
                    <a16:rowId xmlns:a16="http://schemas.microsoft.com/office/drawing/2014/main" val="1265409675"/>
                  </a:ext>
                </a:extLst>
              </a:tr>
            </a:tbl>
          </a:graphicData>
        </a:graphic>
      </p:graphicFrame>
      <p:sp>
        <p:nvSpPr>
          <p:cNvPr id="6" name="CuadroTexto 5">
            <a:extLst>
              <a:ext uri="{FF2B5EF4-FFF2-40B4-BE49-F238E27FC236}">
                <a16:creationId xmlns:a16="http://schemas.microsoft.com/office/drawing/2014/main" id="{4AF2DE02-2103-41F8-C7B0-989B6BFD2DEC}"/>
              </a:ext>
            </a:extLst>
          </p:cNvPr>
          <p:cNvSpPr txBox="1"/>
          <p:nvPr/>
        </p:nvSpPr>
        <p:spPr>
          <a:xfrm>
            <a:off x="533400" y="59944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PostgreSQL: relaciones, restricciones y transacciones para proteger la integridad</a:t>
            </a:r>
          </a:p>
        </p:txBody>
      </p:sp>
    </p:spTree>
    <p:extLst>
      <p:ext uri="{BB962C8B-B14F-4D97-AF65-F5344CB8AC3E}">
        <p14:creationId xmlns:p14="http://schemas.microsoft.com/office/powerpoint/2010/main" val="2812073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518E5D1-DA02-B505-88A6-600B98B7CC7D}"/>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Creación de pedido y reserva de stock</a:t>
            </a:r>
          </a:p>
        </p:txBody>
      </p:sp>
      <p:sp>
        <p:nvSpPr>
          <p:cNvPr id="3" name="CuadroTexto 2">
            <a:extLst>
              <a:ext uri="{FF2B5EF4-FFF2-40B4-BE49-F238E27FC236}">
                <a16:creationId xmlns:a16="http://schemas.microsoft.com/office/drawing/2014/main" id="{DE117513-43F8-58C0-9F63-64CEADE90EE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A231B882-26F6-BCFD-3717-81C3F663B56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16</a:t>
            </a:r>
          </a:p>
        </p:txBody>
      </p:sp>
      <p:graphicFrame>
        <p:nvGraphicFramePr>
          <p:cNvPr id="5" name="Tabla 4">
            <a:extLst>
              <a:ext uri="{FF2B5EF4-FFF2-40B4-BE49-F238E27FC236}">
                <a16:creationId xmlns:a16="http://schemas.microsoft.com/office/drawing/2014/main" id="{094D2CF8-23F1-12F5-FF31-6D79C587ACF9}"/>
              </a:ext>
            </a:extLst>
          </p:cNvPr>
          <p:cNvGraphicFramePr>
            <a:graphicFrameLocks noGrp="1"/>
          </p:cNvGraphicFramePr>
          <p:nvPr>
            <p:extLst>
              <p:ext uri="{D42A27DB-BD31-4B8C-83A1-F6EECF244321}">
                <p14:modId xmlns:p14="http://schemas.microsoft.com/office/powerpoint/2010/main" val="709983837"/>
              </p:ext>
            </p:extLst>
          </p:nvPr>
        </p:nvGraphicFramePr>
        <p:xfrm>
          <a:off x="533400" y="1498600"/>
          <a:ext cx="11125200" cy="361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2832704959"/>
                    </a:ext>
                  </a:extLst>
                </a:gridCol>
                <a:gridCol w="8013700">
                  <a:extLst>
                    <a:ext uri="{9D8B030D-6E8A-4147-A177-3AD203B41FA5}">
                      <a16:colId xmlns:a16="http://schemas.microsoft.com/office/drawing/2014/main" val="3325724715"/>
                    </a:ext>
                  </a:extLst>
                </a:gridCol>
              </a:tblGrid>
              <a:tr h="723900">
                <a:tc>
                  <a:txBody>
                    <a:bodyPr/>
                    <a:lstStyle/>
                    <a:p>
                      <a:r>
                        <a:rPr lang="es-ES" sz="2100" b="1">
                          <a:solidFill>
                            <a:srgbClr val="FFFFFF"/>
                          </a:solidFill>
                          <a:latin typeface="Aptos" panose="020B0004020202020204" pitchFamily="34" charset="0"/>
                        </a:rPr>
                        <a:t>Paso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Responsabilidad</a:t>
                      </a:r>
                    </a:p>
                  </a:txBody>
                  <a:tcPr marL="152400" marR="127000" marT="127000" marB="101600">
                    <a:solidFill>
                      <a:srgbClr val="102D4E"/>
                    </a:solidFill>
                  </a:tcPr>
                </a:tc>
                <a:extLst>
                  <a:ext uri="{0D108BD9-81ED-4DB2-BD59-A6C34878D82A}">
                    <a16:rowId xmlns:a16="http://schemas.microsoft.com/office/drawing/2014/main" val="1711041577"/>
                  </a:ext>
                </a:extLst>
              </a:tr>
              <a:tr h="723900">
                <a:tc>
                  <a:txBody>
                    <a:bodyPr/>
                    <a:lstStyle/>
                    <a:p>
                      <a:r>
                        <a:rPr lang="es-ES" sz="2100" b="0">
                          <a:solidFill>
                            <a:srgbClr val="203447"/>
                          </a:solidFill>
                          <a:latin typeface="Aptos" panose="020B0004020202020204" pitchFamily="34" charset="0"/>
                        </a:rPr>
                        <a:t>1. Autorizar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comprador y oferta aceptada vigente.</a:t>
                      </a:r>
                    </a:p>
                  </a:txBody>
                  <a:tcPr marL="152400" marR="127000" marT="127000" marB="101600">
                    <a:solidFill>
                      <a:srgbClr val="EDF4FA"/>
                    </a:solidFill>
                  </a:tcPr>
                </a:tc>
                <a:extLst>
                  <a:ext uri="{0D108BD9-81ED-4DB2-BD59-A6C34878D82A}">
                    <a16:rowId xmlns:a16="http://schemas.microsoft.com/office/drawing/2014/main" val="225074062"/>
                  </a:ext>
                </a:extLst>
              </a:tr>
              <a:tr h="723900">
                <a:tc>
                  <a:txBody>
                    <a:bodyPr/>
                    <a:lstStyle/>
                    <a:p>
                      <a:r>
                        <a:rPr lang="es-ES" sz="2100" b="0">
                          <a:solidFill>
                            <a:srgbClr val="203447"/>
                          </a:solidFill>
                          <a:latin typeface="Aptos" panose="020B0004020202020204" pitchFamily="34" charset="0"/>
                        </a:rPr>
                        <a:t>2. Iniciar transacción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Revalidar condiciones y bloquear los productos.</a:t>
                      </a:r>
                    </a:p>
                  </a:txBody>
                  <a:tcPr marL="152400" marR="127000" marT="127000" marB="101600">
                    <a:solidFill>
                      <a:srgbClr val="FFFFFF"/>
                    </a:solidFill>
                  </a:tcPr>
                </a:tc>
                <a:extLst>
                  <a:ext uri="{0D108BD9-81ED-4DB2-BD59-A6C34878D82A}">
                    <a16:rowId xmlns:a16="http://schemas.microsoft.com/office/drawing/2014/main" val="1636850812"/>
                  </a:ext>
                </a:extLst>
              </a:tr>
              <a:tr h="723900">
                <a:tc>
                  <a:txBody>
                    <a:bodyPr/>
                    <a:lstStyle/>
                    <a:p>
                      <a:r>
                        <a:rPr lang="es-ES" sz="2100" b="0">
                          <a:solidFill>
                            <a:srgbClr val="203447"/>
                          </a:solidFill>
                          <a:latin typeface="Aptos" panose="020B0004020202020204" pitchFamily="34" charset="0"/>
                        </a:rPr>
                        <a:t>3. Guardar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Crear pedido, ítems, reserva y descontar stock disponible.</a:t>
                      </a:r>
                    </a:p>
                  </a:txBody>
                  <a:tcPr marL="152400" marR="127000" marT="127000" marB="101600">
                    <a:solidFill>
                      <a:srgbClr val="EDF4FA"/>
                    </a:solidFill>
                  </a:tcPr>
                </a:tc>
                <a:extLst>
                  <a:ext uri="{0D108BD9-81ED-4DB2-BD59-A6C34878D82A}">
                    <a16:rowId xmlns:a16="http://schemas.microsoft.com/office/drawing/2014/main" val="2108385935"/>
                  </a:ext>
                </a:extLst>
              </a:tr>
              <a:tr h="723900">
                <a:tc>
                  <a:txBody>
                    <a:bodyPr/>
                    <a:lstStyle/>
                    <a:p>
                      <a:r>
                        <a:rPr lang="es-ES" sz="2100" b="0">
                          <a:solidFill>
                            <a:srgbClr val="203447"/>
                          </a:solidFill>
                          <a:latin typeface="Aptos" panose="020B0004020202020204" pitchFamily="34" charset="0"/>
                        </a:rPr>
                        <a:t>4. Confirmar o revertir</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COMMIT completo o ROLLBACK ante fallo.</a:t>
                      </a:r>
                    </a:p>
                  </a:txBody>
                  <a:tcPr marL="152400" marR="127000" marT="127000" marB="101600">
                    <a:solidFill>
                      <a:srgbClr val="FFFFFF"/>
                    </a:solidFill>
                  </a:tcPr>
                </a:tc>
                <a:extLst>
                  <a:ext uri="{0D108BD9-81ED-4DB2-BD59-A6C34878D82A}">
                    <a16:rowId xmlns:a16="http://schemas.microsoft.com/office/drawing/2014/main" val="3423972336"/>
                  </a:ext>
                </a:extLst>
              </a:tr>
            </a:tbl>
          </a:graphicData>
        </a:graphic>
      </p:graphicFrame>
      <p:sp>
        <p:nvSpPr>
          <p:cNvPr id="6" name="CuadroTexto 5">
            <a:extLst>
              <a:ext uri="{FF2B5EF4-FFF2-40B4-BE49-F238E27FC236}">
                <a16:creationId xmlns:a16="http://schemas.microsoft.com/office/drawing/2014/main" id="{47D12409-0FD9-33F8-CB5B-F258EA0D9FD0}"/>
              </a:ext>
            </a:extLst>
          </p:cNvPr>
          <p:cNvSpPr txBox="1"/>
          <p:nvPr/>
        </p:nvSpPr>
        <p:spPr>
          <a:xfrm>
            <a:off x="533400" y="55626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La llamada a la pasarela ocurre después de guardar el pedido</a:t>
            </a:r>
          </a:p>
        </p:txBody>
      </p:sp>
    </p:spTree>
    <p:extLst>
      <p:ext uri="{BB962C8B-B14F-4D97-AF65-F5344CB8AC3E}">
        <p14:creationId xmlns:p14="http://schemas.microsoft.com/office/powerpoint/2010/main" val="4090423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2E28F1F-297B-0DAF-03AB-65A1A3E739AC}"/>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Siguiente etapa: implementación</a:t>
            </a:r>
          </a:p>
        </p:txBody>
      </p:sp>
      <p:sp>
        <p:nvSpPr>
          <p:cNvPr id="3" name="CuadroTexto 2">
            <a:extLst>
              <a:ext uri="{FF2B5EF4-FFF2-40B4-BE49-F238E27FC236}">
                <a16:creationId xmlns:a16="http://schemas.microsoft.com/office/drawing/2014/main" id="{196FA081-DE75-39DA-D533-33866040862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05A7A4CF-B299-C835-2A79-C970C5E7D1C2}"/>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17</a:t>
            </a:r>
          </a:p>
        </p:txBody>
      </p:sp>
      <p:sp>
        <p:nvSpPr>
          <p:cNvPr id="5" name="CuadroTexto 4">
            <a:extLst>
              <a:ext uri="{FF2B5EF4-FFF2-40B4-BE49-F238E27FC236}">
                <a16:creationId xmlns:a16="http://schemas.microsoft.com/office/drawing/2014/main" id="{ED033893-B183-BFB4-F987-2F35061D3726}"/>
              </a:ext>
            </a:extLst>
          </p:cNvPr>
          <p:cNvSpPr txBox="1"/>
          <p:nvPr/>
        </p:nvSpPr>
        <p:spPr>
          <a:xfrm>
            <a:off x="533400" y="1473200"/>
            <a:ext cx="5334000" cy="430887"/>
          </a:xfrm>
          <a:prstGeom prst="rect">
            <a:avLst/>
          </a:prstGeom>
          <a:noFill/>
        </p:spPr>
        <p:txBody>
          <a:bodyPr vert="horz" wrap="square" lIns="0" tIns="0" rIns="0" bIns="0" rtlCol="0">
            <a:spAutoFit/>
          </a:bodyPr>
          <a:lstStyle/>
          <a:p>
            <a:r>
              <a:rPr lang="es-ES" sz="2800" b="1">
                <a:solidFill>
                  <a:srgbClr val="1269B0"/>
                </a:solidFill>
                <a:latin typeface="Aptos" panose="020B0004020202020204" pitchFamily="34" charset="0"/>
              </a:rPr>
              <a:t>Sprint 01</a:t>
            </a:r>
          </a:p>
        </p:txBody>
      </p:sp>
      <p:sp>
        <p:nvSpPr>
          <p:cNvPr id="6" name="CuadroTexto 5">
            <a:extLst>
              <a:ext uri="{FF2B5EF4-FFF2-40B4-BE49-F238E27FC236}">
                <a16:creationId xmlns:a16="http://schemas.microsoft.com/office/drawing/2014/main" id="{092E0409-2175-0B28-FD48-FCE3C2F8D44A}"/>
              </a:ext>
            </a:extLst>
          </p:cNvPr>
          <p:cNvSpPr txBox="1"/>
          <p:nvPr/>
        </p:nvSpPr>
        <p:spPr>
          <a:xfrm>
            <a:off x="533400" y="2286000"/>
            <a:ext cx="50800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Análisis y alcance propuesto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Arquitectura y diagramas C4</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Diseño de datos y módulos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Plan de medición de calidad</a:t>
            </a:r>
          </a:p>
        </p:txBody>
      </p:sp>
      <p:sp>
        <p:nvSpPr>
          <p:cNvPr id="7" name="CuadroTexto 6">
            <a:extLst>
              <a:ext uri="{FF2B5EF4-FFF2-40B4-BE49-F238E27FC236}">
                <a16:creationId xmlns:a16="http://schemas.microsoft.com/office/drawing/2014/main" id="{EC63A617-5237-F22C-9FFD-5B2B88AC3C2C}"/>
              </a:ext>
            </a:extLst>
          </p:cNvPr>
          <p:cNvSpPr txBox="1"/>
          <p:nvPr/>
        </p:nvSpPr>
        <p:spPr>
          <a:xfrm>
            <a:off x="6604000" y="1473200"/>
            <a:ext cx="5054600" cy="430887"/>
          </a:xfrm>
          <a:prstGeom prst="rect">
            <a:avLst/>
          </a:prstGeom>
          <a:noFill/>
        </p:spPr>
        <p:txBody>
          <a:bodyPr vert="horz" wrap="square" lIns="0" tIns="0" rIns="0" bIns="0" rtlCol="0">
            <a:spAutoFit/>
          </a:bodyPr>
          <a:lstStyle/>
          <a:p>
            <a:r>
              <a:rPr lang="es-ES" sz="2800" b="1">
                <a:solidFill>
                  <a:srgbClr val="0F776F"/>
                </a:solidFill>
                <a:latin typeface="Aptos" panose="020B0004020202020204" pitchFamily="34" charset="0"/>
              </a:rPr>
              <a:t>Sprint 02 y siguientes</a:t>
            </a:r>
          </a:p>
        </p:txBody>
      </p:sp>
      <p:sp>
        <p:nvSpPr>
          <p:cNvPr id="8" name="CuadroTexto 7">
            <a:extLst>
              <a:ext uri="{FF2B5EF4-FFF2-40B4-BE49-F238E27FC236}">
                <a16:creationId xmlns:a16="http://schemas.microsoft.com/office/drawing/2014/main" id="{AAFAD152-AC3C-64AB-C3F8-3C4D2D3FEA30}"/>
              </a:ext>
            </a:extLst>
          </p:cNvPr>
          <p:cNvSpPr txBox="1"/>
          <p:nvPr/>
        </p:nvSpPr>
        <p:spPr>
          <a:xfrm>
            <a:off x="6604000" y="2286000"/>
            <a:ext cx="50546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Validar el MVP e implementar el núcleo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Documentar la API con Swagger</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Desplegar el entorno de pruebas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Ejecutar y registrar mediciones</a:t>
            </a:r>
          </a:p>
        </p:txBody>
      </p:sp>
    </p:spTree>
    <p:extLst>
      <p:ext uri="{BB962C8B-B14F-4D97-AF65-F5344CB8AC3E}">
        <p14:creationId xmlns:p14="http://schemas.microsoft.com/office/powerpoint/2010/main" val="31459834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2616</Words>
  <Application>Microsoft Office PowerPoint</Application>
  <PresentationFormat>Personalizado</PresentationFormat>
  <Paragraphs>333</Paragraphs>
  <Slides>17</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2026-10-30T12:26:39Z</dcterms:created>
  <dcterms:modified xsi:type="dcterms:W3CDTF">2026-10-30T12:26:39Z</dcterms:modified>
</cp:coreProperties>
</file>