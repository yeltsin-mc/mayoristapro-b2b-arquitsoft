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sldSz cx="12192000" cy="6858000"/>
  <p:notesSz cx="6858000" cy="9144000"/>
  <p:defaultTex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ES"/>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B7C2C91-DA95-4840-BD97-6E65B75B5464}" type="datetimeFigureOut">
              <a:rPr lang="es-ES" smtClean="0"/>
              <a:t>30/10/2026</a:t>
            </a:fld>
            <a:endParaRPr lang="es-ES"/>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ES"/>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ES"/>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04B3648-14F6-4446-9653-6A6AC7706297}" type="slidenum">
              <a:rPr lang="es-ES" smtClean="0"/>
              <a:t>‹Nº›</a:t>
            </a:fld>
            <a:endParaRPr lang="es-ES"/>
          </a:p>
        </p:txBody>
      </p:sp>
    </p:spTree>
    <p:extLst>
      <p:ext uri="{BB962C8B-B14F-4D97-AF65-F5344CB8AC3E}">
        <p14:creationId xmlns:p14="http://schemas.microsoft.com/office/powerpoint/2010/main" val="83502170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a:t>Presentar el proyecto como una propuesta de plataforma mayorista para empresas en Ayacucho. Esta entrega corresponde al diseño del Sprint 01. Las funcionalidades y metas aún requieren implementación y validación.</a:t>
            </a:r>
          </a:p>
          <a:p>
            <a:endParaRPr lang="es-ES"/>
          </a:p>
          <a:p>
            <a:r>
              <a:rPr lang="es-ES"/>
              <a:t>Fuente: README.md</a:t>
            </a:r>
          </a:p>
          <a:p>
            <a:r>
              <a:rPr lang="es-ES"/>
              <a:t>Escudo: Universidad Nacional de San Cristóbal de Huamanga. Archivo original sin alteraciones, escalado proporcionalmente. Fuente: https://commons.wikimedia.org/wiki/File:Escudo_de_la_UNSCH.png . Licencia CC BY-SA 4.0: https://creativecommons.org/licenses/by-sa/4.0/ . Referencia institucional: https://enlinea.unsch.edu.pe/identidad/</a:t>
            </a:r>
          </a:p>
        </p:txBody>
      </p:sp>
      <p:sp>
        <p:nvSpPr>
          <p:cNvPr id="4" name="Marcador de número de diapositiva 3"/>
          <p:cNvSpPr>
            <a:spLocks noGrp="1"/>
          </p:cNvSpPr>
          <p:nvPr>
            <p:ph type="sldNum" sz="quarter" idx="5"/>
          </p:nvPr>
        </p:nvSpPr>
        <p:spPr/>
        <p:txBody>
          <a:bodyPr/>
          <a:lstStyle/>
          <a:p>
            <a:fld id="{F04B3648-14F6-4446-9653-6A6AC7706297}" type="slidenum">
              <a:rPr lang="es-ES" smtClean="0"/>
              <a:t>1</a:t>
            </a:fld>
            <a:endParaRPr lang="es-ES"/>
          </a:p>
        </p:txBody>
      </p:sp>
    </p:spTree>
    <p:extLst>
      <p:ext uri="{BB962C8B-B14F-4D97-AF65-F5344CB8AC3E}">
        <p14:creationId xmlns:p14="http://schemas.microsoft.com/office/powerpoint/2010/main" val="341000791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a:t>Explicar las necesidades que motivan la propuesta: encontrar proveedores y reunir precios, mínimos y condiciones para decidir una compra. Ejemplo: una librería necesita útiles de varios tipos y busca una oferta que pueda atender su pedido. Estos supuestos requieren validación con negocios locales. No presentar estadísticas de mercado que el proyecto no ha medido.</a:t>
            </a:r>
          </a:p>
          <a:p>
            <a:endParaRPr lang="es-ES"/>
          </a:p>
          <a:p>
            <a:r>
              <a:rPr lang="es-ES"/>
              <a:t>Fuente: README.md</a:t>
            </a:r>
          </a:p>
        </p:txBody>
      </p:sp>
      <p:sp>
        <p:nvSpPr>
          <p:cNvPr id="4" name="Marcador de número de diapositiva 3"/>
          <p:cNvSpPr>
            <a:spLocks noGrp="1"/>
          </p:cNvSpPr>
          <p:nvPr>
            <p:ph type="sldNum" sz="quarter" idx="5"/>
          </p:nvPr>
        </p:nvSpPr>
        <p:spPr/>
        <p:txBody>
          <a:bodyPr/>
          <a:lstStyle/>
          <a:p>
            <a:fld id="{F04B3648-14F6-4446-9653-6A6AC7706297}" type="slidenum">
              <a:rPr lang="es-ES" smtClean="0"/>
              <a:t>2</a:t>
            </a:fld>
            <a:endParaRPr lang="es-ES"/>
          </a:p>
        </p:txBody>
      </p:sp>
    </p:spTree>
    <p:extLst>
      <p:ext uri="{BB962C8B-B14F-4D97-AF65-F5344CB8AC3E}">
        <p14:creationId xmlns:p14="http://schemas.microsoft.com/office/powerpoint/2010/main" val="141330924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a:t>Describir una plataforma web entre empresas. El comprador reúne su solicitud y acepta condiciones; el proveedor responde y atiende el pedido. El sistema conserva los precios acordados y reserva existencias al crear el pedido. La plataforma no ofrece transporte propio ni custodia fondos.</a:t>
            </a:r>
          </a:p>
          <a:p>
            <a:endParaRPr lang="es-ES"/>
          </a:p>
          <a:p>
            <a:r>
              <a:rPr lang="es-ES"/>
              <a:t>Fuente: README.md</a:t>
            </a:r>
          </a:p>
        </p:txBody>
      </p:sp>
      <p:sp>
        <p:nvSpPr>
          <p:cNvPr id="4" name="Marcador de número de diapositiva 3"/>
          <p:cNvSpPr>
            <a:spLocks noGrp="1"/>
          </p:cNvSpPr>
          <p:nvPr>
            <p:ph type="sldNum" sz="quarter" idx="5"/>
          </p:nvPr>
        </p:nvSpPr>
        <p:spPr/>
        <p:txBody>
          <a:bodyPr/>
          <a:lstStyle/>
          <a:p>
            <a:fld id="{F04B3648-14F6-4446-9653-6A6AC7706297}" type="slidenum">
              <a:rPr lang="es-ES" smtClean="0"/>
              <a:t>3</a:t>
            </a:fld>
            <a:endParaRPr lang="es-ES"/>
          </a:p>
        </p:txBody>
      </p:sp>
    </p:spTree>
    <p:extLst>
      <p:ext uri="{BB962C8B-B14F-4D97-AF65-F5344CB8AC3E}">
        <p14:creationId xmlns:p14="http://schemas.microsoft.com/office/powerpoint/2010/main" val="189415897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a:t>Distinguir personas de sistemas externos. El proveedor es una empresa que puede tener varios usuarios autorizados. Comprador y proveedor comparten acceso a su pedido, pero no a información privada de otras empresas. El administrador verifica y supervisa.</a:t>
            </a:r>
          </a:p>
          <a:p>
            <a:endParaRPr lang="es-ES"/>
          </a:p>
          <a:p>
            <a:r>
              <a:rPr lang="es-ES"/>
              <a:t>Fuente: docs/01-analisis-de-sistema/01-actores.md</a:t>
            </a:r>
          </a:p>
        </p:txBody>
      </p:sp>
      <p:sp>
        <p:nvSpPr>
          <p:cNvPr id="4" name="Marcador de número de diapositiva 3"/>
          <p:cNvSpPr>
            <a:spLocks noGrp="1"/>
          </p:cNvSpPr>
          <p:nvPr>
            <p:ph type="sldNum" sz="quarter" idx="5"/>
          </p:nvPr>
        </p:nvSpPr>
        <p:spPr/>
        <p:txBody>
          <a:bodyPr/>
          <a:lstStyle/>
          <a:p>
            <a:fld id="{F04B3648-14F6-4446-9653-6A6AC7706297}" type="slidenum">
              <a:rPr lang="es-ES" smtClean="0"/>
              <a:t>4</a:t>
            </a:fld>
            <a:endParaRPr lang="es-ES"/>
          </a:p>
        </p:txBody>
      </p:sp>
    </p:spTree>
    <p:extLst>
      <p:ext uri="{BB962C8B-B14F-4D97-AF65-F5344CB8AC3E}">
        <p14:creationId xmlns:p14="http://schemas.microsoft.com/office/powerpoint/2010/main" val="212600746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a:t>Las historias expresan la necesidad desde el punto de vista del usuario. Leer actor, acción y beneficio. Se presenta una selección del recorrido principal y se conservan los identificadores del documento. La prioridad alta no implica que ya esté implementada la funcionalidad.</a:t>
            </a:r>
          </a:p>
          <a:p>
            <a:endParaRPr lang="es-ES"/>
          </a:p>
          <a:p>
            <a:r>
              <a:rPr lang="es-ES"/>
              <a:t>Fuente: docs/01-analisis-de-sistema/02-historias-del-usuario.md</a:t>
            </a:r>
          </a:p>
        </p:txBody>
      </p:sp>
      <p:sp>
        <p:nvSpPr>
          <p:cNvPr id="4" name="Marcador de número de diapositiva 3"/>
          <p:cNvSpPr>
            <a:spLocks noGrp="1"/>
          </p:cNvSpPr>
          <p:nvPr>
            <p:ph type="sldNum" sz="quarter" idx="5"/>
          </p:nvPr>
        </p:nvSpPr>
        <p:spPr/>
        <p:txBody>
          <a:bodyPr/>
          <a:lstStyle/>
          <a:p>
            <a:fld id="{F04B3648-14F6-4446-9653-6A6AC7706297}" type="slidenum">
              <a:rPr lang="es-ES" smtClean="0"/>
              <a:t>5</a:t>
            </a:fld>
            <a:endParaRPr lang="es-ES"/>
          </a:p>
        </p:txBody>
      </p:sp>
    </p:spTree>
    <p:extLst>
      <p:ext uri="{BB962C8B-B14F-4D97-AF65-F5344CB8AC3E}">
        <p14:creationId xmlns:p14="http://schemas.microsoft.com/office/powerpoint/2010/main" val="229675880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a:t>El proveedor publica su oferta y responde solicitudes. El administrador verifica proveedores antes de que operen. Se conservan las historias del alcance general. Las condiciones exactas y los criterios de aceptación se encuentran en la documentación del repositorio.</a:t>
            </a:r>
          </a:p>
          <a:p>
            <a:endParaRPr lang="es-ES"/>
          </a:p>
          <a:p>
            <a:r>
              <a:rPr lang="es-ES"/>
              <a:t>Fuente: docs/01-analisis-de-sistema/02-historias-del-usuario.md</a:t>
            </a:r>
          </a:p>
        </p:txBody>
      </p:sp>
      <p:sp>
        <p:nvSpPr>
          <p:cNvPr id="4" name="Marcador de número de diapositiva 3"/>
          <p:cNvSpPr>
            <a:spLocks noGrp="1"/>
          </p:cNvSpPr>
          <p:nvPr>
            <p:ph type="sldNum" sz="quarter" idx="5"/>
          </p:nvPr>
        </p:nvSpPr>
        <p:spPr/>
        <p:txBody>
          <a:bodyPr/>
          <a:lstStyle/>
          <a:p>
            <a:fld id="{F04B3648-14F6-4446-9653-6A6AC7706297}" type="slidenum">
              <a:rPr lang="es-ES" smtClean="0"/>
              <a:t>6</a:t>
            </a:fld>
            <a:endParaRPr lang="es-ES"/>
          </a:p>
        </p:txBody>
      </p:sp>
    </p:spTree>
    <p:extLst>
      <p:ext uri="{BB962C8B-B14F-4D97-AF65-F5344CB8AC3E}">
        <p14:creationId xmlns:p14="http://schemas.microsoft.com/office/powerpoint/2010/main" val="152755527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a:t>Los requisitos describen el comportamiento esperado del sistema. Esta tabla resume el contenido, conservando los identificadores originales. RF-13 y RF-14 concretan la solicitud y respuesta de cotización. RF-18 y RF-19 conectan la oferta aceptada con el pedido y la validación de stock. Presentar las metas de rendimiento aparte, como atributos de calidad.</a:t>
            </a:r>
          </a:p>
          <a:p>
            <a:endParaRPr lang="es-ES"/>
          </a:p>
          <a:p>
            <a:r>
              <a:rPr lang="es-ES"/>
              <a:t>Fuente: docs/01-analisis-de-sistema/03-requisitos-funcionales.md</a:t>
            </a:r>
          </a:p>
        </p:txBody>
      </p:sp>
      <p:sp>
        <p:nvSpPr>
          <p:cNvPr id="4" name="Marcador de número de diapositiva 3"/>
          <p:cNvSpPr>
            <a:spLocks noGrp="1"/>
          </p:cNvSpPr>
          <p:nvPr>
            <p:ph type="sldNum" sz="quarter" idx="5"/>
          </p:nvPr>
        </p:nvSpPr>
        <p:spPr/>
        <p:txBody>
          <a:bodyPr/>
          <a:lstStyle/>
          <a:p>
            <a:fld id="{F04B3648-14F6-4446-9653-6A6AC7706297}" type="slidenum">
              <a:rPr lang="es-ES" smtClean="0"/>
              <a:t>7</a:t>
            </a:fld>
            <a:endParaRPr lang="es-ES"/>
          </a:p>
        </p:txBody>
      </p:sp>
    </p:spTree>
    <p:extLst>
      <p:ext uri="{BB962C8B-B14F-4D97-AF65-F5344CB8AC3E}">
        <p14:creationId xmlns:p14="http://schemas.microsoft.com/office/powerpoint/2010/main" val="405659200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a:t>Distinguir alcance general y primera implementación. La autenticación y los permisos pertenecen al núcleo propuesto. Los requisitos de pago, facturación e IA permanecen en la visión documentada, pero su inclusión en el MVP debe validarse con la docente. El registro manual de un pago no cumple por sí solo el requisito de integración con una pasarela.</a:t>
            </a:r>
          </a:p>
          <a:p>
            <a:endParaRPr lang="es-ES"/>
          </a:p>
          <a:p>
            <a:r>
              <a:rPr lang="es-ES"/>
              <a:t>Fuente: docs/01-analisis-de-sistema/03-requisitos-funcionales.md; README.md</a:t>
            </a:r>
          </a:p>
        </p:txBody>
      </p:sp>
      <p:sp>
        <p:nvSpPr>
          <p:cNvPr id="4" name="Marcador de número de diapositiva 3"/>
          <p:cNvSpPr>
            <a:spLocks noGrp="1"/>
          </p:cNvSpPr>
          <p:nvPr>
            <p:ph type="sldNum" sz="quarter" idx="5"/>
          </p:nvPr>
        </p:nvSpPr>
        <p:spPr/>
        <p:txBody>
          <a:bodyPr/>
          <a:lstStyle/>
          <a:p>
            <a:fld id="{F04B3648-14F6-4446-9653-6A6AC7706297}" type="slidenum">
              <a:rPr lang="es-ES" smtClean="0"/>
              <a:t>8</a:t>
            </a:fld>
            <a:endParaRPr lang="es-ES"/>
          </a:p>
        </p:txBody>
      </p:sp>
    </p:spTree>
    <p:extLst>
      <p:ext uri="{BB962C8B-B14F-4D97-AF65-F5344CB8AC3E}">
        <p14:creationId xmlns:p14="http://schemas.microsoft.com/office/powerpoint/2010/main" val="153358327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a:t>MVP significa producto mínimo viable. El núcleo propuesto conserva el proceso de compra y reduce integraciones iniciales. La modalidad de pagos y la inclusión de IA deben validarse con la docente según la rúbrica. La primera versión puede abarcar varios sprints. No prometer fecha o costo sin estimar horas y recursos.</a:t>
            </a:r>
          </a:p>
          <a:p>
            <a:endParaRPr lang="es-ES"/>
          </a:p>
          <a:p>
            <a:r>
              <a:rPr lang="es-ES"/>
              <a:t>Fuente: README.md</a:t>
            </a:r>
          </a:p>
        </p:txBody>
      </p:sp>
      <p:sp>
        <p:nvSpPr>
          <p:cNvPr id="4" name="Marcador de número de diapositiva 3"/>
          <p:cNvSpPr>
            <a:spLocks noGrp="1"/>
          </p:cNvSpPr>
          <p:nvPr>
            <p:ph type="sldNum" sz="quarter" idx="5"/>
          </p:nvPr>
        </p:nvSpPr>
        <p:spPr/>
        <p:txBody>
          <a:bodyPr/>
          <a:lstStyle/>
          <a:p>
            <a:fld id="{F04B3648-14F6-4446-9653-6A6AC7706297}" type="slidenum">
              <a:rPr lang="es-ES" smtClean="0"/>
              <a:t>9</a:t>
            </a:fld>
            <a:endParaRPr lang="es-ES"/>
          </a:p>
        </p:txBody>
      </p:sp>
    </p:spTree>
    <p:extLst>
      <p:ext uri="{BB962C8B-B14F-4D97-AF65-F5344CB8AC3E}">
        <p14:creationId xmlns:p14="http://schemas.microsoft.com/office/powerpoint/2010/main" val="240735520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a:t>Todas las cifras son metas propuestas, no resultados. p95 significa que al menos 95% de solicitudes medidas cumple el límite. Los dos mil usuarios son usuarios virtuales activos con pausas, no dos mil solicitudes por segundo. La disponibilidad requiere observación mensual. Para seguridad, la aprobación se limita a la matriz de casos ejecutada.</a:t>
            </a:r>
          </a:p>
          <a:p>
            <a:endParaRPr lang="es-ES"/>
          </a:p>
          <a:p>
            <a:r>
              <a:rPr lang="es-ES"/>
              <a:t>Fuente: docs/01-analisis-de-sistema/04-atributos-de-calidad.md; docs/01-analisis-de-sistema/08-escenarios-atributos-calidad.md</a:t>
            </a:r>
          </a:p>
        </p:txBody>
      </p:sp>
      <p:sp>
        <p:nvSpPr>
          <p:cNvPr id="4" name="Marcador de número de diapositiva 3"/>
          <p:cNvSpPr>
            <a:spLocks noGrp="1"/>
          </p:cNvSpPr>
          <p:nvPr>
            <p:ph type="sldNum" sz="quarter" idx="5"/>
          </p:nvPr>
        </p:nvSpPr>
        <p:spPr/>
        <p:txBody>
          <a:bodyPr/>
          <a:lstStyle/>
          <a:p>
            <a:fld id="{F04B3648-14F6-4446-9653-6A6AC7706297}" type="slidenum">
              <a:rPr lang="es-ES" smtClean="0"/>
              <a:t>10</a:t>
            </a:fld>
            <a:endParaRPr lang="es-ES"/>
          </a:p>
        </p:txBody>
      </p:sp>
    </p:spTree>
    <p:extLst>
      <p:ext uri="{BB962C8B-B14F-4D97-AF65-F5344CB8AC3E}">
        <p14:creationId xmlns:p14="http://schemas.microsoft.com/office/powerpoint/2010/main" val="329446261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a:t>Describir el procedimiento y las herramientas. k6 se ejecuta separado del backend. El perfil propone mesetas de cinco minutos en 500, mil y dos mil usuarios, con subidas de dos minutos y pausas de dos segundos. Se evalúa por endpoint y meseta, separando calentamiento. CloudWatch correlaciona recursos y latencia. La prueba de stock usa quinientos compradores distintos, una creación por comprador y cien unidades iniciales. Las respuestas de negocio esperadas se contabilizan aparte de los errores técnicos. Disponibilidad se observa un mes. Guardar versión, configuración, scripts, métricas y consultas. Los casos de desarrollo comienzan antes del despliegue.</a:t>
            </a:r>
          </a:p>
          <a:p>
            <a:endParaRPr lang="es-ES"/>
          </a:p>
          <a:p>
            <a:r>
              <a:rPr lang="es-ES"/>
              <a:t>Fuente: docs/01-analisis-de-sistema/09-plan-de-medicion-calidad.md</a:t>
            </a:r>
          </a:p>
        </p:txBody>
      </p:sp>
      <p:sp>
        <p:nvSpPr>
          <p:cNvPr id="4" name="Marcador de número de diapositiva 3"/>
          <p:cNvSpPr>
            <a:spLocks noGrp="1"/>
          </p:cNvSpPr>
          <p:nvPr>
            <p:ph type="sldNum" sz="quarter" idx="5"/>
          </p:nvPr>
        </p:nvSpPr>
        <p:spPr/>
        <p:txBody>
          <a:bodyPr/>
          <a:lstStyle/>
          <a:p>
            <a:fld id="{F04B3648-14F6-4446-9653-6A6AC7706297}" type="slidenum">
              <a:rPr lang="es-ES" smtClean="0"/>
              <a:t>11</a:t>
            </a:fld>
            <a:endParaRPr lang="es-ES"/>
          </a:p>
        </p:txBody>
      </p:sp>
    </p:spTree>
    <p:extLst>
      <p:ext uri="{BB962C8B-B14F-4D97-AF65-F5344CB8AC3E}">
        <p14:creationId xmlns:p14="http://schemas.microsoft.com/office/powerpoint/2010/main" val="240871448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a:t>Un driver es una necesidad que condiciona el diseño. Explicar la relación entre necesidad y decisión técnica. El stock exige transacciones y control de concurrencia. Los permisos requieren autorización por empresa y participación. La mantenibilidad orienta modularidad y capas. El presupuesto limitado exige priorizar el núcleo y medir antes de añadir recursos.</a:t>
            </a:r>
          </a:p>
          <a:p>
            <a:endParaRPr lang="es-ES"/>
          </a:p>
          <a:p>
            <a:r>
              <a:rPr lang="es-ES"/>
              <a:t>Fuente: docs/01-analisis-de-sistema/06-driver-arquitectonicos.md</a:t>
            </a:r>
          </a:p>
        </p:txBody>
      </p:sp>
      <p:sp>
        <p:nvSpPr>
          <p:cNvPr id="4" name="Marcador de número de diapositiva 3"/>
          <p:cNvSpPr>
            <a:spLocks noGrp="1"/>
          </p:cNvSpPr>
          <p:nvPr>
            <p:ph type="sldNum" sz="quarter" idx="5"/>
          </p:nvPr>
        </p:nvSpPr>
        <p:spPr/>
        <p:txBody>
          <a:bodyPr/>
          <a:lstStyle/>
          <a:p>
            <a:fld id="{F04B3648-14F6-4446-9653-6A6AC7706297}" type="slidenum">
              <a:rPr lang="es-ES" smtClean="0"/>
              <a:t>12</a:t>
            </a:fld>
            <a:endParaRPr lang="es-ES"/>
          </a:p>
        </p:txBody>
      </p:sp>
    </p:spTree>
    <p:extLst>
      <p:ext uri="{BB962C8B-B14F-4D97-AF65-F5344CB8AC3E}">
        <p14:creationId xmlns:p14="http://schemas.microsoft.com/office/powerpoint/2010/main" val="317160139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a:t>La diapositiva distingue decisiones de diseño de software ya implementado. Angular, TypeScript, NestJS, Node.js y PostgreSQL constituyen la base propuesta. GitHub aloja la documentación y el control de versiones. Redis, Python y FastAPI se incorporarán según las necesidades de caché y recomendación del alcance validado. AWS es la plataforma de despliegue prevista: EC2 para procesos, RDS para PostgreSQL, S3 para archivos y CloudWatch para monitoreo. SQS y workers se incorporarán cuando existan tareas asíncronas que lo justifiquen. Logos: Devicon, https://github.com/devicons/devicon , licencia MIT. Archivos SVG originales sin recolorear. Las marcas pertenecen a sus respectivos titulares.</a:t>
            </a:r>
          </a:p>
          <a:p>
            <a:endParaRPr lang="es-ES"/>
          </a:p>
          <a:p>
            <a:r>
              <a:rPr lang="es-ES"/>
              <a:t>Fuente: README.md; docs/02-arquitectura-software/arquitectura-inicial.md; https://github.com/devicons/devicon</a:t>
            </a:r>
          </a:p>
        </p:txBody>
      </p:sp>
      <p:sp>
        <p:nvSpPr>
          <p:cNvPr id="4" name="Marcador de número de diapositiva 3"/>
          <p:cNvSpPr>
            <a:spLocks noGrp="1"/>
          </p:cNvSpPr>
          <p:nvPr>
            <p:ph type="sldNum" sz="quarter" idx="5"/>
          </p:nvPr>
        </p:nvSpPr>
        <p:spPr/>
        <p:txBody>
          <a:bodyPr/>
          <a:lstStyle/>
          <a:p>
            <a:fld id="{F04B3648-14F6-4446-9653-6A6AC7706297}" type="slidenum">
              <a:rPr lang="es-ES" smtClean="0"/>
              <a:t>13</a:t>
            </a:fld>
            <a:endParaRPr lang="es-ES"/>
          </a:p>
        </p:txBody>
      </p:sp>
    </p:spTree>
    <p:extLst>
      <p:ext uri="{BB962C8B-B14F-4D97-AF65-F5344CB8AC3E}">
        <p14:creationId xmlns:p14="http://schemas.microsoft.com/office/powerpoint/2010/main" val="220197580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a:t>Explicar que las decisiones corresponden a perspectivas diferentes y se combinan. Cliente-servidor separa navegador y API. El monolito modular reúne los módulos comerciales en un backend desplegable. Clean Architecture separa reglas y tecnología dentro de cada módulo. El procesamiento asíncrono se propone para tareas posteriores si entran en el alcance. Se evita dividir todo el negocio en microservicios por el esfuerzo operativo adicional.</a:t>
            </a:r>
          </a:p>
          <a:p>
            <a:endParaRPr lang="es-ES"/>
          </a:p>
          <a:p>
            <a:r>
              <a:rPr lang="es-ES"/>
              <a:t>Fuente: docs/02-arquitectura-software/estilo-arquitectonico.md; docs/02-arquitectura-software/enfoque-arquitectonico.md</a:t>
            </a:r>
          </a:p>
        </p:txBody>
      </p:sp>
      <p:sp>
        <p:nvSpPr>
          <p:cNvPr id="4" name="Marcador de número de diapositiva 3"/>
          <p:cNvSpPr>
            <a:spLocks noGrp="1"/>
          </p:cNvSpPr>
          <p:nvPr>
            <p:ph type="sldNum" sz="quarter" idx="5"/>
          </p:nvPr>
        </p:nvSpPr>
        <p:spPr/>
        <p:txBody>
          <a:bodyPr/>
          <a:lstStyle/>
          <a:p>
            <a:fld id="{F04B3648-14F6-4446-9653-6A6AC7706297}" type="slidenum">
              <a:rPr lang="es-ES" smtClean="0"/>
              <a:t>14</a:t>
            </a:fld>
            <a:endParaRPr lang="es-ES"/>
          </a:p>
        </p:txBody>
      </p:sp>
    </p:spTree>
    <p:extLst>
      <p:ext uri="{BB962C8B-B14F-4D97-AF65-F5344CB8AC3E}">
        <p14:creationId xmlns:p14="http://schemas.microsoft.com/office/powerpoint/2010/main" val="289806860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a:t>Recorrer el ejemplo: el controlador recibe HTTP, el caso de uso autoriza y coordina, el dominio valida cantidades y estados y los adaptadores ejecutan persistencia e integraciones. Las flechas muestran dependencias del código: infraestructura implementa puertos internos. La composición de NestJS conecta las implementaciones. El dominio no importa el ORM ni SDK de pagos.</a:t>
            </a:r>
          </a:p>
          <a:p>
            <a:endParaRPr lang="es-ES"/>
          </a:p>
          <a:p>
            <a:r>
              <a:rPr lang="es-ES"/>
              <a:t>Fuente: docs/02-arquitectura-software/enfoque-arquitectonico.md</a:t>
            </a:r>
          </a:p>
        </p:txBody>
      </p:sp>
      <p:sp>
        <p:nvSpPr>
          <p:cNvPr id="4" name="Marcador de número de diapositiva 3"/>
          <p:cNvSpPr>
            <a:spLocks noGrp="1"/>
          </p:cNvSpPr>
          <p:nvPr>
            <p:ph type="sldNum" sz="quarter" idx="5"/>
          </p:nvPr>
        </p:nvSpPr>
        <p:spPr/>
        <p:txBody>
          <a:bodyPr/>
          <a:lstStyle/>
          <a:p>
            <a:fld id="{F04B3648-14F6-4446-9653-6A6AC7706297}" type="slidenum">
              <a:rPr lang="es-ES" smtClean="0"/>
              <a:t>15</a:t>
            </a:fld>
            <a:endParaRPr lang="es-ES"/>
          </a:p>
        </p:txBody>
      </p:sp>
    </p:spTree>
    <p:extLst>
      <p:ext uri="{BB962C8B-B14F-4D97-AF65-F5344CB8AC3E}">
        <p14:creationId xmlns:p14="http://schemas.microsoft.com/office/powerpoint/2010/main" val="404007763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a:t>Modelo resumido del flujo, con relaciones y entidades editables. Cada empresa agrupa usuarios. El proveedor publica productos. Una cotización tiene respuestas y una oferta aceptada origina como máximo un pedido. Los ítems conservan precios históricos y las reservas vinculan pedido y producto. El esquema completo incluye destinatarios, detalles de cotización, pagos y auditoría. Cada pedido corresponde a un comprador y un proveedor.</a:t>
            </a:r>
          </a:p>
          <a:p>
            <a:endParaRPr lang="es-ES"/>
          </a:p>
          <a:p>
            <a:r>
              <a:rPr lang="es-ES"/>
              <a:t>Fuente: docs/03-diseno-de-software/esquema-base-de-datos.md</a:t>
            </a:r>
          </a:p>
        </p:txBody>
      </p:sp>
      <p:sp>
        <p:nvSpPr>
          <p:cNvPr id="4" name="Marcador de número de diapositiva 3"/>
          <p:cNvSpPr>
            <a:spLocks noGrp="1"/>
          </p:cNvSpPr>
          <p:nvPr>
            <p:ph type="sldNum" sz="quarter" idx="5"/>
          </p:nvPr>
        </p:nvSpPr>
        <p:spPr/>
        <p:txBody>
          <a:bodyPr/>
          <a:lstStyle/>
          <a:p>
            <a:fld id="{F04B3648-14F6-4446-9653-6A6AC7706297}" type="slidenum">
              <a:rPr lang="es-ES" smtClean="0"/>
              <a:t>16</a:t>
            </a:fld>
            <a:endParaRPr lang="es-ES"/>
          </a:p>
        </p:txBody>
      </p:sp>
    </p:spTree>
    <p:extLst>
      <p:ext uri="{BB962C8B-B14F-4D97-AF65-F5344CB8AC3E}">
        <p14:creationId xmlns:p14="http://schemas.microsoft.com/office/powerpoint/2010/main" val="399712486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a:t>Explicar la regla crítica: pedido, ítems, reserva y descuento de stock disponible pertenecen a una misma transacción y conexión. Ante fallo se revierte todo. Bloquear productos de forma ordenada y validar condiciones evita sobreventa. El pago externo sucede después del commit y necesita referencias persistidas, idempotencia y reconciliación. Un timeout de pago conserva incertidumbre y no autoriza liberar automáticamente la reserva.</a:t>
            </a:r>
          </a:p>
          <a:p>
            <a:endParaRPr lang="es-ES"/>
          </a:p>
          <a:p>
            <a:r>
              <a:rPr lang="es-ES"/>
              <a:t>Fuente: docs/03-diseno-de-software/esquema-base-de-datos.md; docs/04-modelo-c4/Nivel4-Diagrama-de-Codigo.md</a:t>
            </a:r>
          </a:p>
        </p:txBody>
      </p:sp>
      <p:sp>
        <p:nvSpPr>
          <p:cNvPr id="4" name="Marcador de número de diapositiva 3"/>
          <p:cNvSpPr>
            <a:spLocks noGrp="1"/>
          </p:cNvSpPr>
          <p:nvPr>
            <p:ph type="sldNum" sz="quarter" idx="5"/>
          </p:nvPr>
        </p:nvSpPr>
        <p:spPr/>
        <p:txBody>
          <a:bodyPr/>
          <a:lstStyle/>
          <a:p>
            <a:fld id="{F04B3648-14F6-4446-9653-6A6AC7706297}" type="slidenum">
              <a:rPr lang="es-ES" smtClean="0"/>
              <a:t>17</a:t>
            </a:fld>
            <a:endParaRPr lang="es-ES"/>
          </a:p>
        </p:txBody>
      </p:sp>
    </p:spTree>
    <p:extLst>
      <p:ext uri="{BB962C8B-B14F-4D97-AF65-F5344CB8AC3E}">
        <p14:creationId xmlns:p14="http://schemas.microsoft.com/office/powerpoint/2010/main" val="368295673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a:t>Cerrar conectando la documentación con el trabajo posterior. El Sprint 01 entrega análisis, decisiones y diseño. A continuación se valida el alcance del MVP y se implementa el núcleo con sus pruebas. Swagger/OpenAPI pertenece al Sprint 02. La evaluación real de capacidad requiere desplegar el software y conservar evidencias. El presupuesto y las horas disponibles todavía requieren estimación. No prometer todas las integraciones de la visión general en una sola entrega.</a:t>
            </a:r>
          </a:p>
          <a:p>
            <a:endParaRPr lang="es-ES"/>
          </a:p>
          <a:p>
            <a:r>
              <a:rPr lang="es-ES"/>
              <a:t>Fuente: README.md</a:t>
            </a:r>
          </a:p>
        </p:txBody>
      </p:sp>
      <p:sp>
        <p:nvSpPr>
          <p:cNvPr id="4" name="Marcador de número de diapositiva 3"/>
          <p:cNvSpPr>
            <a:spLocks noGrp="1"/>
          </p:cNvSpPr>
          <p:nvPr>
            <p:ph type="sldNum" sz="quarter" idx="5"/>
          </p:nvPr>
        </p:nvSpPr>
        <p:spPr/>
        <p:txBody>
          <a:bodyPr/>
          <a:lstStyle/>
          <a:p>
            <a:fld id="{F04B3648-14F6-4446-9653-6A6AC7706297}" type="slidenum">
              <a:rPr lang="es-ES" smtClean="0"/>
              <a:t>18</a:t>
            </a:fld>
            <a:endParaRPr lang="es-ES"/>
          </a:p>
        </p:txBody>
      </p:sp>
    </p:spTree>
    <p:extLst>
      <p:ext uri="{BB962C8B-B14F-4D97-AF65-F5344CB8AC3E}">
        <p14:creationId xmlns:p14="http://schemas.microsoft.com/office/powerpoint/2010/main" val="104490173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C5E888F-9407-C50F-F00A-0DFE9C155538}"/>
              </a:ext>
            </a:extLst>
          </p:cNvPr>
          <p:cNvSpPr>
            <a:spLocks noGrp="1"/>
          </p:cNvSpPr>
          <p:nvPr>
            <p:ph type="ctrTitle"/>
          </p:nvPr>
        </p:nvSpPr>
        <p:spPr>
          <a:xfrm>
            <a:off x="1524000" y="1122363"/>
            <a:ext cx="9144000" cy="2387600"/>
          </a:xfrm>
        </p:spPr>
        <p:txBody>
          <a:bodyPr anchor="b"/>
          <a:lstStyle>
            <a:lvl1pPr algn="ctr">
              <a:defRPr sz="6000"/>
            </a:lvl1pPr>
          </a:lstStyle>
          <a:p>
            <a:r>
              <a:rPr lang="es-ES"/>
              <a:t>Haga clic para modificar el estilo de título del patrón</a:t>
            </a:r>
          </a:p>
        </p:txBody>
      </p:sp>
      <p:sp>
        <p:nvSpPr>
          <p:cNvPr id="3" name="Subtítulo 2">
            <a:extLst>
              <a:ext uri="{FF2B5EF4-FFF2-40B4-BE49-F238E27FC236}">
                <a16:creationId xmlns:a16="http://schemas.microsoft.com/office/drawing/2014/main" id="{EA296C53-73CA-ED76-DFF7-186B555ECD9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ES"/>
              <a:t>Haga clic para modificar el estilo de subtítulo del patrón</a:t>
            </a:r>
          </a:p>
        </p:txBody>
      </p:sp>
      <p:sp>
        <p:nvSpPr>
          <p:cNvPr id="4" name="Marcador de fecha 3">
            <a:extLst>
              <a:ext uri="{FF2B5EF4-FFF2-40B4-BE49-F238E27FC236}">
                <a16:creationId xmlns:a16="http://schemas.microsoft.com/office/drawing/2014/main" id="{720B5EBF-D1ED-85CF-0712-5F35991EA97F}"/>
              </a:ext>
            </a:extLst>
          </p:cNvPr>
          <p:cNvSpPr>
            <a:spLocks noGrp="1"/>
          </p:cNvSpPr>
          <p:nvPr>
            <p:ph type="dt" sz="half" idx="10"/>
          </p:nvPr>
        </p:nvSpPr>
        <p:spPr/>
        <p:txBody>
          <a:bodyPr/>
          <a:lstStyle/>
          <a:p>
            <a:fld id="{9AAEB562-A506-4EEF-8634-3CC2F0E40EC2}" type="datetimeFigureOut">
              <a:rPr lang="es-ES" smtClean="0"/>
              <a:t>30/10/2026</a:t>
            </a:fld>
            <a:endParaRPr lang="es-ES"/>
          </a:p>
        </p:txBody>
      </p:sp>
      <p:sp>
        <p:nvSpPr>
          <p:cNvPr id="5" name="Marcador de pie de página 4">
            <a:extLst>
              <a:ext uri="{FF2B5EF4-FFF2-40B4-BE49-F238E27FC236}">
                <a16:creationId xmlns:a16="http://schemas.microsoft.com/office/drawing/2014/main" id="{63B11A3D-17A7-1D4C-65FC-1118FD41AB05}"/>
              </a:ext>
            </a:extLst>
          </p:cNvPr>
          <p:cNvSpPr>
            <a:spLocks noGrp="1"/>
          </p:cNvSpPr>
          <p:nvPr>
            <p:ph type="ftr" sz="quarter" idx="11"/>
          </p:nvPr>
        </p:nvSpPr>
        <p:spPr/>
        <p:txBody>
          <a:bodyPr/>
          <a:lstStyle/>
          <a:p>
            <a:endParaRPr lang="es-ES"/>
          </a:p>
        </p:txBody>
      </p:sp>
      <p:sp>
        <p:nvSpPr>
          <p:cNvPr id="6" name="Marcador de número de diapositiva 5">
            <a:extLst>
              <a:ext uri="{FF2B5EF4-FFF2-40B4-BE49-F238E27FC236}">
                <a16:creationId xmlns:a16="http://schemas.microsoft.com/office/drawing/2014/main" id="{698F8CA7-A335-9EC4-CAB3-396DFE5F00B1}"/>
              </a:ext>
            </a:extLst>
          </p:cNvPr>
          <p:cNvSpPr>
            <a:spLocks noGrp="1"/>
          </p:cNvSpPr>
          <p:nvPr>
            <p:ph type="sldNum" sz="quarter" idx="12"/>
          </p:nvPr>
        </p:nvSpPr>
        <p:spPr/>
        <p:txBody>
          <a:bodyPr/>
          <a:lstStyle/>
          <a:p>
            <a:fld id="{0B04A300-3A65-4C07-8F47-B6E9D70608AF}" type="slidenum">
              <a:rPr lang="es-ES" smtClean="0"/>
              <a:t>‹Nº›</a:t>
            </a:fld>
            <a:endParaRPr lang="es-ES"/>
          </a:p>
        </p:txBody>
      </p:sp>
    </p:spTree>
    <p:extLst>
      <p:ext uri="{BB962C8B-B14F-4D97-AF65-F5344CB8AC3E}">
        <p14:creationId xmlns:p14="http://schemas.microsoft.com/office/powerpoint/2010/main" val="394919742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677AAFF-000D-21E1-4EF7-8C272906F11A}"/>
              </a:ext>
            </a:extLst>
          </p:cNvPr>
          <p:cNvSpPr>
            <a:spLocks noGrp="1"/>
          </p:cNvSpPr>
          <p:nvPr>
            <p:ph type="title"/>
          </p:nvPr>
        </p:nvSpPr>
        <p:spPr/>
        <p:txBody>
          <a:bodyPr/>
          <a:lstStyle/>
          <a:p>
            <a:r>
              <a:rPr lang="es-ES"/>
              <a:t>Haga clic para modificar el estilo de título del patrón</a:t>
            </a:r>
          </a:p>
        </p:txBody>
      </p:sp>
      <p:sp>
        <p:nvSpPr>
          <p:cNvPr id="3" name="Marcador de contenido 2">
            <a:extLst>
              <a:ext uri="{FF2B5EF4-FFF2-40B4-BE49-F238E27FC236}">
                <a16:creationId xmlns:a16="http://schemas.microsoft.com/office/drawing/2014/main" id="{3AA9751D-ABC3-98C2-1D84-178CAA7E144D}"/>
              </a:ext>
            </a:extLst>
          </p:cNvPr>
          <p:cNvSpPr>
            <a:spLocks noGrp="1"/>
          </p:cNvSpPr>
          <p:nvPr>
            <p:ph idx="1"/>
          </p:nvPr>
        </p:nvSpPr>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fecha 3">
            <a:extLst>
              <a:ext uri="{FF2B5EF4-FFF2-40B4-BE49-F238E27FC236}">
                <a16:creationId xmlns:a16="http://schemas.microsoft.com/office/drawing/2014/main" id="{0448D3B1-2AE5-E6EE-C8F5-2F5D20DD8D7E}"/>
              </a:ext>
            </a:extLst>
          </p:cNvPr>
          <p:cNvSpPr>
            <a:spLocks noGrp="1"/>
          </p:cNvSpPr>
          <p:nvPr>
            <p:ph type="dt" sz="half" idx="10"/>
          </p:nvPr>
        </p:nvSpPr>
        <p:spPr/>
        <p:txBody>
          <a:bodyPr/>
          <a:lstStyle/>
          <a:p>
            <a:fld id="{9AAEB562-A506-4EEF-8634-3CC2F0E40EC2}" type="datetimeFigureOut">
              <a:rPr lang="es-ES" smtClean="0"/>
              <a:t>30/10/2026</a:t>
            </a:fld>
            <a:endParaRPr lang="es-ES"/>
          </a:p>
        </p:txBody>
      </p:sp>
      <p:sp>
        <p:nvSpPr>
          <p:cNvPr id="5" name="Marcador de pie de página 4">
            <a:extLst>
              <a:ext uri="{FF2B5EF4-FFF2-40B4-BE49-F238E27FC236}">
                <a16:creationId xmlns:a16="http://schemas.microsoft.com/office/drawing/2014/main" id="{5643EDF8-9EB2-1EF7-7855-FE9B9993F659}"/>
              </a:ext>
            </a:extLst>
          </p:cNvPr>
          <p:cNvSpPr>
            <a:spLocks noGrp="1"/>
          </p:cNvSpPr>
          <p:nvPr>
            <p:ph type="ftr" sz="quarter" idx="11"/>
          </p:nvPr>
        </p:nvSpPr>
        <p:spPr/>
        <p:txBody>
          <a:bodyPr/>
          <a:lstStyle/>
          <a:p>
            <a:endParaRPr lang="es-ES"/>
          </a:p>
        </p:txBody>
      </p:sp>
      <p:sp>
        <p:nvSpPr>
          <p:cNvPr id="6" name="Marcador de número de diapositiva 5">
            <a:extLst>
              <a:ext uri="{FF2B5EF4-FFF2-40B4-BE49-F238E27FC236}">
                <a16:creationId xmlns:a16="http://schemas.microsoft.com/office/drawing/2014/main" id="{9DF1D9E6-80AA-F3AC-36B7-ECBDB20CFBD2}"/>
              </a:ext>
            </a:extLst>
          </p:cNvPr>
          <p:cNvSpPr>
            <a:spLocks noGrp="1"/>
          </p:cNvSpPr>
          <p:nvPr>
            <p:ph type="sldNum" sz="quarter" idx="12"/>
          </p:nvPr>
        </p:nvSpPr>
        <p:spPr/>
        <p:txBody>
          <a:bodyPr/>
          <a:lstStyle/>
          <a:p>
            <a:fld id="{0B04A300-3A65-4C07-8F47-B6E9D70608AF}" type="slidenum">
              <a:rPr lang="es-ES" smtClean="0"/>
              <a:t>‹Nº›</a:t>
            </a:fld>
            <a:endParaRPr lang="es-ES"/>
          </a:p>
        </p:txBody>
      </p:sp>
    </p:spTree>
    <p:extLst>
      <p:ext uri="{BB962C8B-B14F-4D97-AF65-F5344CB8AC3E}">
        <p14:creationId xmlns:p14="http://schemas.microsoft.com/office/powerpoint/2010/main" val="215038765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B35EE50-EE80-E7D4-9892-C8CB452B4388}"/>
              </a:ext>
            </a:extLst>
          </p:cNvPr>
          <p:cNvSpPr>
            <a:spLocks noGrp="1"/>
          </p:cNvSpPr>
          <p:nvPr>
            <p:ph type="title"/>
          </p:nvPr>
        </p:nvSpPr>
        <p:spPr>
          <a:xfrm>
            <a:off x="831850" y="1709738"/>
            <a:ext cx="10515600" cy="2852737"/>
          </a:xfrm>
        </p:spPr>
        <p:txBody>
          <a:bodyPr anchor="b"/>
          <a:lstStyle>
            <a:lvl1pPr>
              <a:defRPr sz="6000"/>
            </a:lvl1pPr>
          </a:lstStyle>
          <a:p>
            <a:r>
              <a:rPr lang="es-ES"/>
              <a:t>Haga clic para modificar el estilo de título del patrón</a:t>
            </a:r>
          </a:p>
        </p:txBody>
      </p:sp>
      <p:sp>
        <p:nvSpPr>
          <p:cNvPr id="3" name="Marcador de texto 2">
            <a:extLst>
              <a:ext uri="{FF2B5EF4-FFF2-40B4-BE49-F238E27FC236}">
                <a16:creationId xmlns:a16="http://schemas.microsoft.com/office/drawing/2014/main" id="{1B8FC9AF-2005-B4EF-9646-B86D6D97CDC4}"/>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s-ES"/>
              <a:t>Haga clic para modificar los estilos de texto del patrón</a:t>
            </a:r>
          </a:p>
        </p:txBody>
      </p:sp>
      <p:sp>
        <p:nvSpPr>
          <p:cNvPr id="4" name="Marcador de fecha 3">
            <a:extLst>
              <a:ext uri="{FF2B5EF4-FFF2-40B4-BE49-F238E27FC236}">
                <a16:creationId xmlns:a16="http://schemas.microsoft.com/office/drawing/2014/main" id="{B3532EE0-9B24-53CC-BB7D-E17A09285B59}"/>
              </a:ext>
            </a:extLst>
          </p:cNvPr>
          <p:cNvSpPr>
            <a:spLocks noGrp="1"/>
          </p:cNvSpPr>
          <p:nvPr>
            <p:ph type="dt" sz="half" idx="10"/>
          </p:nvPr>
        </p:nvSpPr>
        <p:spPr/>
        <p:txBody>
          <a:bodyPr/>
          <a:lstStyle/>
          <a:p>
            <a:fld id="{9AAEB562-A506-4EEF-8634-3CC2F0E40EC2}" type="datetimeFigureOut">
              <a:rPr lang="es-ES" smtClean="0"/>
              <a:t>30/10/2026</a:t>
            </a:fld>
            <a:endParaRPr lang="es-ES"/>
          </a:p>
        </p:txBody>
      </p:sp>
      <p:sp>
        <p:nvSpPr>
          <p:cNvPr id="5" name="Marcador de pie de página 4">
            <a:extLst>
              <a:ext uri="{FF2B5EF4-FFF2-40B4-BE49-F238E27FC236}">
                <a16:creationId xmlns:a16="http://schemas.microsoft.com/office/drawing/2014/main" id="{F7ABF021-0698-6AA4-5598-B4DFAA652FC8}"/>
              </a:ext>
            </a:extLst>
          </p:cNvPr>
          <p:cNvSpPr>
            <a:spLocks noGrp="1"/>
          </p:cNvSpPr>
          <p:nvPr>
            <p:ph type="ftr" sz="quarter" idx="11"/>
          </p:nvPr>
        </p:nvSpPr>
        <p:spPr/>
        <p:txBody>
          <a:bodyPr/>
          <a:lstStyle/>
          <a:p>
            <a:endParaRPr lang="es-ES"/>
          </a:p>
        </p:txBody>
      </p:sp>
      <p:sp>
        <p:nvSpPr>
          <p:cNvPr id="6" name="Marcador de número de diapositiva 5">
            <a:extLst>
              <a:ext uri="{FF2B5EF4-FFF2-40B4-BE49-F238E27FC236}">
                <a16:creationId xmlns:a16="http://schemas.microsoft.com/office/drawing/2014/main" id="{49BEDF17-65DE-9482-CE8C-7536C455D136}"/>
              </a:ext>
            </a:extLst>
          </p:cNvPr>
          <p:cNvSpPr>
            <a:spLocks noGrp="1"/>
          </p:cNvSpPr>
          <p:nvPr>
            <p:ph type="sldNum" sz="quarter" idx="12"/>
          </p:nvPr>
        </p:nvSpPr>
        <p:spPr/>
        <p:txBody>
          <a:bodyPr/>
          <a:lstStyle/>
          <a:p>
            <a:fld id="{0B04A300-3A65-4C07-8F47-B6E9D70608AF}" type="slidenum">
              <a:rPr lang="es-ES" smtClean="0"/>
              <a:t>‹Nº›</a:t>
            </a:fld>
            <a:endParaRPr lang="es-ES"/>
          </a:p>
        </p:txBody>
      </p:sp>
    </p:spTree>
    <p:extLst>
      <p:ext uri="{BB962C8B-B14F-4D97-AF65-F5344CB8AC3E}">
        <p14:creationId xmlns:p14="http://schemas.microsoft.com/office/powerpoint/2010/main" val="380415358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8FFC12B-BB7A-0A6C-5D7D-1B828B9C00E7}"/>
              </a:ext>
            </a:extLst>
          </p:cNvPr>
          <p:cNvSpPr>
            <a:spLocks noGrp="1"/>
          </p:cNvSpPr>
          <p:nvPr>
            <p:ph type="title"/>
          </p:nvPr>
        </p:nvSpPr>
        <p:spPr/>
        <p:txBody>
          <a:bodyPr/>
          <a:lstStyle/>
          <a:p>
            <a:r>
              <a:rPr lang="es-ES"/>
              <a:t>Haga clic para modificar el estilo de título del patrón</a:t>
            </a:r>
          </a:p>
        </p:txBody>
      </p:sp>
      <p:sp>
        <p:nvSpPr>
          <p:cNvPr id="3" name="Marcador de contenido 2">
            <a:extLst>
              <a:ext uri="{FF2B5EF4-FFF2-40B4-BE49-F238E27FC236}">
                <a16:creationId xmlns:a16="http://schemas.microsoft.com/office/drawing/2014/main" id="{6FD3884E-F666-CC02-6D8F-5E13D9AFBFDB}"/>
              </a:ext>
            </a:extLst>
          </p:cNvPr>
          <p:cNvSpPr>
            <a:spLocks noGrp="1"/>
          </p:cNvSpPr>
          <p:nvPr>
            <p:ph sz="half" idx="1"/>
          </p:nvPr>
        </p:nvSpPr>
        <p:spPr>
          <a:xfrm>
            <a:off x="838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contenido 3">
            <a:extLst>
              <a:ext uri="{FF2B5EF4-FFF2-40B4-BE49-F238E27FC236}">
                <a16:creationId xmlns:a16="http://schemas.microsoft.com/office/drawing/2014/main" id="{986624C8-5E1E-879C-A344-F17056158C93}"/>
              </a:ext>
            </a:extLst>
          </p:cNvPr>
          <p:cNvSpPr>
            <a:spLocks noGrp="1"/>
          </p:cNvSpPr>
          <p:nvPr>
            <p:ph sz="half" idx="2"/>
          </p:nvPr>
        </p:nvSpPr>
        <p:spPr>
          <a:xfrm>
            <a:off x="6172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5" name="Marcador de fecha 4">
            <a:extLst>
              <a:ext uri="{FF2B5EF4-FFF2-40B4-BE49-F238E27FC236}">
                <a16:creationId xmlns:a16="http://schemas.microsoft.com/office/drawing/2014/main" id="{792393DF-AD79-275F-93C1-ED0ED7D4F99D}"/>
              </a:ext>
            </a:extLst>
          </p:cNvPr>
          <p:cNvSpPr>
            <a:spLocks noGrp="1"/>
          </p:cNvSpPr>
          <p:nvPr>
            <p:ph type="dt" sz="half" idx="10"/>
          </p:nvPr>
        </p:nvSpPr>
        <p:spPr/>
        <p:txBody>
          <a:bodyPr/>
          <a:lstStyle/>
          <a:p>
            <a:fld id="{9AAEB562-A506-4EEF-8634-3CC2F0E40EC2}" type="datetimeFigureOut">
              <a:rPr lang="es-ES" smtClean="0"/>
              <a:t>30/10/2026</a:t>
            </a:fld>
            <a:endParaRPr lang="es-ES"/>
          </a:p>
        </p:txBody>
      </p:sp>
      <p:sp>
        <p:nvSpPr>
          <p:cNvPr id="6" name="Marcador de pie de página 5">
            <a:extLst>
              <a:ext uri="{FF2B5EF4-FFF2-40B4-BE49-F238E27FC236}">
                <a16:creationId xmlns:a16="http://schemas.microsoft.com/office/drawing/2014/main" id="{A7CE6D06-3372-B5E3-4C95-E0B75F51C6B4}"/>
              </a:ext>
            </a:extLst>
          </p:cNvPr>
          <p:cNvSpPr>
            <a:spLocks noGrp="1"/>
          </p:cNvSpPr>
          <p:nvPr>
            <p:ph type="ftr" sz="quarter" idx="11"/>
          </p:nvPr>
        </p:nvSpPr>
        <p:spPr/>
        <p:txBody>
          <a:bodyPr/>
          <a:lstStyle/>
          <a:p>
            <a:endParaRPr lang="es-ES"/>
          </a:p>
        </p:txBody>
      </p:sp>
      <p:sp>
        <p:nvSpPr>
          <p:cNvPr id="7" name="Marcador de número de diapositiva 6">
            <a:extLst>
              <a:ext uri="{FF2B5EF4-FFF2-40B4-BE49-F238E27FC236}">
                <a16:creationId xmlns:a16="http://schemas.microsoft.com/office/drawing/2014/main" id="{0E5F57D0-2FCD-F8AC-D2EA-3ABA69FFE87D}"/>
              </a:ext>
            </a:extLst>
          </p:cNvPr>
          <p:cNvSpPr>
            <a:spLocks noGrp="1"/>
          </p:cNvSpPr>
          <p:nvPr>
            <p:ph type="sldNum" sz="quarter" idx="12"/>
          </p:nvPr>
        </p:nvSpPr>
        <p:spPr/>
        <p:txBody>
          <a:bodyPr/>
          <a:lstStyle/>
          <a:p>
            <a:fld id="{0B04A300-3A65-4C07-8F47-B6E9D70608AF}" type="slidenum">
              <a:rPr lang="es-ES" smtClean="0"/>
              <a:t>‹Nº›</a:t>
            </a:fld>
            <a:endParaRPr lang="es-ES"/>
          </a:p>
        </p:txBody>
      </p:sp>
    </p:spTree>
    <p:extLst>
      <p:ext uri="{BB962C8B-B14F-4D97-AF65-F5344CB8AC3E}">
        <p14:creationId xmlns:p14="http://schemas.microsoft.com/office/powerpoint/2010/main" val="288080836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B7E6454-3B6D-358C-F730-52378367667A}"/>
              </a:ext>
            </a:extLst>
          </p:cNvPr>
          <p:cNvSpPr>
            <a:spLocks noGrp="1"/>
          </p:cNvSpPr>
          <p:nvPr>
            <p:ph type="title"/>
          </p:nvPr>
        </p:nvSpPr>
        <p:spPr>
          <a:xfrm>
            <a:off x="839788" y="365125"/>
            <a:ext cx="10515600" cy="1325563"/>
          </a:xfrm>
        </p:spPr>
        <p:txBody>
          <a:bodyPr/>
          <a:lstStyle/>
          <a:p>
            <a:r>
              <a:rPr lang="es-ES"/>
              <a:t>Haga clic para modificar el estilo de título del patrón</a:t>
            </a:r>
          </a:p>
        </p:txBody>
      </p:sp>
      <p:sp>
        <p:nvSpPr>
          <p:cNvPr id="3" name="Marcador de texto 2">
            <a:extLst>
              <a:ext uri="{FF2B5EF4-FFF2-40B4-BE49-F238E27FC236}">
                <a16:creationId xmlns:a16="http://schemas.microsoft.com/office/drawing/2014/main" id="{D57B3612-779F-6E32-3956-F4FDF625819E}"/>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4" name="Marcador de contenido 3">
            <a:extLst>
              <a:ext uri="{FF2B5EF4-FFF2-40B4-BE49-F238E27FC236}">
                <a16:creationId xmlns:a16="http://schemas.microsoft.com/office/drawing/2014/main" id="{83A0DD9C-CE60-121D-CD09-63300D10E365}"/>
              </a:ext>
            </a:extLst>
          </p:cNvPr>
          <p:cNvSpPr>
            <a:spLocks noGrp="1"/>
          </p:cNvSpPr>
          <p:nvPr>
            <p:ph sz="half" idx="2"/>
          </p:nvPr>
        </p:nvSpPr>
        <p:spPr>
          <a:xfrm>
            <a:off x="839788" y="2505075"/>
            <a:ext cx="5157787"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5" name="Marcador de texto 4">
            <a:extLst>
              <a:ext uri="{FF2B5EF4-FFF2-40B4-BE49-F238E27FC236}">
                <a16:creationId xmlns:a16="http://schemas.microsoft.com/office/drawing/2014/main" id="{111AF47A-663B-3BDD-6436-DD5DA9AD932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6" name="Marcador de contenido 5">
            <a:extLst>
              <a:ext uri="{FF2B5EF4-FFF2-40B4-BE49-F238E27FC236}">
                <a16:creationId xmlns:a16="http://schemas.microsoft.com/office/drawing/2014/main" id="{BE6E1FEE-BB36-406C-B90B-F1D153D69223}"/>
              </a:ext>
            </a:extLst>
          </p:cNvPr>
          <p:cNvSpPr>
            <a:spLocks noGrp="1"/>
          </p:cNvSpPr>
          <p:nvPr>
            <p:ph sz="quarter" idx="4"/>
          </p:nvPr>
        </p:nvSpPr>
        <p:spPr>
          <a:xfrm>
            <a:off x="6172200" y="2505075"/>
            <a:ext cx="5183188"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7" name="Marcador de fecha 6">
            <a:extLst>
              <a:ext uri="{FF2B5EF4-FFF2-40B4-BE49-F238E27FC236}">
                <a16:creationId xmlns:a16="http://schemas.microsoft.com/office/drawing/2014/main" id="{FD3C6ED4-604F-A083-F2A5-288D33EACE5F}"/>
              </a:ext>
            </a:extLst>
          </p:cNvPr>
          <p:cNvSpPr>
            <a:spLocks noGrp="1"/>
          </p:cNvSpPr>
          <p:nvPr>
            <p:ph type="dt" sz="half" idx="10"/>
          </p:nvPr>
        </p:nvSpPr>
        <p:spPr/>
        <p:txBody>
          <a:bodyPr/>
          <a:lstStyle/>
          <a:p>
            <a:fld id="{9AAEB562-A506-4EEF-8634-3CC2F0E40EC2}" type="datetimeFigureOut">
              <a:rPr lang="es-ES" smtClean="0"/>
              <a:t>30/10/2026</a:t>
            </a:fld>
            <a:endParaRPr lang="es-ES"/>
          </a:p>
        </p:txBody>
      </p:sp>
      <p:sp>
        <p:nvSpPr>
          <p:cNvPr id="8" name="Marcador de pie de página 7">
            <a:extLst>
              <a:ext uri="{FF2B5EF4-FFF2-40B4-BE49-F238E27FC236}">
                <a16:creationId xmlns:a16="http://schemas.microsoft.com/office/drawing/2014/main" id="{4EE1F967-E60D-3187-F236-9840E0C4E1E5}"/>
              </a:ext>
            </a:extLst>
          </p:cNvPr>
          <p:cNvSpPr>
            <a:spLocks noGrp="1"/>
          </p:cNvSpPr>
          <p:nvPr>
            <p:ph type="ftr" sz="quarter" idx="11"/>
          </p:nvPr>
        </p:nvSpPr>
        <p:spPr/>
        <p:txBody>
          <a:bodyPr/>
          <a:lstStyle/>
          <a:p>
            <a:endParaRPr lang="es-ES"/>
          </a:p>
        </p:txBody>
      </p:sp>
      <p:sp>
        <p:nvSpPr>
          <p:cNvPr id="9" name="Marcador de número de diapositiva 8">
            <a:extLst>
              <a:ext uri="{FF2B5EF4-FFF2-40B4-BE49-F238E27FC236}">
                <a16:creationId xmlns:a16="http://schemas.microsoft.com/office/drawing/2014/main" id="{F2B296EB-A6F1-8851-B4F8-2D1CE7EF4A07}"/>
              </a:ext>
            </a:extLst>
          </p:cNvPr>
          <p:cNvSpPr>
            <a:spLocks noGrp="1"/>
          </p:cNvSpPr>
          <p:nvPr>
            <p:ph type="sldNum" sz="quarter" idx="12"/>
          </p:nvPr>
        </p:nvSpPr>
        <p:spPr/>
        <p:txBody>
          <a:bodyPr/>
          <a:lstStyle/>
          <a:p>
            <a:fld id="{0B04A300-3A65-4C07-8F47-B6E9D70608AF}" type="slidenum">
              <a:rPr lang="es-ES" smtClean="0"/>
              <a:t>‹Nº›</a:t>
            </a:fld>
            <a:endParaRPr lang="es-ES"/>
          </a:p>
        </p:txBody>
      </p:sp>
    </p:spTree>
    <p:extLst>
      <p:ext uri="{BB962C8B-B14F-4D97-AF65-F5344CB8AC3E}">
        <p14:creationId xmlns:p14="http://schemas.microsoft.com/office/powerpoint/2010/main" val="118010418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3469844-79A4-579C-29E6-0387B0BB06E3}"/>
              </a:ext>
            </a:extLst>
          </p:cNvPr>
          <p:cNvSpPr>
            <a:spLocks noGrp="1"/>
          </p:cNvSpPr>
          <p:nvPr>
            <p:ph type="title"/>
          </p:nvPr>
        </p:nvSpPr>
        <p:spPr/>
        <p:txBody>
          <a:bodyPr/>
          <a:lstStyle/>
          <a:p>
            <a:r>
              <a:rPr lang="es-ES"/>
              <a:t>Haga clic para modificar el estilo de título del patrón</a:t>
            </a:r>
          </a:p>
        </p:txBody>
      </p:sp>
      <p:sp>
        <p:nvSpPr>
          <p:cNvPr id="3" name="Marcador de fecha 2">
            <a:extLst>
              <a:ext uri="{FF2B5EF4-FFF2-40B4-BE49-F238E27FC236}">
                <a16:creationId xmlns:a16="http://schemas.microsoft.com/office/drawing/2014/main" id="{FAD6B5E7-4ECB-640F-0133-FD483EF88B7C}"/>
              </a:ext>
            </a:extLst>
          </p:cNvPr>
          <p:cNvSpPr>
            <a:spLocks noGrp="1"/>
          </p:cNvSpPr>
          <p:nvPr>
            <p:ph type="dt" sz="half" idx="10"/>
          </p:nvPr>
        </p:nvSpPr>
        <p:spPr/>
        <p:txBody>
          <a:bodyPr/>
          <a:lstStyle/>
          <a:p>
            <a:fld id="{9AAEB562-A506-4EEF-8634-3CC2F0E40EC2}" type="datetimeFigureOut">
              <a:rPr lang="es-ES" smtClean="0"/>
              <a:t>30/10/2026</a:t>
            </a:fld>
            <a:endParaRPr lang="es-ES"/>
          </a:p>
        </p:txBody>
      </p:sp>
      <p:sp>
        <p:nvSpPr>
          <p:cNvPr id="4" name="Marcador de pie de página 3">
            <a:extLst>
              <a:ext uri="{FF2B5EF4-FFF2-40B4-BE49-F238E27FC236}">
                <a16:creationId xmlns:a16="http://schemas.microsoft.com/office/drawing/2014/main" id="{F8C351E1-4E9D-2F18-8CB2-5657515E8CEC}"/>
              </a:ext>
            </a:extLst>
          </p:cNvPr>
          <p:cNvSpPr>
            <a:spLocks noGrp="1"/>
          </p:cNvSpPr>
          <p:nvPr>
            <p:ph type="ftr" sz="quarter" idx="11"/>
          </p:nvPr>
        </p:nvSpPr>
        <p:spPr/>
        <p:txBody>
          <a:bodyPr/>
          <a:lstStyle/>
          <a:p>
            <a:endParaRPr lang="es-ES"/>
          </a:p>
        </p:txBody>
      </p:sp>
      <p:sp>
        <p:nvSpPr>
          <p:cNvPr id="5" name="Marcador de número de diapositiva 4">
            <a:extLst>
              <a:ext uri="{FF2B5EF4-FFF2-40B4-BE49-F238E27FC236}">
                <a16:creationId xmlns:a16="http://schemas.microsoft.com/office/drawing/2014/main" id="{96B491CF-C9BC-4D66-6EE6-690A52117409}"/>
              </a:ext>
            </a:extLst>
          </p:cNvPr>
          <p:cNvSpPr>
            <a:spLocks noGrp="1"/>
          </p:cNvSpPr>
          <p:nvPr>
            <p:ph type="sldNum" sz="quarter" idx="12"/>
          </p:nvPr>
        </p:nvSpPr>
        <p:spPr/>
        <p:txBody>
          <a:bodyPr/>
          <a:lstStyle/>
          <a:p>
            <a:fld id="{0B04A300-3A65-4C07-8F47-B6E9D70608AF}" type="slidenum">
              <a:rPr lang="es-ES" smtClean="0"/>
              <a:t>‹Nº›</a:t>
            </a:fld>
            <a:endParaRPr lang="es-ES"/>
          </a:p>
        </p:txBody>
      </p:sp>
    </p:spTree>
    <p:extLst>
      <p:ext uri="{BB962C8B-B14F-4D97-AF65-F5344CB8AC3E}">
        <p14:creationId xmlns:p14="http://schemas.microsoft.com/office/powerpoint/2010/main" val="29271686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Marcador de fecha 1">
            <a:extLst>
              <a:ext uri="{FF2B5EF4-FFF2-40B4-BE49-F238E27FC236}">
                <a16:creationId xmlns:a16="http://schemas.microsoft.com/office/drawing/2014/main" id="{03096E66-D4D6-2ACE-4602-49572DDC6999}"/>
              </a:ext>
            </a:extLst>
          </p:cNvPr>
          <p:cNvSpPr>
            <a:spLocks noGrp="1"/>
          </p:cNvSpPr>
          <p:nvPr>
            <p:ph type="dt" sz="half" idx="10"/>
          </p:nvPr>
        </p:nvSpPr>
        <p:spPr/>
        <p:txBody>
          <a:bodyPr/>
          <a:lstStyle/>
          <a:p>
            <a:fld id="{9AAEB562-A506-4EEF-8634-3CC2F0E40EC2}" type="datetimeFigureOut">
              <a:rPr lang="es-ES" smtClean="0"/>
              <a:t>30/10/2026</a:t>
            </a:fld>
            <a:endParaRPr lang="es-ES"/>
          </a:p>
        </p:txBody>
      </p:sp>
      <p:sp>
        <p:nvSpPr>
          <p:cNvPr id="3" name="Marcador de pie de página 2">
            <a:extLst>
              <a:ext uri="{FF2B5EF4-FFF2-40B4-BE49-F238E27FC236}">
                <a16:creationId xmlns:a16="http://schemas.microsoft.com/office/drawing/2014/main" id="{0EB61280-D68A-2952-9A04-FECDC45FF25E}"/>
              </a:ext>
            </a:extLst>
          </p:cNvPr>
          <p:cNvSpPr>
            <a:spLocks noGrp="1"/>
          </p:cNvSpPr>
          <p:nvPr>
            <p:ph type="ftr" sz="quarter" idx="11"/>
          </p:nvPr>
        </p:nvSpPr>
        <p:spPr/>
        <p:txBody>
          <a:bodyPr/>
          <a:lstStyle/>
          <a:p>
            <a:endParaRPr lang="es-ES"/>
          </a:p>
        </p:txBody>
      </p:sp>
      <p:sp>
        <p:nvSpPr>
          <p:cNvPr id="4" name="Marcador de número de diapositiva 3">
            <a:extLst>
              <a:ext uri="{FF2B5EF4-FFF2-40B4-BE49-F238E27FC236}">
                <a16:creationId xmlns:a16="http://schemas.microsoft.com/office/drawing/2014/main" id="{7506FFDC-9C4E-B826-29B6-BDF02DF41140}"/>
              </a:ext>
            </a:extLst>
          </p:cNvPr>
          <p:cNvSpPr>
            <a:spLocks noGrp="1"/>
          </p:cNvSpPr>
          <p:nvPr>
            <p:ph type="sldNum" sz="quarter" idx="12"/>
          </p:nvPr>
        </p:nvSpPr>
        <p:spPr/>
        <p:txBody>
          <a:bodyPr/>
          <a:lstStyle/>
          <a:p>
            <a:fld id="{0B04A300-3A65-4C07-8F47-B6E9D70608AF}" type="slidenum">
              <a:rPr lang="es-ES" smtClean="0"/>
              <a:t>‹Nº›</a:t>
            </a:fld>
            <a:endParaRPr lang="es-ES"/>
          </a:p>
        </p:txBody>
      </p:sp>
    </p:spTree>
    <p:extLst>
      <p:ext uri="{BB962C8B-B14F-4D97-AF65-F5344CB8AC3E}">
        <p14:creationId xmlns:p14="http://schemas.microsoft.com/office/powerpoint/2010/main" val="63152592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86C1EC9-8107-858E-1C09-E4CA9FB64FF9}"/>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p>
        </p:txBody>
      </p:sp>
      <p:sp>
        <p:nvSpPr>
          <p:cNvPr id="3" name="Marcador de contenido 2">
            <a:extLst>
              <a:ext uri="{FF2B5EF4-FFF2-40B4-BE49-F238E27FC236}">
                <a16:creationId xmlns:a16="http://schemas.microsoft.com/office/drawing/2014/main" id="{D6F7BB49-7E0D-FA4F-3BB3-7FEDA6ED960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texto 3">
            <a:extLst>
              <a:ext uri="{FF2B5EF4-FFF2-40B4-BE49-F238E27FC236}">
                <a16:creationId xmlns:a16="http://schemas.microsoft.com/office/drawing/2014/main" id="{D8E0DF6E-E9F6-1AE2-C64B-5345F7EB326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2B8CE2B5-3F43-3AE6-A610-033A3DDA9B26}"/>
              </a:ext>
            </a:extLst>
          </p:cNvPr>
          <p:cNvSpPr>
            <a:spLocks noGrp="1"/>
          </p:cNvSpPr>
          <p:nvPr>
            <p:ph type="dt" sz="half" idx="10"/>
          </p:nvPr>
        </p:nvSpPr>
        <p:spPr/>
        <p:txBody>
          <a:bodyPr/>
          <a:lstStyle/>
          <a:p>
            <a:fld id="{9AAEB562-A506-4EEF-8634-3CC2F0E40EC2}" type="datetimeFigureOut">
              <a:rPr lang="es-ES" smtClean="0"/>
              <a:t>30/10/2026</a:t>
            </a:fld>
            <a:endParaRPr lang="es-ES"/>
          </a:p>
        </p:txBody>
      </p:sp>
      <p:sp>
        <p:nvSpPr>
          <p:cNvPr id="6" name="Marcador de pie de página 5">
            <a:extLst>
              <a:ext uri="{FF2B5EF4-FFF2-40B4-BE49-F238E27FC236}">
                <a16:creationId xmlns:a16="http://schemas.microsoft.com/office/drawing/2014/main" id="{B435A905-B07D-E638-F637-0862D8B1197C}"/>
              </a:ext>
            </a:extLst>
          </p:cNvPr>
          <p:cNvSpPr>
            <a:spLocks noGrp="1"/>
          </p:cNvSpPr>
          <p:nvPr>
            <p:ph type="ftr" sz="quarter" idx="11"/>
          </p:nvPr>
        </p:nvSpPr>
        <p:spPr/>
        <p:txBody>
          <a:bodyPr/>
          <a:lstStyle/>
          <a:p>
            <a:endParaRPr lang="es-ES"/>
          </a:p>
        </p:txBody>
      </p:sp>
      <p:sp>
        <p:nvSpPr>
          <p:cNvPr id="7" name="Marcador de número de diapositiva 6">
            <a:extLst>
              <a:ext uri="{FF2B5EF4-FFF2-40B4-BE49-F238E27FC236}">
                <a16:creationId xmlns:a16="http://schemas.microsoft.com/office/drawing/2014/main" id="{D464E7F2-BD91-9E6B-C99C-1C9BBD98BBF5}"/>
              </a:ext>
            </a:extLst>
          </p:cNvPr>
          <p:cNvSpPr>
            <a:spLocks noGrp="1"/>
          </p:cNvSpPr>
          <p:nvPr>
            <p:ph type="sldNum" sz="quarter" idx="12"/>
          </p:nvPr>
        </p:nvSpPr>
        <p:spPr/>
        <p:txBody>
          <a:bodyPr/>
          <a:lstStyle/>
          <a:p>
            <a:fld id="{0B04A300-3A65-4C07-8F47-B6E9D70608AF}" type="slidenum">
              <a:rPr lang="es-ES" smtClean="0"/>
              <a:t>‹Nº›</a:t>
            </a:fld>
            <a:endParaRPr lang="es-ES"/>
          </a:p>
        </p:txBody>
      </p:sp>
    </p:spTree>
    <p:extLst>
      <p:ext uri="{BB962C8B-B14F-4D97-AF65-F5344CB8AC3E}">
        <p14:creationId xmlns:p14="http://schemas.microsoft.com/office/powerpoint/2010/main" val="401180081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FFDADC1-31AA-375C-ABEE-D40173F9AC38}"/>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p>
        </p:txBody>
      </p:sp>
      <p:sp>
        <p:nvSpPr>
          <p:cNvPr id="3" name="Marcador de posición de imagen 2">
            <a:extLst>
              <a:ext uri="{FF2B5EF4-FFF2-40B4-BE49-F238E27FC236}">
                <a16:creationId xmlns:a16="http://schemas.microsoft.com/office/drawing/2014/main" id="{FE4F612A-8B9A-D342-3A0E-C591361B807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s-ES"/>
          </a:p>
        </p:txBody>
      </p:sp>
      <p:sp>
        <p:nvSpPr>
          <p:cNvPr id="4" name="Marcador de texto 3">
            <a:extLst>
              <a:ext uri="{FF2B5EF4-FFF2-40B4-BE49-F238E27FC236}">
                <a16:creationId xmlns:a16="http://schemas.microsoft.com/office/drawing/2014/main" id="{0DE063E5-943E-7B65-D1D8-0CBA10DD90B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4F6C1A95-A6AC-A701-700C-ADFDE1268AFF}"/>
              </a:ext>
            </a:extLst>
          </p:cNvPr>
          <p:cNvSpPr>
            <a:spLocks noGrp="1"/>
          </p:cNvSpPr>
          <p:nvPr>
            <p:ph type="dt" sz="half" idx="10"/>
          </p:nvPr>
        </p:nvSpPr>
        <p:spPr/>
        <p:txBody>
          <a:bodyPr/>
          <a:lstStyle/>
          <a:p>
            <a:fld id="{9AAEB562-A506-4EEF-8634-3CC2F0E40EC2}" type="datetimeFigureOut">
              <a:rPr lang="es-ES" smtClean="0"/>
              <a:t>30/10/2026</a:t>
            </a:fld>
            <a:endParaRPr lang="es-ES"/>
          </a:p>
        </p:txBody>
      </p:sp>
      <p:sp>
        <p:nvSpPr>
          <p:cNvPr id="6" name="Marcador de pie de página 5">
            <a:extLst>
              <a:ext uri="{FF2B5EF4-FFF2-40B4-BE49-F238E27FC236}">
                <a16:creationId xmlns:a16="http://schemas.microsoft.com/office/drawing/2014/main" id="{5B5D2071-383A-563E-29A6-0C5379D18911}"/>
              </a:ext>
            </a:extLst>
          </p:cNvPr>
          <p:cNvSpPr>
            <a:spLocks noGrp="1"/>
          </p:cNvSpPr>
          <p:nvPr>
            <p:ph type="ftr" sz="quarter" idx="11"/>
          </p:nvPr>
        </p:nvSpPr>
        <p:spPr/>
        <p:txBody>
          <a:bodyPr/>
          <a:lstStyle/>
          <a:p>
            <a:endParaRPr lang="es-ES"/>
          </a:p>
        </p:txBody>
      </p:sp>
      <p:sp>
        <p:nvSpPr>
          <p:cNvPr id="7" name="Marcador de número de diapositiva 6">
            <a:extLst>
              <a:ext uri="{FF2B5EF4-FFF2-40B4-BE49-F238E27FC236}">
                <a16:creationId xmlns:a16="http://schemas.microsoft.com/office/drawing/2014/main" id="{5B7179EF-234C-F249-E2A9-BEEA8B7409E7}"/>
              </a:ext>
            </a:extLst>
          </p:cNvPr>
          <p:cNvSpPr>
            <a:spLocks noGrp="1"/>
          </p:cNvSpPr>
          <p:nvPr>
            <p:ph type="sldNum" sz="quarter" idx="12"/>
          </p:nvPr>
        </p:nvSpPr>
        <p:spPr/>
        <p:txBody>
          <a:bodyPr/>
          <a:lstStyle/>
          <a:p>
            <a:fld id="{0B04A300-3A65-4C07-8F47-B6E9D70608AF}" type="slidenum">
              <a:rPr lang="es-ES" smtClean="0"/>
              <a:t>‹Nº›</a:t>
            </a:fld>
            <a:endParaRPr lang="es-ES"/>
          </a:p>
        </p:txBody>
      </p:sp>
    </p:spTree>
    <p:extLst>
      <p:ext uri="{BB962C8B-B14F-4D97-AF65-F5344CB8AC3E}">
        <p14:creationId xmlns:p14="http://schemas.microsoft.com/office/powerpoint/2010/main" val="124477972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8BB843B-1C97-D6C2-A045-3BC6C5CE12C3}"/>
              </a:ext>
            </a:extLst>
          </p:cNvPr>
          <p:cNvSpPr>
            <a:spLocks noGrp="1"/>
          </p:cNvSpPr>
          <p:nvPr>
            <p:ph type="title"/>
          </p:nvPr>
        </p:nvSpPr>
        <p:spPr/>
        <p:txBody>
          <a:bodyPr/>
          <a:lstStyle/>
          <a:p>
            <a:r>
              <a:rPr lang="es-ES"/>
              <a:t>Haga clic para modificar el estilo de título del patrón</a:t>
            </a:r>
          </a:p>
        </p:txBody>
      </p:sp>
      <p:sp>
        <p:nvSpPr>
          <p:cNvPr id="3" name="Marcador de texto vertical 2">
            <a:extLst>
              <a:ext uri="{FF2B5EF4-FFF2-40B4-BE49-F238E27FC236}">
                <a16:creationId xmlns:a16="http://schemas.microsoft.com/office/drawing/2014/main" id="{D0467B1F-01D8-CC36-A724-21417347E8B6}"/>
              </a:ext>
            </a:extLst>
          </p:cNvPr>
          <p:cNvSpPr>
            <a:spLocks noGrp="1"/>
          </p:cNvSpPr>
          <p:nvPr>
            <p:ph type="body" orient="vert" idx="1"/>
          </p:nvPr>
        </p:nvSpPr>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fecha 3">
            <a:extLst>
              <a:ext uri="{FF2B5EF4-FFF2-40B4-BE49-F238E27FC236}">
                <a16:creationId xmlns:a16="http://schemas.microsoft.com/office/drawing/2014/main" id="{E6D5860F-2F5B-C2EB-6EB6-CB454E2CCB51}"/>
              </a:ext>
            </a:extLst>
          </p:cNvPr>
          <p:cNvSpPr>
            <a:spLocks noGrp="1"/>
          </p:cNvSpPr>
          <p:nvPr>
            <p:ph type="dt" sz="half" idx="10"/>
          </p:nvPr>
        </p:nvSpPr>
        <p:spPr/>
        <p:txBody>
          <a:bodyPr/>
          <a:lstStyle/>
          <a:p>
            <a:fld id="{9AAEB562-A506-4EEF-8634-3CC2F0E40EC2}" type="datetimeFigureOut">
              <a:rPr lang="es-ES" smtClean="0"/>
              <a:t>30/10/2026</a:t>
            </a:fld>
            <a:endParaRPr lang="es-ES"/>
          </a:p>
        </p:txBody>
      </p:sp>
      <p:sp>
        <p:nvSpPr>
          <p:cNvPr id="5" name="Marcador de pie de página 4">
            <a:extLst>
              <a:ext uri="{FF2B5EF4-FFF2-40B4-BE49-F238E27FC236}">
                <a16:creationId xmlns:a16="http://schemas.microsoft.com/office/drawing/2014/main" id="{AB02BE26-98B9-DF5C-E24A-5EF3399A5836}"/>
              </a:ext>
            </a:extLst>
          </p:cNvPr>
          <p:cNvSpPr>
            <a:spLocks noGrp="1"/>
          </p:cNvSpPr>
          <p:nvPr>
            <p:ph type="ftr" sz="quarter" idx="11"/>
          </p:nvPr>
        </p:nvSpPr>
        <p:spPr/>
        <p:txBody>
          <a:bodyPr/>
          <a:lstStyle/>
          <a:p>
            <a:endParaRPr lang="es-ES"/>
          </a:p>
        </p:txBody>
      </p:sp>
      <p:sp>
        <p:nvSpPr>
          <p:cNvPr id="6" name="Marcador de número de diapositiva 5">
            <a:extLst>
              <a:ext uri="{FF2B5EF4-FFF2-40B4-BE49-F238E27FC236}">
                <a16:creationId xmlns:a16="http://schemas.microsoft.com/office/drawing/2014/main" id="{873A9671-D9CD-C8A4-B1AD-11D8B8D8F979}"/>
              </a:ext>
            </a:extLst>
          </p:cNvPr>
          <p:cNvSpPr>
            <a:spLocks noGrp="1"/>
          </p:cNvSpPr>
          <p:nvPr>
            <p:ph type="sldNum" sz="quarter" idx="12"/>
          </p:nvPr>
        </p:nvSpPr>
        <p:spPr/>
        <p:txBody>
          <a:bodyPr/>
          <a:lstStyle/>
          <a:p>
            <a:fld id="{0B04A300-3A65-4C07-8F47-B6E9D70608AF}" type="slidenum">
              <a:rPr lang="es-ES" smtClean="0"/>
              <a:t>‹Nº›</a:t>
            </a:fld>
            <a:endParaRPr lang="es-ES"/>
          </a:p>
        </p:txBody>
      </p:sp>
    </p:spTree>
    <p:extLst>
      <p:ext uri="{BB962C8B-B14F-4D97-AF65-F5344CB8AC3E}">
        <p14:creationId xmlns:p14="http://schemas.microsoft.com/office/powerpoint/2010/main" val="247581303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2D41AF22-875F-0C7C-1FD8-D14CA6B109D0}"/>
              </a:ext>
            </a:extLst>
          </p:cNvPr>
          <p:cNvSpPr>
            <a:spLocks noGrp="1"/>
          </p:cNvSpPr>
          <p:nvPr>
            <p:ph type="title" orient="vert"/>
          </p:nvPr>
        </p:nvSpPr>
        <p:spPr>
          <a:xfrm>
            <a:off x="8724900" y="365125"/>
            <a:ext cx="2628900" cy="5811838"/>
          </a:xfrm>
        </p:spPr>
        <p:txBody>
          <a:bodyPr vert="eaVert"/>
          <a:lstStyle/>
          <a:p>
            <a:r>
              <a:rPr lang="es-ES"/>
              <a:t>Haga clic para modificar el estilo de título del patrón</a:t>
            </a:r>
          </a:p>
        </p:txBody>
      </p:sp>
      <p:sp>
        <p:nvSpPr>
          <p:cNvPr id="3" name="Marcador de texto vertical 2">
            <a:extLst>
              <a:ext uri="{FF2B5EF4-FFF2-40B4-BE49-F238E27FC236}">
                <a16:creationId xmlns:a16="http://schemas.microsoft.com/office/drawing/2014/main" id="{EF9E0334-C086-A39B-0DA8-29FAFF03A1E7}"/>
              </a:ext>
            </a:extLst>
          </p:cNvPr>
          <p:cNvSpPr>
            <a:spLocks noGrp="1"/>
          </p:cNvSpPr>
          <p:nvPr>
            <p:ph type="body" orient="vert" idx="1"/>
          </p:nvPr>
        </p:nvSpPr>
        <p:spPr>
          <a:xfrm>
            <a:off x="838200" y="365125"/>
            <a:ext cx="7734300" cy="5811838"/>
          </a:xfr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fecha 3">
            <a:extLst>
              <a:ext uri="{FF2B5EF4-FFF2-40B4-BE49-F238E27FC236}">
                <a16:creationId xmlns:a16="http://schemas.microsoft.com/office/drawing/2014/main" id="{BF3D8C95-6FF7-EF4A-FA01-A20068BF2CA8}"/>
              </a:ext>
            </a:extLst>
          </p:cNvPr>
          <p:cNvSpPr>
            <a:spLocks noGrp="1"/>
          </p:cNvSpPr>
          <p:nvPr>
            <p:ph type="dt" sz="half" idx="10"/>
          </p:nvPr>
        </p:nvSpPr>
        <p:spPr/>
        <p:txBody>
          <a:bodyPr/>
          <a:lstStyle/>
          <a:p>
            <a:fld id="{9AAEB562-A506-4EEF-8634-3CC2F0E40EC2}" type="datetimeFigureOut">
              <a:rPr lang="es-ES" smtClean="0"/>
              <a:t>30/10/2026</a:t>
            </a:fld>
            <a:endParaRPr lang="es-ES"/>
          </a:p>
        </p:txBody>
      </p:sp>
      <p:sp>
        <p:nvSpPr>
          <p:cNvPr id="5" name="Marcador de pie de página 4">
            <a:extLst>
              <a:ext uri="{FF2B5EF4-FFF2-40B4-BE49-F238E27FC236}">
                <a16:creationId xmlns:a16="http://schemas.microsoft.com/office/drawing/2014/main" id="{3BC468CF-F483-939D-86E6-6B3AB4531D6E}"/>
              </a:ext>
            </a:extLst>
          </p:cNvPr>
          <p:cNvSpPr>
            <a:spLocks noGrp="1"/>
          </p:cNvSpPr>
          <p:nvPr>
            <p:ph type="ftr" sz="quarter" idx="11"/>
          </p:nvPr>
        </p:nvSpPr>
        <p:spPr/>
        <p:txBody>
          <a:bodyPr/>
          <a:lstStyle/>
          <a:p>
            <a:endParaRPr lang="es-ES"/>
          </a:p>
        </p:txBody>
      </p:sp>
      <p:sp>
        <p:nvSpPr>
          <p:cNvPr id="6" name="Marcador de número de diapositiva 5">
            <a:extLst>
              <a:ext uri="{FF2B5EF4-FFF2-40B4-BE49-F238E27FC236}">
                <a16:creationId xmlns:a16="http://schemas.microsoft.com/office/drawing/2014/main" id="{608B6DC4-B69F-AF0E-CEDC-EA9CB0B0467C}"/>
              </a:ext>
            </a:extLst>
          </p:cNvPr>
          <p:cNvSpPr>
            <a:spLocks noGrp="1"/>
          </p:cNvSpPr>
          <p:nvPr>
            <p:ph type="sldNum" sz="quarter" idx="12"/>
          </p:nvPr>
        </p:nvSpPr>
        <p:spPr/>
        <p:txBody>
          <a:bodyPr/>
          <a:lstStyle/>
          <a:p>
            <a:fld id="{0B04A300-3A65-4C07-8F47-B6E9D70608AF}" type="slidenum">
              <a:rPr lang="es-ES" smtClean="0"/>
              <a:t>‹Nº›</a:t>
            </a:fld>
            <a:endParaRPr lang="es-ES"/>
          </a:p>
        </p:txBody>
      </p:sp>
    </p:spTree>
    <p:extLst>
      <p:ext uri="{BB962C8B-B14F-4D97-AF65-F5344CB8AC3E}">
        <p14:creationId xmlns:p14="http://schemas.microsoft.com/office/powerpoint/2010/main" val="13239281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título 1">
            <a:extLst>
              <a:ext uri="{FF2B5EF4-FFF2-40B4-BE49-F238E27FC236}">
                <a16:creationId xmlns:a16="http://schemas.microsoft.com/office/drawing/2014/main" id="{40470176-1608-6012-D7A7-75863DF3993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s-ES"/>
              <a:t>Haga clic para modificar el estilo de título del patrón</a:t>
            </a:r>
          </a:p>
        </p:txBody>
      </p:sp>
      <p:sp>
        <p:nvSpPr>
          <p:cNvPr id="3" name="Marcador de texto 2">
            <a:extLst>
              <a:ext uri="{FF2B5EF4-FFF2-40B4-BE49-F238E27FC236}">
                <a16:creationId xmlns:a16="http://schemas.microsoft.com/office/drawing/2014/main" id="{B4E9D99E-34FC-5BA7-8F2C-35212EBAD18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fecha 3">
            <a:extLst>
              <a:ext uri="{FF2B5EF4-FFF2-40B4-BE49-F238E27FC236}">
                <a16:creationId xmlns:a16="http://schemas.microsoft.com/office/drawing/2014/main" id="{483EA24E-CA10-AF76-AF92-D59E141E1AD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9AAEB562-A506-4EEF-8634-3CC2F0E40EC2}" type="datetimeFigureOut">
              <a:rPr lang="es-ES" smtClean="0"/>
              <a:t>30/10/2026</a:t>
            </a:fld>
            <a:endParaRPr lang="es-ES"/>
          </a:p>
        </p:txBody>
      </p:sp>
      <p:sp>
        <p:nvSpPr>
          <p:cNvPr id="5" name="Marcador de pie de página 4">
            <a:extLst>
              <a:ext uri="{FF2B5EF4-FFF2-40B4-BE49-F238E27FC236}">
                <a16:creationId xmlns:a16="http://schemas.microsoft.com/office/drawing/2014/main" id="{56ED14B5-7C00-48A6-9092-F0CAF5FE078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s-ES"/>
          </a:p>
        </p:txBody>
      </p:sp>
      <p:sp>
        <p:nvSpPr>
          <p:cNvPr id="6" name="Marcador de número de diapositiva 5">
            <a:extLst>
              <a:ext uri="{FF2B5EF4-FFF2-40B4-BE49-F238E27FC236}">
                <a16:creationId xmlns:a16="http://schemas.microsoft.com/office/drawing/2014/main" id="{EF535612-0B91-1C42-F837-FC7E008550C6}"/>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B04A300-3A65-4C07-8F47-B6E9D70608AF}" type="slidenum">
              <a:rPr lang="es-ES" smtClean="0"/>
              <a:t>‹Nº›</a:t>
            </a:fld>
            <a:endParaRPr lang="es-ES"/>
          </a:p>
        </p:txBody>
      </p:sp>
    </p:spTree>
    <p:extLst>
      <p:ext uri="{BB962C8B-B14F-4D97-AF65-F5344CB8AC3E}">
        <p14:creationId xmlns:p14="http://schemas.microsoft.com/office/powerpoint/2010/main" val="324807016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8" Type="http://schemas.openxmlformats.org/officeDocument/2006/relationships/image" Target="../media/image7.svg"/><Relationship Id="rId13" Type="http://schemas.openxmlformats.org/officeDocument/2006/relationships/image" Target="../media/image12.png"/><Relationship Id="rId18" Type="http://schemas.openxmlformats.org/officeDocument/2006/relationships/image" Target="../media/image17.svg"/><Relationship Id="rId3" Type="http://schemas.openxmlformats.org/officeDocument/2006/relationships/image" Target="../media/image2.png"/><Relationship Id="rId21" Type="http://schemas.openxmlformats.org/officeDocument/2006/relationships/image" Target="../media/image20.png"/><Relationship Id="rId7" Type="http://schemas.openxmlformats.org/officeDocument/2006/relationships/image" Target="../media/image6.png"/><Relationship Id="rId12" Type="http://schemas.openxmlformats.org/officeDocument/2006/relationships/image" Target="../media/image11.svg"/><Relationship Id="rId17" Type="http://schemas.openxmlformats.org/officeDocument/2006/relationships/image" Target="../media/image16.png"/><Relationship Id="rId2" Type="http://schemas.openxmlformats.org/officeDocument/2006/relationships/notesSlide" Target="../notesSlides/notesSlide13.xml"/><Relationship Id="rId16" Type="http://schemas.openxmlformats.org/officeDocument/2006/relationships/image" Target="../media/image15.svg"/><Relationship Id="rId20" Type="http://schemas.openxmlformats.org/officeDocument/2006/relationships/image" Target="../media/image19.svg"/><Relationship Id="rId1" Type="http://schemas.openxmlformats.org/officeDocument/2006/relationships/slideLayout" Target="../slideLayouts/slideLayout7.xml"/><Relationship Id="rId6" Type="http://schemas.openxmlformats.org/officeDocument/2006/relationships/image" Target="../media/image5.svg"/><Relationship Id="rId11" Type="http://schemas.openxmlformats.org/officeDocument/2006/relationships/image" Target="../media/image10.png"/><Relationship Id="rId5" Type="http://schemas.openxmlformats.org/officeDocument/2006/relationships/image" Target="../media/image4.png"/><Relationship Id="rId15" Type="http://schemas.openxmlformats.org/officeDocument/2006/relationships/image" Target="../media/image14.png"/><Relationship Id="rId10" Type="http://schemas.openxmlformats.org/officeDocument/2006/relationships/image" Target="../media/image9.svg"/><Relationship Id="rId19" Type="http://schemas.openxmlformats.org/officeDocument/2006/relationships/image" Target="../media/image18.png"/><Relationship Id="rId4" Type="http://schemas.openxmlformats.org/officeDocument/2006/relationships/image" Target="../media/image3.svg"/><Relationship Id="rId9" Type="http://schemas.openxmlformats.org/officeDocument/2006/relationships/image" Target="../media/image8.png"/><Relationship Id="rId14" Type="http://schemas.openxmlformats.org/officeDocument/2006/relationships/image" Target="../media/image13.svg"/><Relationship Id="rId22" Type="http://schemas.openxmlformats.org/officeDocument/2006/relationships/image" Target="../media/image21.sv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AF8F4"/>
        </a:solidFill>
        <a:effectLst/>
      </p:bgPr>
    </p:bg>
    <p:spTree>
      <p:nvGrpSpPr>
        <p:cNvPr id="1" name=""/>
        <p:cNvGrpSpPr/>
        <p:nvPr/>
      </p:nvGrpSpPr>
      <p:grpSpPr>
        <a:xfrm>
          <a:off x="0" y="0"/>
          <a:ext cx="0" cy="0"/>
          <a:chOff x="0" y="0"/>
          <a:chExt cx="0" cy="0"/>
        </a:xfrm>
      </p:grpSpPr>
      <p:sp>
        <p:nvSpPr>
          <p:cNvPr id="5" name="CuadroTexto 4">
            <a:extLst>
              <a:ext uri="{FF2B5EF4-FFF2-40B4-BE49-F238E27FC236}">
                <a16:creationId xmlns:a16="http://schemas.microsoft.com/office/drawing/2014/main" id="{48EDFAB3-70B8-87C3-19CD-6A77BFD06767}"/>
              </a:ext>
            </a:extLst>
          </p:cNvPr>
          <p:cNvSpPr txBox="1"/>
          <p:nvPr/>
        </p:nvSpPr>
        <p:spPr>
          <a:xfrm>
            <a:off x="698500" y="317500"/>
            <a:ext cx="10795000" cy="353943"/>
          </a:xfrm>
          <a:prstGeom prst="rect">
            <a:avLst/>
          </a:prstGeom>
          <a:noFill/>
        </p:spPr>
        <p:txBody>
          <a:bodyPr vert="horz" wrap="square" lIns="0" tIns="0" rIns="0" bIns="0" rtlCol="0">
            <a:spAutoFit/>
          </a:bodyPr>
          <a:lstStyle/>
          <a:p>
            <a:pPr algn="ctr"/>
            <a:r>
              <a:rPr lang="es-ES" sz="2300" b="1">
                <a:solidFill>
                  <a:srgbClr val="74283D"/>
                </a:solidFill>
                <a:latin typeface="Aptos" panose="020B0004020202020204" pitchFamily="34" charset="0"/>
              </a:rPr>
              <a:t>UNIVERSIDAD NACIONAL DE SAN CRISTÓBAL DE HUAMANGA</a:t>
            </a:r>
          </a:p>
        </p:txBody>
      </p:sp>
      <p:sp>
        <p:nvSpPr>
          <p:cNvPr id="6" name="CuadroTexto 5">
            <a:extLst>
              <a:ext uri="{FF2B5EF4-FFF2-40B4-BE49-F238E27FC236}">
                <a16:creationId xmlns:a16="http://schemas.microsoft.com/office/drawing/2014/main" id="{E0292067-E28D-4066-66BB-703750248EC8}"/>
              </a:ext>
            </a:extLst>
          </p:cNvPr>
          <p:cNvSpPr txBox="1"/>
          <p:nvPr/>
        </p:nvSpPr>
        <p:spPr>
          <a:xfrm>
            <a:off x="698500" y="850900"/>
            <a:ext cx="10795000" cy="276999"/>
          </a:xfrm>
          <a:prstGeom prst="rect">
            <a:avLst/>
          </a:prstGeom>
          <a:noFill/>
        </p:spPr>
        <p:txBody>
          <a:bodyPr vert="horz" wrap="square" lIns="0" tIns="0" rIns="0" bIns="0" rtlCol="0">
            <a:spAutoFit/>
          </a:bodyPr>
          <a:lstStyle/>
          <a:p>
            <a:pPr algn="ctr"/>
            <a:r>
              <a:rPr lang="es-ES">
                <a:solidFill>
                  <a:srgbClr val="52677A"/>
                </a:solidFill>
                <a:latin typeface="Aptos" panose="020B0004020202020204" pitchFamily="34" charset="0"/>
              </a:rPr>
              <a:t>Escuela Profesional de Ingeniería de Sistemas</a:t>
            </a:r>
          </a:p>
        </p:txBody>
      </p:sp>
      <p:pic>
        <p:nvPicPr>
          <p:cNvPr id="8" name="Imagen 7">
            <a:extLst>
              <a:ext uri="{FF2B5EF4-FFF2-40B4-BE49-F238E27FC236}">
                <a16:creationId xmlns:a16="http://schemas.microsoft.com/office/drawing/2014/main" id="{EBE6BDF1-3BE3-4214-F0EF-6C872201791B}"/>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5327650" y="1333500"/>
            <a:ext cx="1536700" cy="2057400"/>
          </a:xfrm>
          <a:prstGeom prst="rect">
            <a:avLst/>
          </a:prstGeom>
        </p:spPr>
      </p:pic>
      <p:sp>
        <p:nvSpPr>
          <p:cNvPr id="9" name="CuadroTexto 8">
            <a:extLst>
              <a:ext uri="{FF2B5EF4-FFF2-40B4-BE49-F238E27FC236}">
                <a16:creationId xmlns:a16="http://schemas.microsoft.com/office/drawing/2014/main" id="{68C03F53-2C33-F73B-68D8-F750C766FA4C}"/>
              </a:ext>
            </a:extLst>
          </p:cNvPr>
          <p:cNvSpPr txBox="1"/>
          <p:nvPr/>
        </p:nvSpPr>
        <p:spPr>
          <a:xfrm>
            <a:off x="698500" y="3619500"/>
            <a:ext cx="10795000" cy="738664"/>
          </a:xfrm>
          <a:prstGeom prst="rect">
            <a:avLst/>
          </a:prstGeom>
          <a:noFill/>
        </p:spPr>
        <p:txBody>
          <a:bodyPr vert="horz" wrap="square" lIns="0" tIns="0" rIns="0" bIns="0" rtlCol="0">
            <a:spAutoFit/>
          </a:bodyPr>
          <a:lstStyle/>
          <a:p>
            <a:pPr algn="ctr"/>
            <a:r>
              <a:rPr lang="es-ES" sz="4800" b="1">
                <a:solidFill>
                  <a:srgbClr val="74283D"/>
                </a:solidFill>
                <a:latin typeface="Aptos" panose="020B0004020202020204" pitchFamily="34" charset="0"/>
              </a:rPr>
              <a:t>MayoristaPro B2B</a:t>
            </a:r>
          </a:p>
        </p:txBody>
      </p:sp>
      <p:sp>
        <p:nvSpPr>
          <p:cNvPr id="10" name="CuadroTexto 9">
            <a:extLst>
              <a:ext uri="{FF2B5EF4-FFF2-40B4-BE49-F238E27FC236}">
                <a16:creationId xmlns:a16="http://schemas.microsoft.com/office/drawing/2014/main" id="{1D6E2AA6-02D3-12DC-919A-9699377E5E65}"/>
              </a:ext>
            </a:extLst>
          </p:cNvPr>
          <p:cNvSpPr txBox="1"/>
          <p:nvPr/>
        </p:nvSpPr>
        <p:spPr>
          <a:xfrm>
            <a:off x="698500" y="4470400"/>
            <a:ext cx="10795000" cy="338554"/>
          </a:xfrm>
          <a:prstGeom prst="rect">
            <a:avLst/>
          </a:prstGeom>
          <a:noFill/>
        </p:spPr>
        <p:txBody>
          <a:bodyPr vert="horz" wrap="square" lIns="0" tIns="0" rIns="0" bIns="0" rtlCol="0">
            <a:spAutoFit/>
          </a:bodyPr>
          <a:lstStyle/>
          <a:p>
            <a:pPr algn="ctr"/>
            <a:r>
              <a:rPr lang="es-ES" sz="2200">
                <a:solidFill>
                  <a:srgbClr val="203447"/>
                </a:solidFill>
                <a:latin typeface="Aptos" panose="020B0004020202020204" pitchFamily="34" charset="0"/>
              </a:rPr>
              <a:t>Plataforma de comercialización mayorista en Ayacucho</a:t>
            </a:r>
          </a:p>
        </p:txBody>
      </p:sp>
      <p:sp>
        <p:nvSpPr>
          <p:cNvPr id="11" name="CuadroTexto 10">
            <a:extLst>
              <a:ext uri="{FF2B5EF4-FFF2-40B4-BE49-F238E27FC236}">
                <a16:creationId xmlns:a16="http://schemas.microsoft.com/office/drawing/2014/main" id="{68571AC7-2669-71CE-0C37-171CC296714A}"/>
              </a:ext>
            </a:extLst>
          </p:cNvPr>
          <p:cNvSpPr txBox="1"/>
          <p:nvPr/>
        </p:nvSpPr>
        <p:spPr>
          <a:xfrm>
            <a:off x="698500" y="5041900"/>
            <a:ext cx="10795000" cy="338554"/>
          </a:xfrm>
          <a:prstGeom prst="rect">
            <a:avLst/>
          </a:prstGeom>
          <a:noFill/>
        </p:spPr>
        <p:txBody>
          <a:bodyPr vert="horz" wrap="square" lIns="0" tIns="0" rIns="0" bIns="0" rtlCol="0">
            <a:spAutoFit/>
          </a:bodyPr>
          <a:lstStyle/>
          <a:p>
            <a:pPr algn="ctr"/>
            <a:r>
              <a:rPr lang="es-ES" sz="2200" b="1">
                <a:solidFill>
                  <a:srgbClr val="74283D"/>
                </a:solidFill>
                <a:latin typeface="Aptos" panose="020B0004020202020204" pitchFamily="34" charset="0"/>
              </a:rPr>
              <a:t>Arquitectura de Software</a:t>
            </a:r>
          </a:p>
        </p:txBody>
      </p:sp>
      <p:sp>
        <p:nvSpPr>
          <p:cNvPr id="12" name="CuadroTexto 11">
            <a:extLst>
              <a:ext uri="{FF2B5EF4-FFF2-40B4-BE49-F238E27FC236}">
                <a16:creationId xmlns:a16="http://schemas.microsoft.com/office/drawing/2014/main" id="{6A9A9957-3C09-776A-B9CF-D2A771F84DF9}"/>
              </a:ext>
            </a:extLst>
          </p:cNvPr>
          <p:cNvSpPr txBox="1"/>
          <p:nvPr/>
        </p:nvSpPr>
        <p:spPr>
          <a:xfrm>
            <a:off x="698500" y="5575300"/>
            <a:ext cx="10795000" cy="307777"/>
          </a:xfrm>
          <a:prstGeom prst="rect">
            <a:avLst/>
          </a:prstGeom>
          <a:noFill/>
        </p:spPr>
        <p:txBody>
          <a:bodyPr vert="horz" wrap="square" lIns="0" tIns="0" rIns="0" bIns="0" rtlCol="0">
            <a:spAutoFit/>
          </a:bodyPr>
          <a:lstStyle/>
          <a:p>
            <a:pPr algn="ctr"/>
            <a:r>
              <a:rPr lang="es-ES" sz="2000">
                <a:solidFill>
                  <a:srgbClr val="203447"/>
                </a:solidFill>
                <a:latin typeface="Aptos" panose="020B0004020202020204" pitchFamily="34" charset="0"/>
              </a:rPr>
              <a:t>Yeltsin Wilber Muñoz Corichahua</a:t>
            </a:r>
          </a:p>
        </p:txBody>
      </p:sp>
      <p:sp>
        <p:nvSpPr>
          <p:cNvPr id="13" name="CuadroTexto 12">
            <a:extLst>
              <a:ext uri="{FF2B5EF4-FFF2-40B4-BE49-F238E27FC236}">
                <a16:creationId xmlns:a16="http://schemas.microsoft.com/office/drawing/2014/main" id="{25448965-6AC8-26CC-E6A0-9A7AD2F90677}"/>
              </a:ext>
            </a:extLst>
          </p:cNvPr>
          <p:cNvSpPr txBox="1"/>
          <p:nvPr/>
        </p:nvSpPr>
        <p:spPr>
          <a:xfrm>
            <a:off x="698500" y="5981700"/>
            <a:ext cx="10795000" cy="276999"/>
          </a:xfrm>
          <a:prstGeom prst="rect">
            <a:avLst/>
          </a:prstGeom>
          <a:noFill/>
        </p:spPr>
        <p:txBody>
          <a:bodyPr vert="horz" wrap="square" lIns="0" tIns="0" rIns="0" bIns="0" rtlCol="0">
            <a:spAutoFit/>
          </a:bodyPr>
          <a:lstStyle/>
          <a:p>
            <a:pPr algn="ctr"/>
            <a:r>
              <a:rPr lang="es-ES">
                <a:solidFill>
                  <a:srgbClr val="52677A"/>
                </a:solidFill>
                <a:latin typeface="Aptos" panose="020B0004020202020204" pitchFamily="34" charset="0"/>
              </a:rPr>
              <a:t>Docente: Ing. Lizbeth Jaico Quispe</a:t>
            </a:r>
          </a:p>
        </p:txBody>
      </p:sp>
      <p:sp>
        <p:nvSpPr>
          <p:cNvPr id="14" name="CuadroTexto 13">
            <a:extLst>
              <a:ext uri="{FF2B5EF4-FFF2-40B4-BE49-F238E27FC236}">
                <a16:creationId xmlns:a16="http://schemas.microsoft.com/office/drawing/2014/main" id="{355F07C7-638C-ECCD-3284-8E65417DE479}"/>
              </a:ext>
            </a:extLst>
          </p:cNvPr>
          <p:cNvSpPr txBox="1"/>
          <p:nvPr/>
        </p:nvSpPr>
        <p:spPr>
          <a:xfrm>
            <a:off x="698500" y="6477000"/>
            <a:ext cx="10795000" cy="230832"/>
          </a:xfrm>
          <a:prstGeom prst="rect">
            <a:avLst/>
          </a:prstGeom>
          <a:noFill/>
        </p:spPr>
        <p:txBody>
          <a:bodyPr vert="horz" wrap="square" lIns="0" tIns="0" rIns="0" bIns="0" rtlCol="0">
            <a:spAutoFit/>
          </a:bodyPr>
          <a:lstStyle/>
          <a:p>
            <a:pPr algn="ctr"/>
            <a:r>
              <a:rPr lang="es-ES" sz="1500">
                <a:solidFill>
                  <a:srgbClr val="52677A"/>
                </a:solidFill>
                <a:latin typeface="Aptos" panose="020B0004020202020204" pitchFamily="34" charset="0"/>
              </a:rPr>
              <a:t>Ayacucho, Perú  /  2026</a:t>
            </a:r>
          </a:p>
        </p:txBody>
      </p:sp>
    </p:spTree>
    <p:extLst>
      <p:ext uri="{BB962C8B-B14F-4D97-AF65-F5344CB8AC3E}">
        <p14:creationId xmlns:p14="http://schemas.microsoft.com/office/powerpoint/2010/main" val="31569731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0EFD3DCA-FCAE-9295-DB01-7F736CE04D63}"/>
              </a:ext>
            </a:extLst>
          </p:cNvPr>
          <p:cNvSpPr txBox="1"/>
          <p:nvPr/>
        </p:nvSpPr>
        <p:spPr>
          <a:xfrm>
            <a:off x="533400" y="355600"/>
            <a:ext cx="11049000" cy="492443"/>
          </a:xfrm>
          <a:prstGeom prst="rect">
            <a:avLst/>
          </a:prstGeom>
          <a:noFill/>
        </p:spPr>
        <p:txBody>
          <a:bodyPr vert="horz" wrap="square" lIns="0" tIns="0" rIns="0" bIns="0" rtlCol="0">
            <a:spAutoFit/>
          </a:bodyPr>
          <a:lstStyle/>
          <a:p>
            <a:r>
              <a:rPr lang="es-ES" sz="3200" b="1">
                <a:solidFill>
                  <a:srgbClr val="102D4E"/>
                </a:solidFill>
                <a:latin typeface="Aptos" panose="020B0004020202020204" pitchFamily="34" charset="0"/>
              </a:rPr>
              <a:t>El problema de abastecimiento</a:t>
            </a:r>
          </a:p>
        </p:txBody>
      </p:sp>
      <p:sp>
        <p:nvSpPr>
          <p:cNvPr id="3" name="CuadroTexto 2">
            <a:extLst>
              <a:ext uri="{FF2B5EF4-FFF2-40B4-BE49-F238E27FC236}">
                <a16:creationId xmlns:a16="http://schemas.microsoft.com/office/drawing/2014/main" id="{4605A23C-E1D6-7439-C703-C4577FC06D26}"/>
              </a:ext>
            </a:extLst>
          </p:cNvPr>
          <p:cNvSpPr txBox="1"/>
          <p:nvPr/>
        </p:nvSpPr>
        <p:spPr>
          <a:xfrm>
            <a:off x="533400" y="6477000"/>
            <a:ext cx="6350000" cy="153888"/>
          </a:xfrm>
          <a:prstGeom prst="rect">
            <a:avLst/>
          </a:prstGeom>
          <a:noFill/>
        </p:spPr>
        <p:txBody>
          <a:bodyPr vert="horz" wrap="square" lIns="0" tIns="0" rIns="0" bIns="0" rtlCol="0">
            <a:spAutoFit/>
          </a:bodyPr>
          <a:lstStyle/>
          <a:p>
            <a:r>
              <a:rPr lang="es-ES" sz="1000">
                <a:solidFill>
                  <a:srgbClr val="52677A"/>
                </a:solidFill>
                <a:latin typeface="Aptos" panose="020B0004020202020204" pitchFamily="34" charset="0"/>
              </a:rPr>
              <a:t>MAYORISTAPRO  /  SPRINT 01</a:t>
            </a:r>
          </a:p>
        </p:txBody>
      </p:sp>
      <p:sp>
        <p:nvSpPr>
          <p:cNvPr id="4" name="CuadroTexto 3">
            <a:extLst>
              <a:ext uri="{FF2B5EF4-FFF2-40B4-BE49-F238E27FC236}">
                <a16:creationId xmlns:a16="http://schemas.microsoft.com/office/drawing/2014/main" id="{D6874C4D-9BB2-749C-E0CF-7567A77A08EF}"/>
              </a:ext>
            </a:extLst>
          </p:cNvPr>
          <p:cNvSpPr txBox="1"/>
          <p:nvPr/>
        </p:nvSpPr>
        <p:spPr>
          <a:xfrm>
            <a:off x="11176000" y="6477000"/>
            <a:ext cx="444500" cy="169277"/>
          </a:xfrm>
          <a:prstGeom prst="rect">
            <a:avLst/>
          </a:prstGeom>
          <a:noFill/>
        </p:spPr>
        <p:txBody>
          <a:bodyPr vert="horz" wrap="square" lIns="0" tIns="0" rIns="0" bIns="0" rtlCol="0">
            <a:spAutoFit/>
          </a:bodyPr>
          <a:lstStyle/>
          <a:p>
            <a:r>
              <a:rPr lang="es-ES" sz="1100">
                <a:solidFill>
                  <a:srgbClr val="52677A"/>
                </a:solidFill>
                <a:latin typeface="Aptos" panose="020B0004020202020204" pitchFamily="34" charset="0"/>
              </a:rPr>
              <a:t>2</a:t>
            </a:r>
          </a:p>
        </p:txBody>
      </p:sp>
      <p:sp>
        <p:nvSpPr>
          <p:cNvPr id="5" name="CuadroTexto 4">
            <a:extLst>
              <a:ext uri="{FF2B5EF4-FFF2-40B4-BE49-F238E27FC236}">
                <a16:creationId xmlns:a16="http://schemas.microsoft.com/office/drawing/2014/main" id="{27A0B78F-5F02-D0D5-F8E8-81BBF3ACE01D}"/>
              </a:ext>
            </a:extLst>
          </p:cNvPr>
          <p:cNvSpPr txBox="1"/>
          <p:nvPr/>
        </p:nvSpPr>
        <p:spPr>
          <a:xfrm>
            <a:off x="533400" y="1371600"/>
            <a:ext cx="11125200" cy="384721"/>
          </a:xfrm>
          <a:prstGeom prst="rect">
            <a:avLst/>
          </a:prstGeom>
          <a:noFill/>
        </p:spPr>
        <p:txBody>
          <a:bodyPr vert="horz" wrap="square" lIns="0" tIns="0" rIns="0" bIns="0" rtlCol="0">
            <a:spAutoFit/>
          </a:bodyPr>
          <a:lstStyle/>
          <a:p>
            <a:r>
              <a:rPr lang="es-ES" sz="2500" b="1">
                <a:solidFill>
                  <a:srgbClr val="1269B0"/>
                </a:solidFill>
                <a:latin typeface="Aptos" panose="020B0004020202020204" pitchFamily="34" charset="0"/>
              </a:rPr>
              <a:t>Situación que aborda el proyecto</a:t>
            </a:r>
          </a:p>
        </p:txBody>
      </p:sp>
      <p:sp>
        <p:nvSpPr>
          <p:cNvPr id="6" name="CuadroTexto 5">
            <a:extLst>
              <a:ext uri="{FF2B5EF4-FFF2-40B4-BE49-F238E27FC236}">
                <a16:creationId xmlns:a16="http://schemas.microsoft.com/office/drawing/2014/main" id="{C0E51214-6E45-5A5E-D6DC-3DB3CE2A447B}"/>
              </a:ext>
            </a:extLst>
          </p:cNvPr>
          <p:cNvSpPr txBox="1"/>
          <p:nvPr/>
        </p:nvSpPr>
        <p:spPr>
          <a:xfrm>
            <a:off x="533400" y="1993900"/>
            <a:ext cx="11125200" cy="1061829"/>
          </a:xfrm>
          <a:prstGeom prst="rect">
            <a:avLst/>
          </a:prstGeom>
          <a:noFill/>
        </p:spPr>
        <p:txBody>
          <a:bodyPr vert="horz" wrap="square" lIns="0" tIns="0" rIns="0" bIns="0" rtlCol="0">
            <a:spAutoFit/>
          </a:bodyPr>
          <a:lstStyle/>
          <a:p>
            <a:r>
              <a:rPr lang="es-ES" sz="2300">
                <a:solidFill>
                  <a:srgbClr val="203447"/>
                </a:solidFill>
                <a:latin typeface="Aptos" panose="020B0004020202020204" pitchFamily="34" charset="0"/>
              </a:rPr>
              <a:t>Los negocios compradores de Ayacucho necesitan encontrar proveedores mayoristas y reunir información sobre productos, precios por volumen y condiciones de entrega antes de abastecerse.</a:t>
            </a:r>
          </a:p>
        </p:txBody>
      </p:sp>
      <p:sp>
        <p:nvSpPr>
          <p:cNvPr id="7" name="CuadroTexto 6">
            <a:extLst>
              <a:ext uri="{FF2B5EF4-FFF2-40B4-BE49-F238E27FC236}">
                <a16:creationId xmlns:a16="http://schemas.microsoft.com/office/drawing/2014/main" id="{933DEF60-67E4-3145-38D2-FCD8A9DE70CF}"/>
              </a:ext>
            </a:extLst>
          </p:cNvPr>
          <p:cNvSpPr txBox="1"/>
          <p:nvPr/>
        </p:nvSpPr>
        <p:spPr>
          <a:xfrm>
            <a:off x="533400" y="3302000"/>
            <a:ext cx="3302000" cy="353943"/>
          </a:xfrm>
          <a:prstGeom prst="rect">
            <a:avLst/>
          </a:prstGeom>
          <a:noFill/>
        </p:spPr>
        <p:txBody>
          <a:bodyPr vert="horz" wrap="square" lIns="0" tIns="0" rIns="0" bIns="0" rtlCol="0">
            <a:spAutoFit/>
          </a:bodyPr>
          <a:lstStyle/>
          <a:p>
            <a:r>
              <a:rPr lang="es-ES" sz="2300" b="1">
                <a:solidFill>
                  <a:srgbClr val="1269B0"/>
                </a:solidFill>
                <a:latin typeface="Aptos" panose="020B0004020202020204" pitchFamily="34" charset="0"/>
              </a:rPr>
              <a:t>Dificultad principal</a:t>
            </a:r>
          </a:p>
        </p:txBody>
      </p:sp>
      <p:sp>
        <p:nvSpPr>
          <p:cNvPr id="8" name="CuadroTexto 7">
            <a:extLst>
              <a:ext uri="{FF2B5EF4-FFF2-40B4-BE49-F238E27FC236}">
                <a16:creationId xmlns:a16="http://schemas.microsoft.com/office/drawing/2014/main" id="{61EE4F83-AD17-5CA5-EDEB-903473A87884}"/>
              </a:ext>
            </a:extLst>
          </p:cNvPr>
          <p:cNvSpPr txBox="1"/>
          <p:nvPr/>
        </p:nvSpPr>
        <p:spPr>
          <a:xfrm>
            <a:off x="4064000" y="3276600"/>
            <a:ext cx="7594600" cy="1354217"/>
          </a:xfrm>
          <a:prstGeom prst="rect">
            <a:avLst/>
          </a:prstGeom>
          <a:noFill/>
        </p:spPr>
        <p:txBody>
          <a:bodyPr vert="horz" wrap="square" lIns="0" tIns="0" rIns="0" bIns="0" rtlCol="0">
            <a:spAutoFit/>
          </a:bodyPr>
          <a:lstStyle/>
          <a:p>
            <a:r>
              <a:rPr lang="es-ES" sz="2200">
                <a:solidFill>
                  <a:srgbClr val="203447"/>
                </a:solidFill>
                <a:latin typeface="Aptos" panose="020B0004020202020204" pitchFamily="34" charset="0"/>
              </a:rPr>
              <a:t>La decisión de compra requiere comparar ofertas, confirmar existencias y conservar las condiciones acordadas. El seguimiento también exige que comprador y proveedor conozcan el estado del pedido.</a:t>
            </a:r>
          </a:p>
        </p:txBody>
      </p:sp>
      <p:sp>
        <p:nvSpPr>
          <p:cNvPr id="9" name="CuadroTexto 8">
            <a:extLst>
              <a:ext uri="{FF2B5EF4-FFF2-40B4-BE49-F238E27FC236}">
                <a16:creationId xmlns:a16="http://schemas.microsoft.com/office/drawing/2014/main" id="{144F0D47-61A3-1F9D-44C1-DE71CD637343}"/>
              </a:ext>
            </a:extLst>
          </p:cNvPr>
          <p:cNvSpPr txBox="1"/>
          <p:nvPr/>
        </p:nvSpPr>
        <p:spPr>
          <a:xfrm>
            <a:off x="533400" y="4991100"/>
            <a:ext cx="3302000" cy="353943"/>
          </a:xfrm>
          <a:prstGeom prst="rect">
            <a:avLst/>
          </a:prstGeom>
          <a:noFill/>
        </p:spPr>
        <p:txBody>
          <a:bodyPr vert="horz" wrap="square" lIns="0" tIns="0" rIns="0" bIns="0" rtlCol="0">
            <a:spAutoFit/>
          </a:bodyPr>
          <a:lstStyle/>
          <a:p>
            <a:r>
              <a:rPr lang="es-ES" sz="2300" b="1">
                <a:solidFill>
                  <a:srgbClr val="1269B0"/>
                </a:solidFill>
                <a:latin typeface="Aptos" panose="020B0004020202020204" pitchFamily="34" charset="0"/>
              </a:rPr>
              <a:t>Ejemplo</a:t>
            </a:r>
          </a:p>
        </p:txBody>
      </p:sp>
      <p:sp>
        <p:nvSpPr>
          <p:cNvPr id="10" name="CuadroTexto 9">
            <a:extLst>
              <a:ext uri="{FF2B5EF4-FFF2-40B4-BE49-F238E27FC236}">
                <a16:creationId xmlns:a16="http://schemas.microsoft.com/office/drawing/2014/main" id="{654F7698-BDC6-951A-557A-BC1022988895}"/>
              </a:ext>
            </a:extLst>
          </p:cNvPr>
          <p:cNvSpPr txBox="1"/>
          <p:nvPr/>
        </p:nvSpPr>
        <p:spPr>
          <a:xfrm>
            <a:off x="4064000" y="4965700"/>
            <a:ext cx="7594600" cy="1015663"/>
          </a:xfrm>
          <a:prstGeom prst="rect">
            <a:avLst/>
          </a:prstGeom>
          <a:noFill/>
        </p:spPr>
        <p:txBody>
          <a:bodyPr vert="horz" wrap="square" lIns="0" tIns="0" rIns="0" bIns="0" rtlCol="0">
            <a:spAutoFit/>
          </a:bodyPr>
          <a:lstStyle/>
          <a:p>
            <a:r>
              <a:rPr lang="es-ES" sz="2200">
                <a:solidFill>
                  <a:srgbClr val="203447"/>
                </a:solidFill>
                <a:latin typeface="Aptos" panose="020B0004020202020204" pitchFamily="34" charset="0"/>
              </a:rPr>
              <a:t>Una librería busca útiles al por mayor y necesita saber quién puede atender su solicitud, a qué precio y bajo qué condiciones.</a:t>
            </a:r>
          </a:p>
        </p:txBody>
      </p:sp>
      <p:sp>
        <p:nvSpPr>
          <p:cNvPr id="11" name="CuadroTexto 10">
            <a:extLst>
              <a:ext uri="{FF2B5EF4-FFF2-40B4-BE49-F238E27FC236}">
                <a16:creationId xmlns:a16="http://schemas.microsoft.com/office/drawing/2014/main" id="{3BB59C5F-575D-59B8-2F80-CD84C68BEDE4}"/>
              </a:ext>
            </a:extLst>
          </p:cNvPr>
          <p:cNvSpPr txBox="1"/>
          <p:nvPr/>
        </p:nvSpPr>
        <p:spPr>
          <a:xfrm>
            <a:off x="533400" y="6096000"/>
            <a:ext cx="11125200" cy="246221"/>
          </a:xfrm>
          <a:prstGeom prst="rect">
            <a:avLst/>
          </a:prstGeom>
          <a:noFill/>
        </p:spPr>
        <p:txBody>
          <a:bodyPr vert="horz" wrap="square" lIns="0" tIns="0" rIns="0" bIns="0" rtlCol="0">
            <a:spAutoFit/>
          </a:bodyPr>
          <a:lstStyle/>
          <a:p>
            <a:r>
              <a:rPr lang="es-ES" sz="1600">
                <a:solidFill>
                  <a:srgbClr val="52677A"/>
                </a:solidFill>
                <a:latin typeface="Aptos" panose="020B0004020202020204" pitchFamily="34" charset="0"/>
              </a:rPr>
              <a:t>Supuestos del proyecto pendientes de validación con negocios locales</a:t>
            </a:r>
          </a:p>
        </p:txBody>
      </p:sp>
    </p:spTree>
    <p:extLst>
      <p:ext uri="{BB962C8B-B14F-4D97-AF65-F5344CB8AC3E}">
        <p14:creationId xmlns:p14="http://schemas.microsoft.com/office/powerpoint/2010/main" val="164351407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9422EF00-A0B7-6798-61BD-B857A4E429B4}"/>
              </a:ext>
            </a:extLst>
          </p:cNvPr>
          <p:cNvSpPr txBox="1"/>
          <p:nvPr/>
        </p:nvSpPr>
        <p:spPr>
          <a:xfrm>
            <a:off x="533400" y="355600"/>
            <a:ext cx="11049000" cy="492443"/>
          </a:xfrm>
          <a:prstGeom prst="rect">
            <a:avLst/>
          </a:prstGeom>
          <a:noFill/>
        </p:spPr>
        <p:txBody>
          <a:bodyPr vert="horz" wrap="square" lIns="0" tIns="0" rIns="0" bIns="0" rtlCol="0">
            <a:spAutoFit/>
          </a:bodyPr>
          <a:lstStyle/>
          <a:p>
            <a:r>
              <a:rPr lang="es-ES" sz="3200" b="1">
                <a:solidFill>
                  <a:srgbClr val="102D4E"/>
                </a:solidFill>
                <a:latin typeface="Aptos" panose="020B0004020202020204" pitchFamily="34" charset="0"/>
              </a:rPr>
              <a:t>La propuesta de MayoristaPro</a:t>
            </a:r>
          </a:p>
        </p:txBody>
      </p:sp>
      <p:sp>
        <p:nvSpPr>
          <p:cNvPr id="3" name="CuadroTexto 2">
            <a:extLst>
              <a:ext uri="{FF2B5EF4-FFF2-40B4-BE49-F238E27FC236}">
                <a16:creationId xmlns:a16="http://schemas.microsoft.com/office/drawing/2014/main" id="{C614B293-7E26-00BB-5C1E-4BB92C854B4D}"/>
              </a:ext>
            </a:extLst>
          </p:cNvPr>
          <p:cNvSpPr txBox="1"/>
          <p:nvPr/>
        </p:nvSpPr>
        <p:spPr>
          <a:xfrm>
            <a:off x="533400" y="6477000"/>
            <a:ext cx="6350000" cy="153888"/>
          </a:xfrm>
          <a:prstGeom prst="rect">
            <a:avLst/>
          </a:prstGeom>
          <a:noFill/>
        </p:spPr>
        <p:txBody>
          <a:bodyPr vert="horz" wrap="square" lIns="0" tIns="0" rIns="0" bIns="0" rtlCol="0">
            <a:spAutoFit/>
          </a:bodyPr>
          <a:lstStyle/>
          <a:p>
            <a:r>
              <a:rPr lang="es-ES" sz="1000">
                <a:solidFill>
                  <a:srgbClr val="52677A"/>
                </a:solidFill>
                <a:latin typeface="Aptos" panose="020B0004020202020204" pitchFamily="34" charset="0"/>
              </a:rPr>
              <a:t>MAYORISTAPRO  /  SPRINT 01</a:t>
            </a:r>
          </a:p>
        </p:txBody>
      </p:sp>
      <p:sp>
        <p:nvSpPr>
          <p:cNvPr id="4" name="CuadroTexto 3">
            <a:extLst>
              <a:ext uri="{FF2B5EF4-FFF2-40B4-BE49-F238E27FC236}">
                <a16:creationId xmlns:a16="http://schemas.microsoft.com/office/drawing/2014/main" id="{C264A965-36BE-0B7C-58BC-9E1265599C2F}"/>
              </a:ext>
            </a:extLst>
          </p:cNvPr>
          <p:cNvSpPr txBox="1"/>
          <p:nvPr/>
        </p:nvSpPr>
        <p:spPr>
          <a:xfrm>
            <a:off x="11176000" y="6477000"/>
            <a:ext cx="444500" cy="169277"/>
          </a:xfrm>
          <a:prstGeom prst="rect">
            <a:avLst/>
          </a:prstGeom>
          <a:noFill/>
        </p:spPr>
        <p:txBody>
          <a:bodyPr vert="horz" wrap="square" lIns="0" tIns="0" rIns="0" bIns="0" rtlCol="0">
            <a:spAutoFit/>
          </a:bodyPr>
          <a:lstStyle/>
          <a:p>
            <a:r>
              <a:rPr lang="es-ES" sz="1100">
                <a:solidFill>
                  <a:srgbClr val="52677A"/>
                </a:solidFill>
                <a:latin typeface="Aptos" panose="020B0004020202020204" pitchFamily="34" charset="0"/>
              </a:rPr>
              <a:t>3</a:t>
            </a:r>
          </a:p>
        </p:txBody>
      </p:sp>
      <p:sp>
        <p:nvSpPr>
          <p:cNvPr id="5" name="CuadroTexto 4">
            <a:extLst>
              <a:ext uri="{FF2B5EF4-FFF2-40B4-BE49-F238E27FC236}">
                <a16:creationId xmlns:a16="http://schemas.microsoft.com/office/drawing/2014/main" id="{6E4DD422-D2FC-DD62-1DF9-427ECD7AF5A9}"/>
              </a:ext>
            </a:extLst>
          </p:cNvPr>
          <p:cNvSpPr txBox="1"/>
          <p:nvPr/>
        </p:nvSpPr>
        <p:spPr>
          <a:xfrm>
            <a:off x="533400" y="1371600"/>
            <a:ext cx="11125200" cy="384721"/>
          </a:xfrm>
          <a:prstGeom prst="rect">
            <a:avLst/>
          </a:prstGeom>
          <a:noFill/>
        </p:spPr>
        <p:txBody>
          <a:bodyPr vert="horz" wrap="square" lIns="0" tIns="0" rIns="0" bIns="0" rtlCol="0">
            <a:spAutoFit/>
          </a:bodyPr>
          <a:lstStyle/>
          <a:p>
            <a:r>
              <a:rPr lang="es-ES" sz="2500" b="1">
                <a:solidFill>
                  <a:srgbClr val="1269B0"/>
                </a:solidFill>
                <a:latin typeface="Aptos" panose="020B0004020202020204" pitchFamily="34" charset="0"/>
              </a:rPr>
              <a:t>Una plataforma web para la compra entre empresas</a:t>
            </a:r>
          </a:p>
        </p:txBody>
      </p:sp>
      <p:sp>
        <p:nvSpPr>
          <p:cNvPr id="6" name="CuadroTexto 5">
            <a:extLst>
              <a:ext uri="{FF2B5EF4-FFF2-40B4-BE49-F238E27FC236}">
                <a16:creationId xmlns:a16="http://schemas.microsoft.com/office/drawing/2014/main" id="{F349A70A-132D-50C4-DC32-B8A0AAF2B58E}"/>
              </a:ext>
            </a:extLst>
          </p:cNvPr>
          <p:cNvSpPr txBox="1"/>
          <p:nvPr/>
        </p:nvSpPr>
        <p:spPr>
          <a:xfrm>
            <a:off x="533400" y="1993900"/>
            <a:ext cx="11125200" cy="1061829"/>
          </a:xfrm>
          <a:prstGeom prst="rect">
            <a:avLst/>
          </a:prstGeom>
          <a:noFill/>
        </p:spPr>
        <p:txBody>
          <a:bodyPr vert="horz" wrap="square" lIns="0" tIns="0" rIns="0" bIns="0" rtlCol="0">
            <a:spAutoFit/>
          </a:bodyPr>
          <a:lstStyle/>
          <a:p>
            <a:r>
              <a:rPr lang="es-ES" sz="2300">
                <a:solidFill>
                  <a:srgbClr val="203447"/>
                </a:solidFill>
                <a:latin typeface="Aptos" panose="020B0004020202020204" pitchFamily="34" charset="0"/>
              </a:rPr>
              <a:t>MayoristaPro propone reunir el catálogo, las cotizaciones y los pedidos en un mismo sistema. El comprador podrá consultar productos y solicitar una oferta; el proveedor responderá con sus precios y condiciones.</a:t>
            </a:r>
          </a:p>
        </p:txBody>
      </p:sp>
      <p:sp>
        <p:nvSpPr>
          <p:cNvPr id="7" name="CuadroTexto 6">
            <a:extLst>
              <a:ext uri="{FF2B5EF4-FFF2-40B4-BE49-F238E27FC236}">
                <a16:creationId xmlns:a16="http://schemas.microsoft.com/office/drawing/2014/main" id="{35AECD85-0BFF-CF87-FFC3-497E573ECD9B}"/>
              </a:ext>
            </a:extLst>
          </p:cNvPr>
          <p:cNvSpPr txBox="1"/>
          <p:nvPr/>
        </p:nvSpPr>
        <p:spPr>
          <a:xfrm>
            <a:off x="533400" y="3429000"/>
            <a:ext cx="3302000" cy="353943"/>
          </a:xfrm>
          <a:prstGeom prst="rect">
            <a:avLst/>
          </a:prstGeom>
          <a:noFill/>
        </p:spPr>
        <p:txBody>
          <a:bodyPr vert="horz" wrap="square" lIns="0" tIns="0" rIns="0" bIns="0" rtlCol="0">
            <a:spAutoFit/>
          </a:bodyPr>
          <a:lstStyle/>
          <a:p>
            <a:r>
              <a:rPr lang="es-ES" sz="2300" b="1">
                <a:solidFill>
                  <a:srgbClr val="0F776F"/>
                </a:solidFill>
                <a:latin typeface="Aptos" panose="020B0004020202020204" pitchFamily="34" charset="0"/>
              </a:rPr>
              <a:t>Proceso de compra</a:t>
            </a:r>
          </a:p>
        </p:txBody>
      </p:sp>
      <p:sp>
        <p:nvSpPr>
          <p:cNvPr id="8" name="CuadroTexto 7">
            <a:extLst>
              <a:ext uri="{FF2B5EF4-FFF2-40B4-BE49-F238E27FC236}">
                <a16:creationId xmlns:a16="http://schemas.microsoft.com/office/drawing/2014/main" id="{C4EB3D98-1938-77FF-B629-5B9CABECF5FC}"/>
              </a:ext>
            </a:extLst>
          </p:cNvPr>
          <p:cNvSpPr txBox="1"/>
          <p:nvPr/>
        </p:nvSpPr>
        <p:spPr>
          <a:xfrm>
            <a:off x="4064000" y="3403600"/>
            <a:ext cx="7594600" cy="1354217"/>
          </a:xfrm>
          <a:prstGeom prst="rect">
            <a:avLst/>
          </a:prstGeom>
          <a:noFill/>
        </p:spPr>
        <p:txBody>
          <a:bodyPr vert="horz" wrap="square" lIns="0" tIns="0" rIns="0" bIns="0" rtlCol="0">
            <a:spAutoFit/>
          </a:bodyPr>
          <a:lstStyle/>
          <a:p>
            <a:r>
              <a:rPr lang="es-ES" sz="2200">
                <a:solidFill>
                  <a:srgbClr val="203447"/>
                </a:solidFill>
                <a:latin typeface="Aptos" panose="020B0004020202020204" pitchFamily="34" charset="0"/>
              </a:rPr>
              <a:t>Al aceptar una oferta, el comprador podrá generar un pedido. El sistema verificará el stock y guardará las cantidades y los precios acordados para que ambas partes consulten la operación.</a:t>
            </a:r>
          </a:p>
        </p:txBody>
      </p:sp>
      <p:sp>
        <p:nvSpPr>
          <p:cNvPr id="9" name="CuadroTexto 8">
            <a:extLst>
              <a:ext uri="{FF2B5EF4-FFF2-40B4-BE49-F238E27FC236}">
                <a16:creationId xmlns:a16="http://schemas.microsoft.com/office/drawing/2014/main" id="{75C9B267-B3A7-691D-1E18-7543EE2B6209}"/>
              </a:ext>
            </a:extLst>
          </p:cNvPr>
          <p:cNvSpPr txBox="1"/>
          <p:nvPr/>
        </p:nvSpPr>
        <p:spPr>
          <a:xfrm>
            <a:off x="533400" y="5130800"/>
            <a:ext cx="3302000" cy="353943"/>
          </a:xfrm>
          <a:prstGeom prst="rect">
            <a:avLst/>
          </a:prstGeom>
          <a:noFill/>
        </p:spPr>
        <p:txBody>
          <a:bodyPr vert="horz" wrap="square" lIns="0" tIns="0" rIns="0" bIns="0" rtlCol="0">
            <a:spAutoFit/>
          </a:bodyPr>
          <a:lstStyle/>
          <a:p>
            <a:r>
              <a:rPr lang="es-ES" sz="2300" b="1">
                <a:solidFill>
                  <a:srgbClr val="0F776F"/>
                </a:solidFill>
                <a:latin typeface="Aptos" panose="020B0004020202020204" pitchFamily="34" charset="0"/>
              </a:rPr>
              <a:t>Resultado esperado</a:t>
            </a:r>
          </a:p>
        </p:txBody>
      </p:sp>
      <p:sp>
        <p:nvSpPr>
          <p:cNvPr id="10" name="CuadroTexto 9">
            <a:extLst>
              <a:ext uri="{FF2B5EF4-FFF2-40B4-BE49-F238E27FC236}">
                <a16:creationId xmlns:a16="http://schemas.microsoft.com/office/drawing/2014/main" id="{F2BB7C2E-81BC-D7F0-2469-2B50DC969CC3}"/>
              </a:ext>
            </a:extLst>
          </p:cNvPr>
          <p:cNvSpPr txBox="1"/>
          <p:nvPr/>
        </p:nvSpPr>
        <p:spPr>
          <a:xfrm>
            <a:off x="4064000" y="5105400"/>
            <a:ext cx="7594600" cy="1015663"/>
          </a:xfrm>
          <a:prstGeom prst="rect">
            <a:avLst/>
          </a:prstGeom>
          <a:noFill/>
        </p:spPr>
        <p:txBody>
          <a:bodyPr vert="horz" wrap="square" lIns="0" tIns="0" rIns="0" bIns="0" rtlCol="0">
            <a:spAutoFit/>
          </a:bodyPr>
          <a:lstStyle/>
          <a:p>
            <a:r>
              <a:rPr lang="es-ES" sz="2200">
                <a:solidFill>
                  <a:srgbClr val="203447"/>
                </a:solidFill>
                <a:latin typeface="Aptos" panose="020B0004020202020204" pitchFamily="34" charset="0"/>
              </a:rPr>
              <a:t>Contar con información organizada para decidir la compra y dar seguimiento al pedido, evitando reservar más unidades de las disponibles.</a:t>
            </a:r>
          </a:p>
        </p:txBody>
      </p:sp>
    </p:spTree>
    <p:extLst>
      <p:ext uri="{BB962C8B-B14F-4D97-AF65-F5344CB8AC3E}">
        <p14:creationId xmlns:p14="http://schemas.microsoft.com/office/powerpoint/2010/main" val="11078319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505EB979-5442-9E97-BF32-E2BB4D4FECCC}"/>
              </a:ext>
            </a:extLst>
          </p:cNvPr>
          <p:cNvSpPr txBox="1"/>
          <p:nvPr/>
        </p:nvSpPr>
        <p:spPr>
          <a:xfrm>
            <a:off x="533400" y="355600"/>
            <a:ext cx="11049000" cy="492443"/>
          </a:xfrm>
          <a:prstGeom prst="rect">
            <a:avLst/>
          </a:prstGeom>
          <a:noFill/>
        </p:spPr>
        <p:txBody>
          <a:bodyPr vert="horz" wrap="square" lIns="0" tIns="0" rIns="0" bIns="0" rtlCol="0">
            <a:spAutoFit/>
          </a:bodyPr>
          <a:lstStyle/>
          <a:p>
            <a:r>
              <a:rPr lang="es-ES" sz="3200" b="1">
                <a:solidFill>
                  <a:srgbClr val="102D4E"/>
                </a:solidFill>
                <a:latin typeface="Aptos" panose="020B0004020202020204" pitchFamily="34" charset="0"/>
              </a:rPr>
              <a:t>Actores y funciones principales</a:t>
            </a:r>
          </a:p>
        </p:txBody>
      </p:sp>
      <p:sp>
        <p:nvSpPr>
          <p:cNvPr id="3" name="CuadroTexto 2">
            <a:extLst>
              <a:ext uri="{FF2B5EF4-FFF2-40B4-BE49-F238E27FC236}">
                <a16:creationId xmlns:a16="http://schemas.microsoft.com/office/drawing/2014/main" id="{D9813369-157B-79F8-0BDD-6E65325112C7}"/>
              </a:ext>
            </a:extLst>
          </p:cNvPr>
          <p:cNvSpPr txBox="1"/>
          <p:nvPr/>
        </p:nvSpPr>
        <p:spPr>
          <a:xfrm>
            <a:off x="533400" y="6477000"/>
            <a:ext cx="6350000" cy="153888"/>
          </a:xfrm>
          <a:prstGeom prst="rect">
            <a:avLst/>
          </a:prstGeom>
          <a:noFill/>
        </p:spPr>
        <p:txBody>
          <a:bodyPr vert="horz" wrap="square" lIns="0" tIns="0" rIns="0" bIns="0" rtlCol="0">
            <a:spAutoFit/>
          </a:bodyPr>
          <a:lstStyle/>
          <a:p>
            <a:r>
              <a:rPr lang="es-ES" sz="1000">
                <a:solidFill>
                  <a:srgbClr val="52677A"/>
                </a:solidFill>
                <a:latin typeface="Aptos" panose="020B0004020202020204" pitchFamily="34" charset="0"/>
              </a:rPr>
              <a:t>MAYORISTAPRO  /  SPRINT 01</a:t>
            </a:r>
          </a:p>
        </p:txBody>
      </p:sp>
      <p:sp>
        <p:nvSpPr>
          <p:cNvPr id="4" name="CuadroTexto 3">
            <a:extLst>
              <a:ext uri="{FF2B5EF4-FFF2-40B4-BE49-F238E27FC236}">
                <a16:creationId xmlns:a16="http://schemas.microsoft.com/office/drawing/2014/main" id="{E17ED293-4A9E-5BCB-F3BF-D7D9518B1365}"/>
              </a:ext>
            </a:extLst>
          </p:cNvPr>
          <p:cNvSpPr txBox="1"/>
          <p:nvPr/>
        </p:nvSpPr>
        <p:spPr>
          <a:xfrm>
            <a:off x="11176000" y="6477000"/>
            <a:ext cx="444500" cy="169277"/>
          </a:xfrm>
          <a:prstGeom prst="rect">
            <a:avLst/>
          </a:prstGeom>
          <a:noFill/>
        </p:spPr>
        <p:txBody>
          <a:bodyPr vert="horz" wrap="square" lIns="0" tIns="0" rIns="0" bIns="0" rtlCol="0">
            <a:spAutoFit/>
          </a:bodyPr>
          <a:lstStyle/>
          <a:p>
            <a:r>
              <a:rPr lang="es-ES" sz="1100">
                <a:solidFill>
                  <a:srgbClr val="52677A"/>
                </a:solidFill>
                <a:latin typeface="Aptos" panose="020B0004020202020204" pitchFamily="34" charset="0"/>
              </a:rPr>
              <a:t>4</a:t>
            </a:r>
          </a:p>
        </p:txBody>
      </p:sp>
      <p:graphicFrame>
        <p:nvGraphicFramePr>
          <p:cNvPr id="5" name="Tabla 4">
            <a:extLst>
              <a:ext uri="{FF2B5EF4-FFF2-40B4-BE49-F238E27FC236}">
                <a16:creationId xmlns:a16="http://schemas.microsoft.com/office/drawing/2014/main" id="{99D09E82-CCF2-8308-BF85-BA6513C6A8B0}"/>
              </a:ext>
            </a:extLst>
          </p:cNvPr>
          <p:cNvGraphicFramePr>
            <a:graphicFrameLocks noGrp="1"/>
          </p:cNvGraphicFramePr>
          <p:nvPr>
            <p:extLst>
              <p:ext uri="{D42A27DB-BD31-4B8C-83A1-F6EECF244321}">
                <p14:modId xmlns:p14="http://schemas.microsoft.com/office/powerpoint/2010/main" val="3393548157"/>
              </p:ext>
            </p:extLst>
          </p:nvPr>
        </p:nvGraphicFramePr>
        <p:xfrm>
          <a:off x="533400" y="1524000"/>
          <a:ext cx="11125200" cy="3937000"/>
        </p:xfrm>
        <a:graphic>
          <a:graphicData uri="http://schemas.openxmlformats.org/drawingml/2006/table">
            <a:tbl>
              <a:tblPr firstRow="1" bandRow="1">
                <a:tableStyleId>{5C22544A-7EE6-4342-B048-85BDC9FD1C3A}</a:tableStyleId>
              </a:tblPr>
              <a:tblGrid>
                <a:gridCol w="3238500">
                  <a:extLst>
                    <a:ext uri="{9D8B030D-6E8A-4147-A177-3AD203B41FA5}">
                      <a16:colId xmlns:a16="http://schemas.microsoft.com/office/drawing/2014/main" val="4166197113"/>
                    </a:ext>
                  </a:extLst>
                </a:gridCol>
                <a:gridCol w="7886700">
                  <a:extLst>
                    <a:ext uri="{9D8B030D-6E8A-4147-A177-3AD203B41FA5}">
                      <a16:colId xmlns:a16="http://schemas.microsoft.com/office/drawing/2014/main" val="3967262282"/>
                    </a:ext>
                  </a:extLst>
                </a:gridCol>
              </a:tblGrid>
              <a:tr h="984250">
                <a:tc>
                  <a:txBody>
                    <a:bodyPr/>
                    <a:lstStyle/>
                    <a:p>
                      <a:r>
                        <a:rPr lang="es-ES" sz="2300" b="1">
                          <a:solidFill>
                            <a:srgbClr val="FFFFFF"/>
                          </a:solidFill>
                          <a:latin typeface="Aptos" panose="020B0004020202020204" pitchFamily="34" charset="0"/>
                        </a:rPr>
                        <a:t>Actor</a:t>
                      </a:r>
                    </a:p>
                  </a:txBody>
                  <a:tcPr marL="152400" marR="127000" marT="127000" marB="101600">
                    <a:solidFill>
                      <a:srgbClr val="102D4E"/>
                    </a:solidFill>
                  </a:tcPr>
                </a:tc>
                <a:tc>
                  <a:txBody>
                    <a:bodyPr/>
                    <a:lstStyle/>
                    <a:p>
                      <a:r>
                        <a:rPr lang="es-ES" sz="2300" b="1">
                          <a:solidFill>
                            <a:srgbClr val="FFFFFF"/>
                          </a:solidFill>
                          <a:latin typeface="Aptos" panose="020B0004020202020204" pitchFamily="34" charset="0"/>
                        </a:rPr>
                        <a:t>Funciones principales</a:t>
                      </a:r>
                    </a:p>
                  </a:txBody>
                  <a:tcPr marL="152400" marR="127000" marT="127000" marB="101600">
                    <a:solidFill>
                      <a:srgbClr val="102D4E"/>
                    </a:solidFill>
                  </a:tcPr>
                </a:tc>
                <a:extLst>
                  <a:ext uri="{0D108BD9-81ED-4DB2-BD59-A6C34878D82A}">
                    <a16:rowId xmlns:a16="http://schemas.microsoft.com/office/drawing/2014/main" val="3968022498"/>
                  </a:ext>
                </a:extLst>
              </a:tr>
              <a:tr h="984250">
                <a:tc>
                  <a:txBody>
                    <a:bodyPr/>
                    <a:lstStyle/>
                    <a:p>
                      <a:r>
                        <a:rPr lang="es-ES" sz="2300" b="0">
                          <a:solidFill>
                            <a:srgbClr val="203447"/>
                          </a:solidFill>
                          <a:latin typeface="Aptos" panose="020B0004020202020204" pitchFamily="34" charset="0"/>
                        </a:rPr>
                        <a:t>Comprador empresarial</a:t>
                      </a:r>
                    </a:p>
                  </a:txBody>
                  <a:tcPr marL="152400" marR="127000" marT="127000" marB="101600">
                    <a:solidFill>
                      <a:srgbClr val="EDF4FA"/>
                    </a:solidFill>
                  </a:tcPr>
                </a:tc>
                <a:tc>
                  <a:txBody>
                    <a:bodyPr/>
                    <a:lstStyle/>
                    <a:p>
                      <a:r>
                        <a:rPr lang="es-ES" sz="2300" b="0">
                          <a:solidFill>
                            <a:srgbClr val="203447"/>
                          </a:solidFill>
                          <a:latin typeface="Aptos" panose="020B0004020202020204" pitchFamily="34" charset="0"/>
                        </a:rPr>
                        <a:t>Consulta catálogo, solicita cotizaciones y realiza pedidos.</a:t>
                      </a:r>
                    </a:p>
                  </a:txBody>
                  <a:tcPr marL="152400" marR="127000" marT="127000" marB="101600">
                    <a:solidFill>
                      <a:srgbClr val="EDF4FA"/>
                    </a:solidFill>
                  </a:tcPr>
                </a:tc>
                <a:extLst>
                  <a:ext uri="{0D108BD9-81ED-4DB2-BD59-A6C34878D82A}">
                    <a16:rowId xmlns:a16="http://schemas.microsoft.com/office/drawing/2014/main" val="3364411157"/>
                  </a:ext>
                </a:extLst>
              </a:tr>
              <a:tr h="984250">
                <a:tc>
                  <a:txBody>
                    <a:bodyPr/>
                    <a:lstStyle/>
                    <a:p>
                      <a:r>
                        <a:rPr lang="es-ES" sz="2300" b="0">
                          <a:solidFill>
                            <a:srgbClr val="203447"/>
                          </a:solidFill>
                          <a:latin typeface="Aptos" panose="020B0004020202020204" pitchFamily="34" charset="0"/>
                        </a:rPr>
                        <a:t>Proveedor mayorista</a:t>
                      </a:r>
                    </a:p>
                  </a:txBody>
                  <a:tcPr marL="152400" marR="127000" marT="127000" marB="101600">
                    <a:solidFill>
                      <a:srgbClr val="FFFFFF"/>
                    </a:solidFill>
                  </a:tcPr>
                </a:tc>
                <a:tc>
                  <a:txBody>
                    <a:bodyPr/>
                    <a:lstStyle/>
                    <a:p>
                      <a:r>
                        <a:rPr lang="es-ES" sz="2300" b="0">
                          <a:solidFill>
                            <a:srgbClr val="203447"/>
                          </a:solidFill>
                          <a:latin typeface="Aptos" panose="020B0004020202020204" pitchFamily="34" charset="0"/>
                        </a:rPr>
                        <a:t>Publica productos, responde ofertas y atiende pedidos.</a:t>
                      </a:r>
                    </a:p>
                  </a:txBody>
                  <a:tcPr marL="152400" marR="127000" marT="127000" marB="101600">
                    <a:solidFill>
                      <a:srgbClr val="FFFFFF"/>
                    </a:solidFill>
                  </a:tcPr>
                </a:tc>
                <a:extLst>
                  <a:ext uri="{0D108BD9-81ED-4DB2-BD59-A6C34878D82A}">
                    <a16:rowId xmlns:a16="http://schemas.microsoft.com/office/drawing/2014/main" val="3795543452"/>
                  </a:ext>
                </a:extLst>
              </a:tr>
              <a:tr h="984250">
                <a:tc>
                  <a:txBody>
                    <a:bodyPr/>
                    <a:lstStyle/>
                    <a:p>
                      <a:r>
                        <a:rPr lang="es-ES" sz="2300" b="0">
                          <a:solidFill>
                            <a:srgbClr val="203447"/>
                          </a:solidFill>
                          <a:latin typeface="Aptos" panose="020B0004020202020204" pitchFamily="34" charset="0"/>
                        </a:rPr>
                        <a:t>Administrador</a:t>
                      </a:r>
                    </a:p>
                  </a:txBody>
                  <a:tcPr marL="152400" marR="127000" marT="127000" marB="101600">
                    <a:solidFill>
                      <a:srgbClr val="EDF4FA"/>
                    </a:solidFill>
                  </a:tcPr>
                </a:tc>
                <a:tc>
                  <a:txBody>
                    <a:bodyPr/>
                    <a:lstStyle/>
                    <a:p>
                      <a:r>
                        <a:rPr lang="es-ES" sz="2300" b="0">
                          <a:solidFill>
                            <a:srgbClr val="203447"/>
                          </a:solidFill>
                          <a:latin typeface="Aptos" panose="020B0004020202020204" pitchFamily="34" charset="0"/>
                        </a:rPr>
                        <a:t>Verifica proveedores y supervisa las operaciones.</a:t>
                      </a:r>
                    </a:p>
                  </a:txBody>
                  <a:tcPr marL="152400" marR="127000" marT="127000" marB="101600">
                    <a:solidFill>
                      <a:srgbClr val="EDF4FA"/>
                    </a:solidFill>
                  </a:tcPr>
                </a:tc>
                <a:extLst>
                  <a:ext uri="{0D108BD9-81ED-4DB2-BD59-A6C34878D82A}">
                    <a16:rowId xmlns:a16="http://schemas.microsoft.com/office/drawing/2014/main" val="663322151"/>
                  </a:ext>
                </a:extLst>
              </a:tr>
            </a:tbl>
          </a:graphicData>
        </a:graphic>
      </p:graphicFrame>
      <p:sp>
        <p:nvSpPr>
          <p:cNvPr id="6" name="CuadroTexto 5">
            <a:extLst>
              <a:ext uri="{FF2B5EF4-FFF2-40B4-BE49-F238E27FC236}">
                <a16:creationId xmlns:a16="http://schemas.microsoft.com/office/drawing/2014/main" id="{BF08FB5E-E8C6-6307-A7BE-87B44C55D59A}"/>
              </a:ext>
            </a:extLst>
          </p:cNvPr>
          <p:cNvSpPr txBox="1"/>
          <p:nvPr/>
        </p:nvSpPr>
        <p:spPr>
          <a:xfrm>
            <a:off x="533400" y="5753100"/>
            <a:ext cx="11125200" cy="292388"/>
          </a:xfrm>
          <a:prstGeom prst="rect">
            <a:avLst/>
          </a:prstGeom>
          <a:noFill/>
        </p:spPr>
        <p:txBody>
          <a:bodyPr vert="horz" wrap="square" lIns="0" tIns="0" rIns="0" bIns="0" rtlCol="0">
            <a:spAutoFit/>
          </a:bodyPr>
          <a:lstStyle/>
          <a:p>
            <a:r>
              <a:rPr lang="es-ES" sz="1900">
                <a:solidFill>
                  <a:srgbClr val="52677A"/>
                </a:solidFill>
                <a:latin typeface="Aptos" panose="020B0004020202020204" pitchFamily="34" charset="0"/>
              </a:rPr>
              <a:t>El acceso depende de la empresa, el rol y la participación en cada operación</a:t>
            </a:r>
          </a:p>
        </p:txBody>
      </p:sp>
    </p:spTree>
    <p:extLst>
      <p:ext uri="{BB962C8B-B14F-4D97-AF65-F5344CB8AC3E}">
        <p14:creationId xmlns:p14="http://schemas.microsoft.com/office/powerpoint/2010/main" val="419900057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141BAE62-A15C-E20B-96B4-A6DCC3771F49}"/>
              </a:ext>
            </a:extLst>
          </p:cNvPr>
          <p:cNvSpPr txBox="1"/>
          <p:nvPr/>
        </p:nvSpPr>
        <p:spPr>
          <a:xfrm>
            <a:off x="533400" y="355600"/>
            <a:ext cx="11049000" cy="492443"/>
          </a:xfrm>
          <a:prstGeom prst="rect">
            <a:avLst/>
          </a:prstGeom>
          <a:noFill/>
        </p:spPr>
        <p:txBody>
          <a:bodyPr vert="horz" wrap="square" lIns="0" tIns="0" rIns="0" bIns="0" rtlCol="0">
            <a:spAutoFit/>
          </a:bodyPr>
          <a:lstStyle/>
          <a:p>
            <a:r>
              <a:rPr lang="es-ES" sz="3200" b="1">
                <a:solidFill>
                  <a:srgbClr val="102D4E"/>
                </a:solidFill>
                <a:latin typeface="Aptos" panose="020B0004020202020204" pitchFamily="34" charset="0"/>
              </a:rPr>
              <a:t>Historias de usuario: comprador</a:t>
            </a:r>
          </a:p>
        </p:txBody>
      </p:sp>
      <p:sp>
        <p:nvSpPr>
          <p:cNvPr id="3" name="CuadroTexto 2">
            <a:extLst>
              <a:ext uri="{FF2B5EF4-FFF2-40B4-BE49-F238E27FC236}">
                <a16:creationId xmlns:a16="http://schemas.microsoft.com/office/drawing/2014/main" id="{677936F6-04E8-4A2E-029E-B352B8C50676}"/>
              </a:ext>
            </a:extLst>
          </p:cNvPr>
          <p:cNvSpPr txBox="1"/>
          <p:nvPr/>
        </p:nvSpPr>
        <p:spPr>
          <a:xfrm>
            <a:off x="533400" y="6477000"/>
            <a:ext cx="6350000" cy="153888"/>
          </a:xfrm>
          <a:prstGeom prst="rect">
            <a:avLst/>
          </a:prstGeom>
          <a:noFill/>
        </p:spPr>
        <p:txBody>
          <a:bodyPr vert="horz" wrap="square" lIns="0" tIns="0" rIns="0" bIns="0" rtlCol="0">
            <a:spAutoFit/>
          </a:bodyPr>
          <a:lstStyle/>
          <a:p>
            <a:r>
              <a:rPr lang="es-ES" sz="1000">
                <a:solidFill>
                  <a:srgbClr val="52677A"/>
                </a:solidFill>
                <a:latin typeface="Aptos" panose="020B0004020202020204" pitchFamily="34" charset="0"/>
              </a:rPr>
              <a:t>MAYORISTAPRO  /  SPRINT 01</a:t>
            </a:r>
          </a:p>
        </p:txBody>
      </p:sp>
      <p:sp>
        <p:nvSpPr>
          <p:cNvPr id="4" name="CuadroTexto 3">
            <a:extLst>
              <a:ext uri="{FF2B5EF4-FFF2-40B4-BE49-F238E27FC236}">
                <a16:creationId xmlns:a16="http://schemas.microsoft.com/office/drawing/2014/main" id="{B4F90291-DECD-0F84-03E2-442C198649BB}"/>
              </a:ext>
            </a:extLst>
          </p:cNvPr>
          <p:cNvSpPr txBox="1"/>
          <p:nvPr/>
        </p:nvSpPr>
        <p:spPr>
          <a:xfrm>
            <a:off x="11176000" y="6477000"/>
            <a:ext cx="444500" cy="169277"/>
          </a:xfrm>
          <a:prstGeom prst="rect">
            <a:avLst/>
          </a:prstGeom>
          <a:noFill/>
        </p:spPr>
        <p:txBody>
          <a:bodyPr vert="horz" wrap="square" lIns="0" tIns="0" rIns="0" bIns="0" rtlCol="0">
            <a:spAutoFit/>
          </a:bodyPr>
          <a:lstStyle/>
          <a:p>
            <a:r>
              <a:rPr lang="es-ES" sz="1100">
                <a:solidFill>
                  <a:srgbClr val="52677A"/>
                </a:solidFill>
                <a:latin typeface="Aptos" panose="020B0004020202020204" pitchFamily="34" charset="0"/>
              </a:rPr>
              <a:t>5</a:t>
            </a:r>
          </a:p>
        </p:txBody>
      </p:sp>
      <p:graphicFrame>
        <p:nvGraphicFramePr>
          <p:cNvPr id="5" name="Tabla 4">
            <a:extLst>
              <a:ext uri="{FF2B5EF4-FFF2-40B4-BE49-F238E27FC236}">
                <a16:creationId xmlns:a16="http://schemas.microsoft.com/office/drawing/2014/main" id="{63EB7C89-BC2C-8E66-31F3-C25190D7A6A3}"/>
              </a:ext>
            </a:extLst>
          </p:cNvPr>
          <p:cNvGraphicFramePr>
            <a:graphicFrameLocks noGrp="1"/>
          </p:cNvGraphicFramePr>
          <p:nvPr>
            <p:extLst>
              <p:ext uri="{D42A27DB-BD31-4B8C-83A1-F6EECF244321}">
                <p14:modId xmlns:p14="http://schemas.microsoft.com/office/powerpoint/2010/main" val="161165938"/>
              </p:ext>
            </p:extLst>
          </p:nvPr>
        </p:nvGraphicFramePr>
        <p:xfrm>
          <a:off x="533400" y="1460500"/>
          <a:ext cx="11125200" cy="4343400"/>
        </p:xfrm>
        <a:graphic>
          <a:graphicData uri="http://schemas.openxmlformats.org/drawingml/2006/table">
            <a:tbl>
              <a:tblPr firstRow="1" bandRow="1">
                <a:tableStyleId>{5C22544A-7EE6-4342-B048-85BDC9FD1C3A}</a:tableStyleId>
              </a:tblPr>
              <a:tblGrid>
                <a:gridCol w="1422400">
                  <a:extLst>
                    <a:ext uri="{9D8B030D-6E8A-4147-A177-3AD203B41FA5}">
                      <a16:colId xmlns:a16="http://schemas.microsoft.com/office/drawing/2014/main" val="2249640793"/>
                    </a:ext>
                  </a:extLst>
                </a:gridCol>
                <a:gridCol w="9702800">
                  <a:extLst>
                    <a:ext uri="{9D8B030D-6E8A-4147-A177-3AD203B41FA5}">
                      <a16:colId xmlns:a16="http://schemas.microsoft.com/office/drawing/2014/main" val="2151014155"/>
                    </a:ext>
                  </a:extLst>
                </a:gridCol>
              </a:tblGrid>
              <a:tr h="1085850">
                <a:tc>
                  <a:txBody>
                    <a:bodyPr/>
                    <a:lstStyle/>
                    <a:p>
                      <a:r>
                        <a:rPr lang="es-ES" sz="2200" b="1">
                          <a:solidFill>
                            <a:srgbClr val="FFFFFF"/>
                          </a:solidFill>
                          <a:latin typeface="Aptos" panose="020B0004020202020204" pitchFamily="34" charset="0"/>
                        </a:rPr>
                        <a:t>ID</a:t>
                      </a:r>
                    </a:p>
                  </a:txBody>
                  <a:tcPr marL="152400" marR="127000" marT="127000" marB="101600">
                    <a:solidFill>
                      <a:srgbClr val="102D4E"/>
                    </a:solidFill>
                  </a:tcPr>
                </a:tc>
                <a:tc>
                  <a:txBody>
                    <a:bodyPr/>
                    <a:lstStyle/>
                    <a:p>
                      <a:r>
                        <a:rPr lang="es-ES" sz="2200" b="1">
                          <a:solidFill>
                            <a:srgbClr val="FFFFFF"/>
                          </a:solidFill>
                          <a:latin typeface="Aptos" panose="020B0004020202020204" pitchFamily="34" charset="0"/>
                        </a:rPr>
                        <a:t>Historia de usuario</a:t>
                      </a:r>
                    </a:p>
                  </a:txBody>
                  <a:tcPr marL="152400" marR="127000" marT="127000" marB="101600">
                    <a:solidFill>
                      <a:srgbClr val="102D4E"/>
                    </a:solidFill>
                  </a:tcPr>
                </a:tc>
                <a:extLst>
                  <a:ext uri="{0D108BD9-81ED-4DB2-BD59-A6C34878D82A}">
                    <a16:rowId xmlns:a16="http://schemas.microsoft.com/office/drawing/2014/main" val="1091117211"/>
                  </a:ext>
                </a:extLst>
              </a:tr>
              <a:tr h="1085850">
                <a:tc>
                  <a:txBody>
                    <a:bodyPr/>
                    <a:lstStyle/>
                    <a:p>
                      <a:r>
                        <a:rPr lang="es-ES" sz="2200" b="0">
                          <a:solidFill>
                            <a:srgbClr val="203447"/>
                          </a:solidFill>
                          <a:latin typeface="Aptos" panose="020B0004020202020204" pitchFamily="34" charset="0"/>
                        </a:rPr>
                        <a:t>HU-09</a:t>
                      </a:r>
                    </a:p>
                  </a:txBody>
                  <a:tcPr marL="152400" marR="127000" marT="127000" marB="101600">
                    <a:solidFill>
                      <a:srgbClr val="EDF4FA"/>
                    </a:solidFill>
                  </a:tcPr>
                </a:tc>
                <a:tc>
                  <a:txBody>
                    <a:bodyPr/>
                    <a:lstStyle/>
                    <a:p>
                      <a:r>
                        <a:rPr lang="es-ES" sz="2200" b="0">
                          <a:solidFill>
                            <a:srgbClr val="203447"/>
                          </a:solidFill>
                          <a:latin typeface="Aptos" panose="020B0004020202020204" pitchFamily="34" charset="0"/>
                        </a:rPr>
                        <a:t>Como comprador empresarial, quiero buscar productos por nombre, categoría, precio o proveedor, para encontrar lo que necesito rápidamente.</a:t>
                      </a:r>
                    </a:p>
                  </a:txBody>
                  <a:tcPr marL="152400" marR="127000" marT="127000" marB="101600">
                    <a:solidFill>
                      <a:srgbClr val="EDF4FA"/>
                    </a:solidFill>
                  </a:tcPr>
                </a:tc>
                <a:extLst>
                  <a:ext uri="{0D108BD9-81ED-4DB2-BD59-A6C34878D82A}">
                    <a16:rowId xmlns:a16="http://schemas.microsoft.com/office/drawing/2014/main" val="435084924"/>
                  </a:ext>
                </a:extLst>
              </a:tr>
              <a:tr h="1085850">
                <a:tc>
                  <a:txBody>
                    <a:bodyPr/>
                    <a:lstStyle/>
                    <a:p>
                      <a:r>
                        <a:rPr lang="es-ES" sz="2200" b="0">
                          <a:solidFill>
                            <a:srgbClr val="203447"/>
                          </a:solidFill>
                          <a:latin typeface="Aptos" panose="020B0004020202020204" pitchFamily="34" charset="0"/>
                        </a:rPr>
                        <a:t>HU-11</a:t>
                      </a:r>
                    </a:p>
                  </a:txBody>
                  <a:tcPr marL="152400" marR="127000" marT="127000" marB="101600">
                    <a:solidFill>
                      <a:srgbClr val="FFFFFF"/>
                    </a:solidFill>
                  </a:tcPr>
                </a:tc>
                <a:tc>
                  <a:txBody>
                    <a:bodyPr/>
                    <a:lstStyle/>
                    <a:p>
                      <a:r>
                        <a:rPr lang="es-ES" sz="2200" b="0">
                          <a:solidFill>
                            <a:srgbClr val="203447"/>
                          </a:solidFill>
                          <a:latin typeface="Aptos" panose="020B0004020202020204" pitchFamily="34" charset="0"/>
                        </a:rPr>
                        <a:t>Como comprador empresarial, quiero solicitar cotización a uno o varios proveedores, para obtener precios y condiciones antes de comprar.</a:t>
                      </a:r>
                    </a:p>
                  </a:txBody>
                  <a:tcPr marL="152400" marR="127000" marT="127000" marB="101600">
                    <a:solidFill>
                      <a:srgbClr val="FFFFFF"/>
                    </a:solidFill>
                  </a:tcPr>
                </a:tc>
                <a:extLst>
                  <a:ext uri="{0D108BD9-81ED-4DB2-BD59-A6C34878D82A}">
                    <a16:rowId xmlns:a16="http://schemas.microsoft.com/office/drawing/2014/main" val="1668541873"/>
                  </a:ext>
                </a:extLst>
              </a:tr>
              <a:tr h="1085850">
                <a:tc>
                  <a:txBody>
                    <a:bodyPr/>
                    <a:lstStyle/>
                    <a:p>
                      <a:r>
                        <a:rPr lang="es-ES" sz="2200" b="0">
                          <a:solidFill>
                            <a:srgbClr val="203447"/>
                          </a:solidFill>
                          <a:latin typeface="Aptos" panose="020B0004020202020204" pitchFamily="34" charset="0"/>
                        </a:rPr>
                        <a:t>HU-15</a:t>
                      </a:r>
                    </a:p>
                  </a:txBody>
                  <a:tcPr marL="152400" marR="127000" marT="127000" marB="101600">
                    <a:solidFill>
                      <a:srgbClr val="EDF4FA"/>
                    </a:solidFill>
                  </a:tcPr>
                </a:tc>
                <a:tc>
                  <a:txBody>
                    <a:bodyPr/>
                    <a:lstStyle/>
                    <a:p>
                      <a:r>
                        <a:rPr lang="es-ES" sz="2200" b="0">
                          <a:solidFill>
                            <a:srgbClr val="203447"/>
                          </a:solidFill>
                          <a:latin typeface="Aptos" panose="020B0004020202020204" pitchFamily="34" charset="0"/>
                        </a:rPr>
                        <a:t>Como comprador empresarial, quiero confirmar un pedido a partir de una cotización aceptada, para concretar la compra.</a:t>
                      </a:r>
                    </a:p>
                  </a:txBody>
                  <a:tcPr marL="152400" marR="127000" marT="127000" marB="101600">
                    <a:solidFill>
                      <a:srgbClr val="EDF4FA"/>
                    </a:solidFill>
                  </a:tcPr>
                </a:tc>
                <a:extLst>
                  <a:ext uri="{0D108BD9-81ED-4DB2-BD59-A6C34878D82A}">
                    <a16:rowId xmlns:a16="http://schemas.microsoft.com/office/drawing/2014/main" val="1619868737"/>
                  </a:ext>
                </a:extLst>
              </a:tr>
            </a:tbl>
          </a:graphicData>
        </a:graphic>
      </p:graphicFrame>
      <p:sp>
        <p:nvSpPr>
          <p:cNvPr id="6" name="CuadroTexto 5">
            <a:extLst>
              <a:ext uri="{FF2B5EF4-FFF2-40B4-BE49-F238E27FC236}">
                <a16:creationId xmlns:a16="http://schemas.microsoft.com/office/drawing/2014/main" id="{5CAC9E57-1225-87EF-E4B2-804372E97672}"/>
              </a:ext>
            </a:extLst>
          </p:cNvPr>
          <p:cNvSpPr txBox="1"/>
          <p:nvPr/>
        </p:nvSpPr>
        <p:spPr>
          <a:xfrm>
            <a:off x="533400" y="6019800"/>
            <a:ext cx="11125200" cy="276999"/>
          </a:xfrm>
          <a:prstGeom prst="rect">
            <a:avLst/>
          </a:prstGeom>
          <a:noFill/>
        </p:spPr>
        <p:txBody>
          <a:bodyPr vert="horz" wrap="square" lIns="0" tIns="0" rIns="0" bIns="0" rtlCol="0">
            <a:spAutoFit/>
          </a:bodyPr>
          <a:lstStyle/>
          <a:p>
            <a:r>
              <a:rPr lang="es-ES">
                <a:solidFill>
                  <a:srgbClr val="52677A"/>
                </a:solidFill>
                <a:latin typeface="Aptos" panose="020B0004020202020204" pitchFamily="34" charset="0"/>
              </a:rPr>
              <a:t>Selección de historias de prioridad alta del alcance general</a:t>
            </a:r>
          </a:p>
        </p:txBody>
      </p:sp>
    </p:spTree>
    <p:extLst>
      <p:ext uri="{BB962C8B-B14F-4D97-AF65-F5344CB8AC3E}">
        <p14:creationId xmlns:p14="http://schemas.microsoft.com/office/powerpoint/2010/main" val="217457199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C3CCE309-6145-ED62-F2C2-8D1053D329D1}"/>
              </a:ext>
            </a:extLst>
          </p:cNvPr>
          <p:cNvSpPr txBox="1"/>
          <p:nvPr/>
        </p:nvSpPr>
        <p:spPr>
          <a:xfrm>
            <a:off x="533400" y="355600"/>
            <a:ext cx="11049000" cy="492443"/>
          </a:xfrm>
          <a:prstGeom prst="rect">
            <a:avLst/>
          </a:prstGeom>
          <a:noFill/>
        </p:spPr>
        <p:txBody>
          <a:bodyPr vert="horz" wrap="square" lIns="0" tIns="0" rIns="0" bIns="0" rtlCol="0">
            <a:spAutoFit/>
          </a:bodyPr>
          <a:lstStyle/>
          <a:p>
            <a:r>
              <a:rPr lang="es-ES" sz="3200" b="1">
                <a:solidFill>
                  <a:srgbClr val="102D4E"/>
                </a:solidFill>
                <a:latin typeface="Aptos" panose="020B0004020202020204" pitchFamily="34" charset="0"/>
              </a:rPr>
              <a:t>Historias de usuario: proveedor y administrador</a:t>
            </a:r>
          </a:p>
        </p:txBody>
      </p:sp>
      <p:sp>
        <p:nvSpPr>
          <p:cNvPr id="3" name="CuadroTexto 2">
            <a:extLst>
              <a:ext uri="{FF2B5EF4-FFF2-40B4-BE49-F238E27FC236}">
                <a16:creationId xmlns:a16="http://schemas.microsoft.com/office/drawing/2014/main" id="{8C5E35FC-334A-8571-4530-5444CDC7379F}"/>
              </a:ext>
            </a:extLst>
          </p:cNvPr>
          <p:cNvSpPr txBox="1"/>
          <p:nvPr/>
        </p:nvSpPr>
        <p:spPr>
          <a:xfrm>
            <a:off x="533400" y="6477000"/>
            <a:ext cx="6350000" cy="153888"/>
          </a:xfrm>
          <a:prstGeom prst="rect">
            <a:avLst/>
          </a:prstGeom>
          <a:noFill/>
        </p:spPr>
        <p:txBody>
          <a:bodyPr vert="horz" wrap="square" lIns="0" tIns="0" rIns="0" bIns="0" rtlCol="0">
            <a:spAutoFit/>
          </a:bodyPr>
          <a:lstStyle/>
          <a:p>
            <a:r>
              <a:rPr lang="es-ES" sz="1000">
                <a:solidFill>
                  <a:srgbClr val="52677A"/>
                </a:solidFill>
                <a:latin typeface="Aptos" panose="020B0004020202020204" pitchFamily="34" charset="0"/>
              </a:rPr>
              <a:t>MAYORISTAPRO  /  SPRINT 01</a:t>
            </a:r>
          </a:p>
        </p:txBody>
      </p:sp>
      <p:sp>
        <p:nvSpPr>
          <p:cNvPr id="4" name="CuadroTexto 3">
            <a:extLst>
              <a:ext uri="{FF2B5EF4-FFF2-40B4-BE49-F238E27FC236}">
                <a16:creationId xmlns:a16="http://schemas.microsoft.com/office/drawing/2014/main" id="{C961D5E1-5632-CAE1-912B-3F792DBC22A7}"/>
              </a:ext>
            </a:extLst>
          </p:cNvPr>
          <p:cNvSpPr txBox="1"/>
          <p:nvPr/>
        </p:nvSpPr>
        <p:spPr>
          <a:xfrm>
            <a:off x="11176000" y="6477000"/>
            <a:ext cx="444500" cy="169277"/>
          </a:xfrm>
          <a:prstGeom prst="rect">
            <a:avLst/>
          </a:prstGeom>
          <a:noFill/>
        </p:spPr>
        <p:txBody>
          <a:bodyPr vert="horz" wrap="square" lIns="0" tIns="0" rIns="0" bIns="0" rtlCol="0">
            <a:spAutoFit/>
          </a:bodyPr>
          <a:lstStyle/>
          <a:p>
            <a:r>
              <a:rPr lang="es-ES" sz="1100">
                <a:solidFill>
                  <a:srgbClr val="52677A"/>
                </a:solidFill>
                <a:latin typeface="Aptos" panose="020B0004020202020204" pitchFamily="34" charset="0"/>
              </a:rPr>
              <a:t>6</a:t>
            </a:r>
          </a:p>
        </p:txBody>
      </p:sp>
      <p:graphicFrame>
        <p:nvGraphicFramePr>
          <p:cNvPr id="5" name="Tabla 4">
            <a:extLst>
              <a:ext uri="{FF2B5EF4-FFF2-40B4-BE49-F238E27FC236}">
                <a16:creationId xmlns:a16="http://schemas.microsoft.com/office/drawing/2014/main" id="{404E1922-1621-FB68-582A-81A08E77AD63}"/>
              </a:ext>
            </a:extLst>
          </p:cNvPr>
          <p:cNvGraphicFramePr>
            <a:graphicFrameLocks noGrp="1"/>
          </p:cNvGraphicFramePr>
          <p:nvPr>
            <p:extLst>
              <p:ext uri="{D42A27DB-BD31-4B8C-83A1-F6EECF244321}">
                <p14:modId xmlns:p14="http://schemas.microsoft.com/office/powerpoint/2010/main" val="2823542551"/>
              </p:ext>
            </p:extLst>
          </p:nvPr>
        </p:nvGraphicFramePr>
        <p:xfrm>
          <a:off x="533400" y="1460500"/>
          <a:ext cx="11125200" cy="4343400"/>
        </p:xfrm>
        <a:graphic>
          <a:graphicData uri="http://schemas.openxmlformats.org/drawingml/2006/table">
            <a:tbl>
              <a:tblPr firstRow="1" bandRow="1">
                <a:tableStyleId>{5C22544A-7EE6-4342-B048-85BDC9FD1C3A}</a:tableStyleId>
              </a:tblPr>
              <a:tblGrid>
                <a:gridCol w="1422400">
                  <a:extLst>
                    <a:ext uri="{9D8B030D-6E8A-4147-A177-3AD203B41FA5}">
                      <a16:colId xmlns:a16="http://schemas.microsoft.com/office/drawing/2014/main" val="3229606432"/>
                    </a:ext>
                  </a:extLst>
                </a:gridCol>
                <a:gridCol w="9702800">
                  <a:extLst>
                    <a:ext uri="{9D8B030D-6E8A-4147-A177-3AD203B41FA5}">
                      <a16:colId xmlns:a16="http://schemas.microsoft.com/office/drawing/2014/main" val="2367714604"/>
                    </a:ext>
                  </a:extLst>
                </a:gridCol>
              </a:tblGrid>
              <a:tr h="1085850">
                <a:tc>
                  <a:txBody>
                    <a:bodyPr/>
                    <a:lstStyle/>
                    <a:p>
                      <a:r>
                        <a:rPr lang="es-ES" sz="2200" b="1">
                          <a:solidFill>
                            <a:srgbClr val="FFFFFF"/>
                          </a:solidFill>
                          <a:latin typeface="Aptos" panose="020B0004020202020204" pitchFamily="34" charset="0"/>
                        </a:rPr>
                        <a:t>ID</a:t>
                      </a:r>
                    </a:p>
                  </a:txBody>
                  <a:tcPr marL="152400" marR="127000" marT="127000" marB="101600">
                    <a:solidFill>
                      <a:srgbClr val="102D4E"/>
                    </a:solidFill>
                  </a:tcPr>
                </a:tc>
                <a:tc>
                  <a:txBody>
                    <a:bodyPr/>
                    <a:lstStyle/>
                    <a:p>
                      <a:r>
                        <a:rPr lang="es-ES" sz="2200" b="1">
                          <a:solidFill>
                            <a:srgbClr val="FFFFFF"/>
                          </a:solidFill>
                          <a:latin typeface="Aptos" panose="020B0004020202020204" pitchFamily="34" charset="0"/>
                        </a:rPr>
                        <a:t>Historia de usuario</a:t>
                      </a:r>
                    </a:p>
                  </a:txBody>
                  <a:tcPr marL="152400" marR="127000" marT="127000" marB="101600">
                    <a:solidFill>
                      <a:srgbClr val="102D4E"/>
                    </a:solidFill>
                  </a:tcPr>
                </a:tc>
                <a:extLst>
                  <a:ext uri="{0D108BD9-81ED-4DB2-BD59-A6C34878D82A}">
                    <a16:rowId xmlns:a16="http://schemas.microsoft.com/office/drawing/2014/main" val="3879366207"/>
                  </a:ext>
                </a:extLst>
              </a:tr>
              <a:tr h="1085850">
                <a:tc>
                  <a:txBody>
                    <a:bodyPr/>
                    <a:lstStyle/>
                    <a:p>
                      <a:r>
                        <a:rPr lang="es-ES" sz="2200" b="0">
                          <a:solidFill>
                            <a:srgbClr val="203447"/>
                          </a:solidFill>
                          <a:latin typeface="Aptos" panose="020B0004020202020204" pitchFamily="34" charset="0"/>
                        </a:rPr>
                        <a:t>HU-04</a:t>
                      </a:r>
                    </a:p>
                  </a:txBody>
                  <a:tcPr marL="152400" marR="127000" marT="127000" marB="101600">
                    <a:solidFill>
                      <a:srgbClr val="EDF4FA"/>
                    </a:solidFill>
                  </a:tcPr>
                </a:tc>
                <a:tc>
                  <a:txBody>
                    <a:bodyPr/>
                    <a:lstStyle/>
                    <a:p>
                      <a:r>
                        <a:rPr lang="es-ES" sz="2200" b="0">
                          <a:solidFill>
                            <a:srgbClr val="203447"/>
                          </a:solidFill>
                          <a:latin typeface="Aptos" panose="020B0004020202020204" pitchFamily="34" charset="0"/>
                        </a:rPr>
                        <a:t>Como administrador, quiero verificar y aprobar proveedores antes de que operen, para garantizar la confianza en la plataforma.</a:t>
                      </a:r>
                    </a:p>
                  </a:txBody>
                  <a:tcPr marL="152400" marR="127000" marT="127000" marB="101600">
                    <a:solidFill>
                      <a:srgbClr val="EDF4FA"/>
                    </a:solidFill>
                  </a:tcPr>
                </a:tc>
                <a:extLst>
                  <a:ext uri="{0D108BD9-81ED-4DB2-BD59-A6C34878D82A}">
                    <a16:rowId xmlns:a16="http://schemas.microsoft.com/office/drawing/2014/main" val="685519304"/>
                  </a:ext>
                </a:extLst>
              </a:tr>
              <a:tr h="1085850">
                <a:tc>
                  <a:txBody>
                    <a:bodyPr/>
                    <a:lstStyle/>
                    <a:p>
                      <a:r>
                        <a:rPr lang="es-ES" sz="2200" b="0">
                          <a:solidFill>
                            <a:srgbClr val="203447"/>
                          </a:solidFill>
                          <a:latin typeface="Aptos" panose="020B0004020202020204" pitchFamily="34" charset="0"/>
                        </a:rPr>
                        <a:t>HU-05</a:t>
                      </a:r>
                    </a:p>
                  </a:txBody>
                  <a:tcPr marL="152400" marR="127000" marT="127000" marB="101600">
                    <a:solidFill>
                      <a:srgbClr val="FFFFFF"/>
                    </a:solidFill>
                  </a:tcPr>
                </a:tc>
                <a:tc>
                  <a:txBody>
                    <a:bodyPr/>
                    <a:lstStyle/>
                    <a:p>
                      <a:r>
                        <a:rPr lang="es-ES" sz="2200" b="0">
                          <a:solidFill>
                            <a:srgbClr val="203447"/>
                          </a:solidFill>
                          <a:latin typeface="Aptos" panose="020B0004020202020204" pitchFamily="34" charset="0"/>
                        </a:rPr>
                        <a:t>Como proveedor, quiero publicar productos con nombre, descripción, categoría, precio, stock e imágenes, para ofrecerlos a compradores empresariales.</a:t>
                      </a:r>
                    </a:p>
                  </a:txBody>
                  <a:tcPr marL="152400" marR="127000" marT="127000" marB="101600">
                    <a:solidFill>
                      <a:srgbClr val="FFFFFF"/>
                    </a:solidFill>
                  </a:tcPr>
                </a:tc>
                <a:extLst>
                  <a:ext uri="{0D108BD9-81ED-4DB2-BD59-A6C34878D82A}">
                    <a16:rowId xmlns:a16="http://schemas.microsoft.com/office/drawing/2014/main" val="3631404697"/>
                  </a:ext>
                </a:extLst>
              </a:tr>
              <a:tr h="1085850">
                <a:tc>
                  <a:txBody>
                    <a:bodyPr/>
                    <a:lstStyle/>
                    <a:p>
                      <a:r>
                        <a:rPr lang="es-ES" sz="2200" b="0">
                          <a:solidFill>
                            <a:srgbClr val="203447"/>
                          </a:solidFill>
                          <a:latin typeface="Aptos" panose="020B0004020202020204" pitchFamily="34" charset="0"/>
                        </a:rPr>
                        <a:t>HU-12</a:t>
                      </a:r>
                    </a:p>
                  </a:txBody>
                  <a:tcPr marL="152400" marR="127000" marT="127000" marB="101600">
                    <a:solidFill>
                      <a:srgbClr val="EDF4FA"/>
                    </a:solidFill>
                  </a:tcPr>
                </a:tc>
                <a:tc>
                  <a:txBody>
                    <a:bodyPr/>
                    <a:lstStyle/>
                    <a:p>
                      <a:r>
                        <a:rPr lang="es-ES" sz="2200" b="0">
                          <a:solidFill>
                            <a:srgbClr val="203447"/>
                          </a:solidFill>
                          <a:latin typeface="Aptos" panose="020B0004020202020204" pitchFamily="34" charset="0"/>
                        </a:rPr>
                        <a:t>Como proveedor, quiero responder cotizaciones indicando precio, disponibilidad y condiciones, para ofrecer mis productos.</a:t>
                      </a:r>
                    </a:p>
                  </a:txBody>
                  <a:tcPr marL="152400" marR="127000" marT="127000" marB="101600">
                    <a:solidFill>
                      <a:srgbClr val="EDF4FA"/>
                    </a:solidFill>
                  </a:tcPr>
                </a:tc>
                <a:extLst>
                  <a:ext uri="{0D108BD9-81ED-4DB2-BD59-A6C34878D82A}">
                    <a16:rowId xmlns:a16="http://schemas.microsoft.com/office/drawing/2014/main" val="2728561431"/>
                  </a:ext>
                </a:extLst>
              </a:tr>
            </a:tbl>
          </a:graphicData>
        </a:graphic>
      </p:graphicFrame>
      <p:sp>
        <p:nvSpPr>
          <p:cNvPr id="6" name="CuadroTexto 5">
            <a:extLst>
              <a:ext uri="{FF2B5EF4-FFF2-40B4-BE49-F238E27FC236}">
                <a16:creationId xmlns:a16="http://schemas.microsoft.com/office/drawing/2014/main" id="{F4D99333-1483-1CF8-E96A-2A12CAF8C44B}"/>
              </a:ext>
            </a:extLst>
          </p:cNvPr>
          <p:cNvSpPr txBox="1"/>
          <p:nvPr/>
        </p:nvSpPr>
        <p:spPr>
          <a:xfrm>
            <a:off x="533400" y="6019800"/>
            <a:ext cx="11125200" cy="276999"/>
          </a:xfrm>
          <a:prstGeom prst="rect">
            <a:avLst/>
          </a:prstGeom>
          <a:noFill/>
        </p:spPr>
        <p:txBody>
          <a:bodyPr vert="horz" wrap="square" lIns="0" tIns="0" rIns="0" bIns="0" rtlCol="0">
            <a:spAutoFit/>
          </a:bodyPr>
          <a:lstStyle/>
          <a:p>
            <a:r>
              <a:rPr lang="es-ES">
                <a:solidFill>
                  <a:srgbClr val="52677A"/>
                </a:solidFill>
                <a:latin typeface="Aptos" panose="020B0004020202020204" pitchFamily="34" charset="0"/>
              </a:rPr>
              <a:t>Selección de historias de prioridad alta del alcance general</a:t>
            </a:r>
          </a:p>
        </p:txBody>
      </p:sp>
    </p:spTree>
    <p:extLst>
      <p:ext uri="{BB962C8B-B14F-4D97-AF65-F5344CB8AC3E}">
        <p14:creationId xmlns:p14="http://schemas.microsoft.com/office/powerpoint/2010/main" val="27698773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BD4910D7-3DE6-A74F-98E1-9B771C7453FC}"/>
              </a:ext>
            </a:extLst>
          </p:cNvPr>
          <p:cNvSpPr txBox="1"/>
          <p:nvPr/>
        </p:nvSpPr>
        <p:spPr>
          <a:xfrm>
            <a:off x="533400" y="355600"/>
            <a:ext cx="11049000" cy="492443"/>
          </a:xfrm>
          <a:prstGeom prst="rect">
            <a:avLst/>
          </a:prstGeom>
          <a:noFill/>
        </p:spPr>
        <p:txBody>
          <a:bodyPr vert="horz" wrap="square" lIns="0" tIns="0" rIns="0" bIns="0" rtlCol="0">
            <a:spAutoFit/>
          </a:bodyPr>
          <a:lstStyle/>
          <a:p>
            <a:r>
              <a:rPr lang="es-ES" sz="3200" b="1">
                <a:solidFill>
                  <a:srgbClr val="102D4E"/>
                </a:solidFill>
                <a:latin typeface="Aptos" panose="020B0004020202020204" pitchFamily="34" charset="0"/>
              </a:rPr>
              <a:t>Requisitos funcionales del proceso de compra</a:t>
            </a:r>
          </a:p>
        </p:txBody>
      </p:sp>
      <p:sp>
        <p:nvSpPr>
          <p:cNvPr id="3" name="CuadroTexto 2">
            <a:extLst>
              <a:ext uri="{FF2B5EF4-FFF2-40B4-BE49-F238E27FC236}">
                <a16:creationId xmlns:a16="http://schemas.microsoft.com/office/drawing/2014/main" id="{08CB1043-7002-CD61-0688-51CD871095CE}"/>
              </a:ext>
            </a:extLst>
          </p:cNvPr>
          <p:cNvSpPr txBox="1"/>
          <p:nvPr/>
        </p:nvSpPr>
        <p:spPr>
          <a:xfrm>
            <a:off x="533400" y="6477000"/>
            <a:ext cx="6350000" cy="153888"/>
          </a:xfrm>
          <a:prstGeom prst="rect">
            <a:avLst/>
          </a:prstGeom>
          <a:noFill/>
        </p:spPr>
        <p:txBody>
          <a:bodyPr vert="horz" wrap="square" lIns="0" tIns="0" rIns="0" bIns="0" rtlCol="0">
            <a:spAutoFit/>
          </a:bodyPr>
          <a:lstStyle/>
          <a:p>
            <a:r>
              <a:rPr lang="es-ES" sz="1000">
                <a:solidFill>
                  <a:srgbClr val="52677A"/>
                </a:solidFill>
                <a:latin typeface="Aptos" panose="020B0004020202020204" pitchFamily="34" charset="0"/>
              </a:rPr>
              <a:t>MAYORISTAPRO  /  SPRINT 01</a:t>
            </a:r>
          </a:p>
        </p:txBody>
      </p:sp>
      <p:sp>
        <p:nvSpPr>
          <p:cNvPr id="4" name="CuadroTexto 3">
            <a:extLst>
              <a:ext uri="{FF2B5EF4-FFF2-40B4-BE49-F238E27FC236}">
                <a16:creationId xmlns:a16="http://schemas.microsoft.com/office/drawing/2014/main" id="{F031F25C-C714-4B72-4AF7-F8E51557F894}"/>
              </a:ext>
            </a:extLst>
          </p:cNvPr>
          <p:cNvSpPr txBox="1"/>
          <p:nvPr/>
        </p:nvSpPr>
        <p:spPr>
          <a:xfrm>
            <a:off x="11176000" y="6477000"/>
            <a:ext cx="444500" cy="169277"/>
          </a:xfrm>
          <a:prstGeom prst="rect">
            <a:avLst/>
          </a:prstGeom>
          <a:noFill/>
        </p:spPr>
        <p:txBody>
          <a:bodyPr vert="horz" wrap="square" lIns="0" tIns="0" rIns="0" bIns="0" rtlCol="0">
            <a:spAutoFit/>
          </a:bodyPr>
          <a:lstStyle/>
          <a:p>
            <a:r>
              <a:rPr lang="es-ES" sz="1100">
                <a:solidFill>
                  <a:srgbClr val="52677A"/>
                </a:solidFill>
                <a:latin typeface="Aptos" panose="020B0004020202020204" pitchFamily="34" charset="0"/>
              </a:rPr>
              <a:t>7</a:t>
            </a:r>
          </a:p>
        </p:txBody>
      </p:sp>
      <p:graphicFrame>
        <p:nvGraphicFramePr>
          <p:cNvPr id="5" name="Tabla 4">
            <a:extLst>
              <a:ext uri="{FF2B5EF4-FFF2-40B4-BE49-F238E27FC236}">
                <a16:creationId xmlns:a16="http://schemas.microsoft.com/office/drawing/2014/main" id="{4EB1824D-4ADF-5833-1797-A3D8B5026C7D}"/>
              </a:ext>
            </a:extLst>
          </p:cNvPr>
          <p:cNvGraphicFramePr>
            <a:graphicFrameLocks noGrp="1"/>
          </p:cNvGraphicFramePr>
          <p:nvPr>
            <p:extLst>
              <p:ext uri="{D42A27DB-BD31-4B8C-83A1-F6EECF244321}">
                <p14:modId xmlns:p14="http://schemas.microsoft.com/office/powerpoint/2010/main" val="2090405242"/>
              </p:ext>
            </p:extLst>
          </p:nvPr>
        </p:nvGraphicFramePr>
        <p:xfrm>
          <a:off x="533400" y="1460500"/>
          <a:ext cx="11125200" cy="4343400"/>
        </p:xfrm>
        <a:graphic>
          <a:graphicData uri="http://schemas.openxmlformats.org/drawingml/2006/table">
            <a:tbl>
              <a:tblPr firstRow="1" bandRow="1">
                <a:tableStyleId>{5C22544A-7EE6-4342-B048-85BDC9FD1C3A}</a:tableStyleId>
              </a:tblPr>
              <a:tblGrid>
                <a:gridCol w="2349500">
                  <a:extLst>
                    <a:ext uri="{9D8B030D-6E8A-4147-A177-3AD203B41FA5}">
                      <a16:colId xmlns:a16="http://schemas.microsoft.com/office/drawing/2014/main" val="491061249"/>
                    </a:ext>
                  </a:extLst>
                </a:gridCol>
                <a:gridCol w="8775700">
                  <a:extLst>
                    <a:ext uri="{9D8B030D-6E8A-4147-A177-3AD203B41FA5}">
                      <a16:colId xmlns:a16="http://schemas.microsoft.com/office/drawing/2014/main" val="590383911"/>
                    </a:ext>
                  </a:extLst>
                </a:gridCol>
              </a:tblGrid>
              <a:tr h="723900">
                <a:tc>
                  <a:txBody>
                    <a:bodyPr/>
                    <a:lstStyle/>
                    <a:p>
                      <a:r>
                        <a:rPr lang="es-ES" sz="2100" b="1">
                          <a:solidFill>
                            <a:srgbClr val="FFFFFF"/>
                          </a:solidFill>
                          <a:latin typeface="Aptos" panose="020B0004020202020204" pitchFamily="34" charset="0"/>
                        </a:rPr>
                        <a:t>ID</a:t>
                      </a:r>
                    </a:p>
                  </a:txBody>
                  <a:tcPr marL="152400" marR="127000" marT="127000" marB="101600">
                    <a:solidFill>
                      <a:srgbClr val="102D4E"/>
                    </a:solidFill>
                  </a:tcPr>
                </a:tc>
                <a:tc>
                  <a:txBody>
                    <a:bodyPr/>
                    <a:lstStyle/>
                    <a:p>
                      <a:r>
                        <a:rPr lang="es-ES" sz="2100" b="1">
                          <a:solidFill>
                            <a:srgbClr val="FFFFFF"/>
                          </a:solidFill>
                          <a:latin typeface="Aptos" panose="020B0004020202020204" pitchFamily="34" charset="0"/>
                        </a:rPr>
                        <a:t>Comportamiento esperado</a:t>
                      </a:r>
                    </a:p>
                  </a:txBody>
                  <a:tcPr marL="152400" marR="127000" marT="127000" marB="101600">
                    <a:solidFill>
                      <a:srgbClr val="102D4E"/>
                    </a:solidFill>
                  </a:tcPr>
                </a:tc>
                <a:extLst>
                  <a:ext uri="{0D108BD9-81ED-4DB2-BD59-A6C34878D82A}">
                    <a16:rowId xmlns:a16="http://schemas.microsoft.com/office/drawing/2014/main" val="2505785709"/>
                  </a:ext>
                </a:extLst>
              </a:tr>
              <a:tr h="723900">
                <a:tc>
                  <a:txBody>
                    <a:bodyPr/>
                    <a:lstStyle/>
                    <a:p>
                      <a:r>
                        <a:rPr lang="es-ES" sz="2100" b="0">
                          <a:solidFill>
                            <a:srgbClr val="203447"/>
                          </a:solidFill>
                          <a:latin typeface="Aptos" panose="020B0004020202020204" pitchFamily="34" charset="0"/>
                        </a:rPr>
                        <a:t>RF-07</a:t>
                      </a:r>
                    </a:p>
                  </a:txBody>
                  <a:tcPr marL="152400" marR="127000" marT="127000" marB="101600">
                    <a:solidFill>
                      <a:srgbClr val="EDF4FA"/>
                    </a:solidFill>
                  </a:tcPr>
                </a:tc>
                <a:tc>
                  <a:txBody>
                    <a:bodyPr/>
                    <a:lstStyle/>
                    <a:p>
                      <a:r>
                        <a:rPr lang="es-ES" sz="2100" b="0">
                          <a:solidFill>
                            <a:srgbClr val="203447"/>
                          </a:solidFill>
                          <a:latin typeface="Aptos" panose="020B0004020202020204" pitchFamily="34" charset="0"/>
                        </a:rPr>
                        <a:t>Publicar productos con precio, mínimo de compra, stock e imágenes.</a:t>
                      </a:r>
                    </a:p>
                  </a:txBody>
                  <a:tcPr marL="152400" marR="127000" marT="127000" marB="101600">
                    <a:solidFill>
                      <a:srgbClr val="EDF4FA"/>
                    </a:solidFill>
                  </a:tcPr>
                </a:tc>
                <a:extLst>
                  <a:ext uri="{0D108BD9-81ED-4DB2-BD59-A6C34878D82A}">
                    <a16:rowId xmlns:a16="http://schemas.microsoft.com/office/drawing/2014/main" val="1579865491"/>
                  </a:ext>
                </a:extLst>
              </a:tr>
              <a:tr h="723900">
                <a:tc>
                  <a:txBody>
                    <a:bodyPr/>
                    <a:lstStyle/>
                    <a:p>
                      <a:r>
                        <a:rPr lang="es-ES" sz="2100" b="0">
                          <a:solidFill>
                            <a:srgbClr val="203447"/>
                          </a:solidFill>
                          <a:latin typeface="Aptos" panose="020B0004020202020204" pitchFamily="34" charset="0"/>
                        </a:rPr>
                        <a:t>RF-11</a:t>
                      </a:r>
                    </a:p>
                  </a:txBody>
                  <a:tcPr marL="152400" marR="127000" marT="127000" marB="101600">
                    <a:solidFill>
                      <a:srgbClr val="FFFFFF"/>
                    </a:solidFill>
                  </a:tcPr>
                </a:tc>
                <a:tc>
                  <a:txBody>
                    <a:bodyPr/>
                    <a:lstStyle/>
                    <a:p>
                      <a:r>
                        <a:rPr lang="es-ES" sz="2100" b="0">
                          <a:solidFill>
                            <a:srgbClr val="203447"/>
                          </a:solidFill>
                          <a:latin typeface="Aptos" panose="020B0004020202020204" pitchFamily="34" charset="0"/>
                        </a:rPr>
                        <a:t>Buscar productos por nombre, categoría, precio y proveedor.</a:t>
                      </a:r>
                    </a:p>
                  </a:txBody>
                  <a:tcPr marL="152400" marR="127000" marT="127000" marB="101600">
                    <a:solidFill>
                      <a:srgbClr val="FFFFFF"/>
                    </a:solidFill>
                  </a:tcPr>
                </a:tc>
                <a:extLst>
                  <a:ext uri="{0D108BD9-81ED-4DB2-BD59-A6C34878D82A}">
                    <a16:rowId xmlns:a16="http://schemas.microsoft.com/office/drawing/2014/main" val="1716119070"/>
                  </a:ext>
                </a:extLst>
              </a:tr>
              <a:tr h="723900">
                <a:tc>
                  <a:txBody>
                    <a:bodyPr/>
                    <a:lstStyle/>
                    <a:p>
                      <a:r>
                        <a:rPr lang="es-ES" sz="2100" b="0">
                          <a:solidFill>
                            <a:srgbClr val="203447"/>
                          </a:solidFill>
                          <a:latin typeface="Aptos" panose="020B0004020202020204" pitchFamily="34" charset="0"/>
                        </a:rPr>
                        <a:t>RF-13 / RF-14</a:t>
                      </a:r>
                    </a:p>
                  </a:txBody>
                  <a:tcPr marL="152400" marR="127000" marT="127000" marB="101600">
                    <a:solidFill>
                      <a:srgbClr val="EDF4FA"/>
                    </a:solidFill>
                  </a:tcPr>
                </a:tc>
                <a:tc>
                  <a:txBody>
                    <a:bodyPr/>
                    <a:lstStyle/>
                    <a:p>
                      <a:r>
                        <a:rPr lang="es-ES" sz="2100" b="0">
                          <a:solidFill>
                            <a:srgbClr val="203447"/>
                          </a:solidFill>
                          <a:latin typeface="Aptos" panose="020B0004020202020204" pitchFamily="34" charset="0"/>
                        </a:rPr>
                        <a:t>Solicitar cotizaciones y responder con precios y condiciones.</a:t>
                      </a:r>
                    </a:p>
                  </a:txBody>
                  <a:tcPr marL="152400" marR="127000" marT="127000" marB="101600">
                    <a:solidFill>
                      <a:srgbClr val="EDF4FA"/>
                    </a:solidFill>
                  </a:tcPr>
                </a:tc>
                <a:extLst>
                  <a:ext uri="{0D108BD9-81ED-4DB2-BD59-A6C34878D82A}">
                    <a16:rowId xmlns:a16="http://schemas.microsoft.com/office/drawing/2014/main" val="913608127"/>
                  </a:ext>
                </a:extLst>
              </a:tr>
              <a:tr h="723900">
                <a:tc>
                  <a:txBody>
                    <a:bodyPr/>
                    <a:lstStyle/>
                    <a:p>
                      <a:r>
                        <a:rPr lang="es-ES" sz="2100" b="0">
                          <a:solidFill>
                            <a:srgbClr val="203447"/>
                          </a:solidFill>
                          <a:latin typeface="Aptos" panose="020B0004020202020204" pitchFamily="34" charset="0"/>
                        </a:rPr>
                        <a:t>RF-15 / RF-18</a:t>
                      </a:r>
                    </a:p>
                  </a:txBody>
                  <a:tcPr marL="152400" marR="127000" marT="127000" marB="101600">
                    <a:solidFill>
                      <a:srgbClr val="FFFFFF"/>
                    </a:solidFill>
                  </a:tcPr>
                </a:tc>
                <a:tc>
                  <a:txBody>
                    <a:bodyPr/>
                    <a:lstStyle/>
                    <a:p>
                      <a:r>
                        <a:rPr lang="es-ES" sz="2100" b="0">
                          <a:solidFill>
                            <a:srgbClr val="203447"/>
                          </a:solidFill>
                          <a:latin typeface="Aptos" panose="020B0004020202020204" pitchFamily="34" charset="0"/>
                        </a:rPr>
                        <a:t>Aceptar una oferta y generar el pedido correspondiente.</a:t>
                      </a:r>
                    </a:p>
                  </a:txBody>
                  <a:tcPr marL="152400" marR="127000" marT="127000" marB="101600">
                    <a:solidFill>
                      <a:srgbClr val="FFFFFF"/>
                    </a:solidFill>
                  </a:tcPr>
                </a:tc>
                <a:extLst>
                  <a:ext uri="{0D108BD9-81ED-4DB2-BD59-A6C34878D82A}">
                    <a16:rowId xmlns:a16="http://schemas.microsoft.com/office/drawing/2014/main" val="2800846957"/>
                  </a:ext>
                </a:extLst>
              </a:tr>
              <a:tr h="723900">
                <a:tc>
                  <a:txBody>
                    <a:bodyPr/>
                    <a:lstStyle/>
                    <a:p>
                      <a:r>
                        <a:rPr lang="es-ES" sz="2100" b="0">
                          <a:solidFill>
                            <a:srgbClr val="203447"/>
                          </a:solidFill>
                          <a:latin typeface="Aptos" panose="020B0004020202020204" pitchFamily="34" charset="0"/>
                        </a:rPr>
                        <a:t>RF-19 / RF-21</a:t>
                      </a:r>
                    </a:p>
                  </a:txBody>
                  <a:tcPr marL="152400" marR="127000" marT="127000" marB="101600">
                    <a:solidFill>
                      <a:srgbClr val="EDF4FA"/>
                    </a:solidFill>
                  </a:tcPr>
                </a:tc>
                <a:tc>
                  <a:txBody>
                    <a:bodyPr/>
                    <a:lstStyle/>
                    <a:p>
                      <a:r>
                        <a:rPr lang="es-ES" sz="2100" b="0">
                          <a:solidFill>
                            <a:srgbClr val="203447"/>
                          </a:solidFill>
                          <a:latin typeface="Aptos" panose="020B0004020202020204" pitchFamily="34" charset="0"/>
                        </a:rPr>
                        <a:t>Validar stock con control de concurrencia y consultar pedidos.</a:t>
                      </a:r>
                    </a:p>
                  </a:txBody>
                  <a:tcPr marL="152400" marR="127000" marT="127000" marB="101600">
                    <a:solidFill>
                      <a:srgbClr val="EDF4FA"/>
                    </a:solidFill>
                  </a:tcPr>
                </a:tc>
                <a:extLst>
                  <a:ext uri="{0D108BD9-81ED-4DB2-BD59-A6C34878D82A}">
                    <a16:rowId xmlns:a16="http://schemas.microsoft.com/office/drawing/2014/main" val="3643925032"/>
                  </a:ext>
                </a:extLst>
              </a:tr>
            </a:tbl>
          </a:graphicData>
        </a:graphic>
      </p:graphicFrame>
      <p:sp>
        <p:nvSpPr>
          <p:cNvPr id="6" name="CuadroTexto 5">
            <a:extLst>
              <a:ext uri="{FF2B5EF4-FFF2-40B4-BE49-F238E27FC236}">
                <a16:creationId xmlns:a16="http://schemas.microsoft.com/office/drawing/2014/main" id="{3EAC33F0-B34F-DB4F-8625-943A079E9A0A}"/>
              </a:ext>
            </a:extLst>
          </p:cNvPr>
          <p:cNvSpPr txBox="1"/>
          <p:nvPr/>
        </p:nvSpPr>
        <p:spPr>
          <a:xfrm>
            <a:off x="533400" y="6019800"/>
            <a:ext cx="11125200" cy="276999"/>
          </a:xfrm>
          <a:prstGeom prst="rect">
            <a:avLst/>
          </a:prstGeom>
          <a:noFill/>
        </p:spPr>
        <p:txBody>
          <a:bodyPr vert="horz" wrap="square" lIns="0" tIns="0" rIns="0" bIns="0" rtlCol="0">
            <a:spAutoFit/>
          </a:bodyPr>
          <a:lstStyle/>
          <a:p>
            <a:r>
              <a:rPr lang="es-ES">
                <a:solidFill>
                  <a:srgbClr val="52677A"/>
                </a:solidFill>
                <a:latin typeface="Aptos" panose="020B0004020202020204" pitchFamily="34" charset="0"/>
              </a:rPr>
              <a:t>Resumen de requisitos documentados. Implementación por etapas</a:t>
            </a:r>
          </a:p>
        </p:txBody>
      </p:sp>
    </p:spTree>
    <p:extLst>
      <p:ext uri="{BB962C8B-B14F-4D97-AF65-F5344CB8AC3E}">
        <p14:creationId xmlns:p14="http://schemas.microsoft.com/office/powerpoint/2010/main" val="74978993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F73ABC08-124A-3BD1-233D-48A5AEDE1A89}"/>
              </a:ext>
            </a:extLst>
          </p:cNvPr>
          <p:cNvSpPr txBox="1"/>
          <p:nvPr/>
        </p:nvSpPr>
        <p:spPr>
          <a:xfrm>
            <a:off x="533400" y="355600"/>
            <a:ext cx="11049000" cy="492443"/>
          </a:xfrm>
          <a:prstGeom prst="rect">
            <a:avLst/>
          </a:prstGeom>
          <a:noFill/>
        </p:spPr>
        <p:txBody>
          <a:bodyPr vert="horz" wrap="square" lIns="0" tIns="0" rIns="0" bIns="0" rtlCol="0">
            <a:spAutoFit/>
          </a:bodyPr>
          <a:lstStyle/>
          <a:p>
            <a:r>
              <a:rPr lang="es-ES" sz="3200" b="1">
                <a:solidFill>
                  <a:srgbClr val="102D4E"/>
                </a:solidFill>
                <a:latin typeface="Aptos" panose="020B0004020202020204" pitchFamily="34" charset="0"/>
              </a:rPr>
              <a:t>Requisitos de acceso e integraciones</a:t>
            </a:r>
          </a:p>
        </p:txBody>
      </p:sp>
      <p:sp>
        <p:nvSpPr>
          <p:cNvPr id="3" name="CuadroTexto 2">
            <a:extLst>
              <a:ext uri="{FF2B5EF4-FFF2-40B4-BE49-F238E27FC236}">
                <a16:creationId xmlns:a16="http://schemas.microsoft.com/office/drawing/2014/main" id="{95DD35A8-0CE0-E5B7-EA90-CB1363D984ED}"/>
              </a:ext>
            </a:extLst>
          </p:cNvPr>
          <p:cNvSpPr txBox="1"/>
          <p:nvPr/>
        </p:nvSpPr>
        <p:spPr>
          <a:xfrm>
            <a:off x="533400" y="6477000"/>
            <a:ext cx="6350000" cy="153888"/>
          </a:xfrm>
          <a:prstGeom prst="rect">
            <a:avLst/>
          </a:prstGeom>
          <a:noFill/>
        </p:spPr>
        <p:txBody>
          <a:bodyPr vert="horz" wrap="square" lIns="0" tIns="0" rIns="0" bIns="0" rtlCol="0">
            <a:spAutoFit/>
          </a:bodyPr>
          <a:lstStyle/>
          <a:p>
            <a:r>
              <a:rPr lang="es-ES" sz="1000">
                <a:solidFill>
                  <a:srgbClr val="52677A"/>
                </a:solidFill>
                <a:latin typeface="Aptos" panose="020B0004020202020204" pitchFamily="34" charset="0"/>
              </a:rPr>
              <a:t>MAYORISTAPRO  /  SPRINT 01</a:t>
            </a:r>
          </a:p>
        </p:txBody>
      </p:sp>
      <p:sp>
        <p:nvSpPr>
          <p:cNvPr id="4" name="CuadroTexto 3">
            <a:extLst>
              <a:ext uri="{FF2B5EF4-FFF2-40B4-BE49-F238E27FC236}">
                <a16:creationId xmlns:a16="http://schemas.microsoft.com/office/drawing/2014/main" id="{08729F6F-0F7D-C222-1217-4AD5301C74CF}"/>
              </a:ext>
            </a:extLst>
          </p:cNvPr>
          <p:cNvSpPr txBox="1"/>
          <p:nvPr/>
        </p:nvSpPr>
        <p:spPr>
          <a:xfrm>
            <a:off x="11176000" y="6477000"/>
            <a:ext cx="444500" cy="169277"/>
          </a:xfrm>
          <a:prstGeom prst="rect">
            <a:avLst/>
          </a:prstGeom>
          <a:noFill/>
        </p:spPr>
        <p:txBody>
          <a:bodyPr vert="horz" wrap="square" lIns="0" tIns="0" rIns="0" bIns="0" rtlCol="0">
            <a:spAutoFit/>
          </a:bodyPr>
          <a:lstStyle/>
          <a:p>
            <a:r>
              <a:rPr lang="es-ES" sz="1100">
                <a:solidFill>
                  <a:srgbClr val="52677A"/>
                </a:solidFill>
                <a:latin typeface="Aptos" panose="020B0004020202020204" pitchFamily="34" charset="0"/>
              </a:rPr>
              <a:t>8</a:t>
            </a:r>
          </a:p>
        </p:txBody>
      </p:sp>
      <p:graphicFrame>
        <p:nvGraphicFramePr>
          <p:cNvPr id="5" name="Tabla 4">
            <a:extLst>
              <a:ext uri="{FF2B5EF4-FFF2-40B4-BE49-F238E27FC236}">
                <a16:creationId xmlns:a16="http://schemas.microsoft.com/office/drawing/2014/main" id="{DE6049C2-6A75-FC9C-EA28-912BCF4BB189}"/>
              </a:ext>
            </a:extLst>
          </p:cNvPr>
          <p:cNvGraphicFramePr>
            <a:graphicFrameLocks noGrp="1"/>
          </p:cNvGraphicFramePr>
          <p:nvPr>
            <p:extLst>
              <p:ext uri="{D42A27DB-BD31-4B8C-83A1-F6EECF244321}">
                <p14:modId xmlns:p14="http://schemas.microsoft.com/office/powerpoint/2010/main" val="3474212695"/>
              </p:ext>
            </p:extLst>
          </p:nvPr>
        </p:nvGraphicFramePr>
        <p:xfrm>
          <a:off x="533400" y="1460500"/>
          <a:ext cx="11125200" cy="4343400"/>
        </p:xfrm>
        <a:graphic>
          <a:graphicData uri="http://schemas.openxmlformats.org/drawingml/2006/table">
            <a:tbl>
              <a:tblPr firstRow="1" bandRow="1">
                <a:tableStyleId>{5C22544A-7EE6-4342-B048-85BDC9FD1C3A}</a:tableStyleId>
              </a:tblPr>
              <a:tblGrid>
                <a:gridCol w="2349500">
                  <a:extLst>
                    <a:ext uri="{9D8B030D-6E8A-4147-A177-3AD203B41FA5}">
                      <a16:colId xmlns:a16="http://schemas.microsoft.com/office/drawing/2014/main" val="1597987064"/>
                    </a:ext>
                  </a:extLst>
                </a:gridCol>
                <a:gridCol w="8775700">
                  <a:extLst>
                    <a:ext uri="{9D8B030D-6E8A-4147-A177-3AD203B41FA5}">
                      <a16:colId xmlns:a16="http://schemas.microsoft.com/office/drawing/2014/main" val="6011313"/>
                    </a:ext>
                  </a:extLst>
                </a:gridCol>
              </a:tblGrid>
              <a:tr h="723900">
                <a:tc>
                  <a:txBody>
                    <a:bodyPr/>
                    <a:lstStyle/>
                    <a:p>
                      <a:r>
                        <a:rPr lang="es-ES" sz="2100" b="1">
                          <a:solidFill>
                            <a:srgbClr val="FFFFFF"/>
                          </a:solidFill>
                          <a:latin typeface="Aptos" panose="020B0004020202020204" pitchFamily="34" charset="0"/>
                        </a:rPr>
                        <a:t>ID</a:t>
                      </a:r>
                    </a:p>
                  </a:txBody>
                  <a:tcPr marL="152400" marR="127000" marT="127000" marB="101600">
                    <a:solidFill>
                      <a:srgbClr val="102D4E"/>
                    </a:solidFill>
                  </a:tcPr>
                </a:tc>
                <a:tc>
                  <a:txBody>
                    <a:bodyPr/>
                    <a:lstStyle/>
                    <a:p>
                      <a:r>
                        <a:rPr lang="es-ES" sz="2100" b="1">
                          <a:solidFill>
                            <a:srgbClr val="FFFFFF"/>
                          </a:solidFill>
                          <a:latin typeface="Aptos" panose="020B0004020202020204" pitchFamily="34" charset="0"/>
                        </a:rPr>
                        <a:t>Comportamiento esperado</a:t>
                      </a:r>
                    </a:p>
                  </a:txBody>
                  <a:tcPr marL="152400" marR="127000" marT="127000" marB="101600">
                    <a:solidFill>
                      <a:srgbClr val="102D4E"/>
                    </a:solidFill>
                  </a:tcPr>
                </a:tc>
                <a:extLst>
                  <a:ext uri="{0D108BD9-81ED-4DB2-BD59-A6C34878D82A}">
                    <a16:rowId xmlns:a16="http://schemas.microsoft.com/office/drawing/2014/main" val="4025306150"/>
                  </a:ext>
                </a:extLst>
              </a:tr>
              <a:tr h="723900">
                <a:tc>
                  <a:txBody>
                    <a:bodyPr/>
                    <a:lstStyle/>
                    <a:p>
                      <a:r>
                        <a:rPr lang="es-ES" sz="2100" b="0">
                          <a:solidFill>
                            <a:srgbClr val="203447"/>
                          </a:solidFill>
                          <a:latin typeface="Aptos" panose="020B0004020202020204" pitchFamily="34" charset="0"/>
                        </a:rPr>
                        <a:t>RF-03 / RF-04</a:t>
                      </a:r>
                    </a:p>
                  </a:txBody>
                  <a:tcPr marL="152400" marR="127000" marT="127000" marB="101600">
                    <a:solidFill>
                      <a:srgbClr val="EDF4FA"/>
                    </a:solidFill>
                  </a:tcPr>
                </a:tc>
                <a:tc>
                  <a:txBody>
                    <a:bodyPr/>
                    <a:lstStyle/>
                    <a:p>
                      <a:r>
                        <a:rPr lang="es-ES" sz="2100" b="0">
                          <a:solidFill>
                            <a:srgbClr val="203447"/>
                          </a:solidFill>
                          <a:latin typeface="Aptos" panose="020B0004020202020204" pitchFamily="34" charset="0"/>
                        </a:rPr>
                        <a:t>Autenticar usuarios y asignar permisos según su rol.</a:t>
                      </a:r>
                    </a:p>
                  </a:txBody>
                  <a:tcPr marL="152400" marR="127000" marT="127000" marB="101600">
                    <a:solidFill>
                      <a:srgbClr val="EDF4FA"/>
                    </a:solidFill>
                  </a:tcPr>
                </a:tc>
                <a:extLst>
                  <a:ext uri="{0D108BD9-81ED-4DB2-BD59-A6C34878D82A}">
                    <a16:rowId xmlns:a16="http://schemas.microsoft.com/office/drawing/2014/main" val="1581658194"/>
                  </a:ext>
                </a:extLst>
              </a:tr>
              <a:tr h="723900">
                <a:tc>
                  <a:txBody>
                    <a:bodyPr/>
                    <a:lstStyle/>
                    <a:p>
                      <a:r>
                        <a:rPr lang="es-ES" sz="2100" b="0">
                          <a:solidFill>
                            <a:srgbClr val="203447"/>
                          </a:solidFill>
                          <a:latin typeface="Aptos" panose="020B0004020202020204" pitchFamily="34" charset="0"/>
                        </a:rPr>
                        <a:t>RF-05</a:t>
                      </a:r>
                    </a:p>
                  </a:txBody>
                  <a:tcPr marL="152400" marR="127000" marT="127000" marB="101600">
                    <a:solidFill>
                      <a:srgbClr val="FFFFFF"/>
                    </a:solidFill>
                  </a:tcPr>
                </a:tc>
                <a:tc>
                  <a:txBody>
                    <a:bodyPr/>
                    <a:lstStyle/>
                    <a:p>
                      <a:r>
                        <a:rPr lang="es-ES" sz="2100" b="0">
                          <a:solidFill>
                            <a:srgbClr val="203447"/>
                          </a:solidFill>
                          <a:latin typeface="Aptos" panose="020B0004020202020204" pitchFamily="34" charset="0"/>
                        </a:rPr>
                        <a:t>Permitir la verificación y aprobación de proveedores.</a:t>
                      </a:r>
                    </a:p>
                  </a:txBody>
                  <a:tcPr marL="152400" marR="127000" marT="127000" marB="101600">
                    <a:solidFill>
                      <a:srgbClr val="FFFFFF"/>
                    </a:solidFill>
                  </a:tcPr>
                </a:tc>
                <a:extLst>
                  <a:ext uri="{0D108BD9-81ED-4DB2-BD59-A6C34878D82A}">
                    <a16:rowId xmlns:a16="http://schemas.microsoft.com/office/drawing/2014/main" val="3579681831"/>
                  </a:ext>
                </a:extLst>
              </a:tr>
              <a:tr h="723900">
                <a:tc>
                  <a:txBody>
                    <a:bodyPr/>
                    <a:lstStyle/>
                    <a:p>
                      <a:r>
                        <a:rPr lang="es-ES" sz="2100" b="0">
                          <a:solidFill>
                            <a:srgbClr val="203447"/>
                          </a:solidFill>
                          <a:latin typeface="Aptos" panose="020B0004020202020204" pitchFamily="34" charset="0"/>
                        </a:rPr>
                        <a:t>RF-22 / RF-24</a:t>
                      </a:r>
                    </a:p>
                  </a:txBody>
                  <a:tcPr marL="152400" marR="127000" marT="127000" marB="101600">
                    <a:solidFill>
                      <a:srgbClr val="EDF4FA"/>
                    </a:solidFill>
                  </a:tcPr>
                </a:tc>
                <a:tc>
                  <a:txBody>
                    <a:bodyPr/>
                    <a:lstStyle/>
                    <a:p>
                      <a:r>
                        <a:rPr lang="es-ES" sz="2100" b="0">
                          <a:solidFill>
                            <a:srgbClr val="203447"/>
                          </a:solidFill>
                          <a:latin typeface="Aptos" panose="020B0004020202020204" pitchFamily="34" charset="0"/>
                        </a:rPr>
                        <a:t>Integrar una pasarela y registrar los estados del pago.</a:t>
                      </a:r>
                    </a:p>
                  </a:txBody>
                  <a:tcPr marL="152400" marR="127000" marT="127000" marB="101600">
                    <a:solidFill>
                      <a:srgbClr val="EDF4FA"/>
                    </a:solidFill>
                  </a:tcPr>
                </a:tc>
                <a:extLst>
                  <a:ext uri="{0D108BD9-81ED-4DB2-BD59-A6C34878D82A}">
                    <a16:rowId xmlns:a16="http://schemas.microsoft.com/office/drawing/2014/main" val="431589082"/>
                  </a:ext>
                </a:extLst>
              </a:tr>
              <a:tr h="723900">
                <a:tc>
                  <a:txBody>
                    <a:bodyPr/>
                    <a:lstStyle/>
                    <a:p>
                      <a:r>
                        <a:rPr lang="es-ES" sz="2100" b="0">
                          <a:solidFill>
                            <a:srgbClr val="203447"/>
                          </a:solidFill>
                          <a:latin typeface="Aptos" panose="020B0004020202020204" pitchFamily="34" charset="0"/>
                        </a:rPr>
                        <a:t>RF-25</a:t>
                      </a:r>
                    </a:p>
                  </a:txBody>
                  <a:tcPr marL="152400" marR="127000" marT="127000" marB="101600">
                    <a:solidFill>
                      <a:srgbClr val="FFFFFF"/>
                    </a:solidFill>
                  </a:tcPr>
                </a:tc>
                <a:tc>
                  <a:txBody>
                    <a:bodyPr/>
                    <a:lstStyle/>
                    <a:p>
                      <a:r>
                        <a:rPr lang="es-ES" sz="2100" b="0">
                          <a:solidFill>
                            <a:srgbClr val="203447"/>
                          </a:solidFill>
                          <a:latin typeface="Aptos" panose="020B0004020202020204" pitchFamily="34" charset="0"/>
                        </a:rPr>
                        <a:t>Integrar un PSE para emitir comprobantes electrónicos.</a:t>
                      </a:r>
                    </a:p>
                  </a:txBody>
                  <a:tcPr marL="152400" marR="127000" marT="127000" marB="101600">
                    <a:solidFill>
                      <a:srgbClr val="FFFFFF"/>
                    </a:solidFill>
                  </a:tcPr>
                </a:tc>
                <a:extLst>
                  <a:ext uri="{0D108BD9-81ED-4DB2-BD59-A6C34878D82A}">
                    <a16:rowId xmlns:a16="http://schemas.microsoft.com/office/drawing/2014/main" val="1777372763"/>
                  </a:ext>
                </a:extLst>
              </a:tr>
              <a:tr h="723900">
                <a:tc>
                  <a:txBody>
                    <a:bodyPr/>
                    <a:lstStyle/>
                    <a:p>
                      <a:r>
                        <a:rPr lang="es-ES" sz="2100" b="0">
                          <a:solidFill>
                            <a:srgbClr val="203447"/>
                          </a:solidFill>
                          <a:latin typeface="Aptos" panose="020B0004020202020204" pitchFamily="34" charset="0"/>
                        </a:rPr>
                        <a:t>RF-16 / RF-17</a:t>
                      </a:r>
                    </a:p>
                  </a:txBody>
                  <a:tcPr marL="152400" marR="127000" marT="127000" marB="101600">
                    <a:solidFill>
                      <a:srgbClr val="EDF4FA"/>
                    </a:solidFill>
                  </a:tcPr>
                </a:tc>
                <a:tc>
                  <a:txBody>
                    <a:bodyPr/>
                    <a:lstStyle/>
                    <a:p>
                      <a:r>
                        <a:rPr lang="es-ES" sz="2100" b="0">
                          <a:solidFill>
                            <a:srgbClr val="203447"/>
                          </a:solidFill>
                          <a:latin typeface="Aptos" panose="020B0004020202020204" pitchFamily="34" charset="0"/>
                        </a:rPr>
                        <a:t>Recomendar proveedores y mantener la consulta ante fallas.</a:t>
                      </a:r>
                    </a:p>
                  </a:txBody>
                  <a:tcPr marL="152400" marR="127000" marT="127000" marB="101600">
                    <a:solidFill>
                      <a:srgbClr val="EDF4FA"/>
                    </a:solidFill>
                  </a:tcPr>
                </a:tc>
                <a:extLst>
                  <a:ext uri="{0D108BD9-81ED-4DB2-BD59-A6C34878D82A}">
                    <a16:rowId xmlns:a16="http://schemas.microsoft.com/office/drawing/2014/main" val="1469502365"/>
                  </a:ext>
                </a:extLst>
              </a:tr>
            </a:tbl>
          </a:graphicData>
        </a:graphic>
      </p:graphicFrame>
      <p:sp>
        <p:nvSpPr>
          <p:cNvPr id="6" name="CuadroTexto 5">
            <a:extLst>
              <a:ext uri="{FF2B5EF4-FFF2-40B4-BE49-F238E27FC236}">
                <a16:creationId xmlns:a16="http://schemas.microsoft.com/office/drawing/2014/main" id="{B19F54F0-735B-6A3A-E30F-D3343847C36E}"/>
              </a:ext>
            </a:extLst>
          </p:cNvPr>
          <p:cNvSpPr txBox="1"/>
          <p:nvPr/>
        </p:nvSpPr>
        <p:spPr>
          <a:xfrm>
            <a:off x="533400" y="6019800"/>
            <a:ext cx="11125200" cy="261610"/>
          </a:xfrm>
          <a:prstGeom prst="rect">
            <a:avLst/>
          </a:prstGeom>
          <a:noFill/>
        </p:spPr>
        <p:txBody>
          <a:bodyPr vert="horz" wrap="square" lIns="0" tIns="0" rIns="0" bIns="0" rtlCol="0">
            <a:spAutoFit/>
          </a:bodyPr>
          <a:lstStyle/>
          <a:p>
            <a:r>
              <a:rPr lang="es-ES" sz="1700">
                <a:solidFill>
                  <a:srgbClr val="52677A"/>
                </a:solidFill>
                <a:latin typeface="Aptos" panose="020B0004020202020204" pitchFamily="34" charset="0"/>
              </a:rPr>
              <a:t>Pagos, facturación e IA: priorización sujeta al alcance académico acordado</a:t>
            </a:r>
          </a:p>
        </p:txBody>
      </p:sp>
    </p:spTree>
    <p:extLst>
      <p:ext uri="{BB962C8B-B14F-4D97-AF65-F5344CB8AC3E}">
        <p14:creationId xmlns:p14="http://schemas.microsoft.com/office/powerpoint/2010/main" val="127624758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C476E875-C0BA-61E4-8767-92C86818F9A6}"/>
              </a:ext>
            </a:extLst>
          </p:cNvPr>
          <p:cNvSpPr txBox="1"/>
          <p:nvPr/>
        </p:nvSpPr>
        <p:spPr>
          <a:xfrm>
            <a:off x="533400" y="355600"/>
            <a:ext cx="11049000" cy="492443"/>
          </a:xfrm>
          <a:prstGeom prst="rect">
            <a:avLst/>
          </a:prstGeom>
          <a:noFill/>
        </p:spPr>
        <p:txBody>
          <a:bodyPr vert="horz" wrap="square" lIns="0" tIns="0" rIns="0" bIns="0" rtlCol="0">
            <a:spAutoFit/>
          </a:bodyPr>
          <a:lstStyle/>
          <a:p>
            <a:r>
              <a:rPr lang="es-ES" sz="3200" b="1">
                <a:solidFill>
                  <a:srgbClr val="102D4E"/>
                </a:solidFill>
                <a:latin typeface="Aptos" panose="020B0004020202020204" pitchFamily="34" charset="0"/>
              </a:rPr>
              <a:t>Alcance de la primera versión</a:t>
            </a:r>
          </a:p>
        </p:txBody>
      </p:sp>
      <p:sp>
        <p:nvSpPr>
          <p:cNvPr id="3" name="CuadroTexto 2">
            <a:extLst>
              <a:ext uri="{FF2B5EF4-FFF2-40B4-BE49-F238E27FC236}">
                <a16:creationId xmlns:a16="http://schemas.microsoft.com/office/drawing/2014/main" id="{1545304A-DD45-F136-FD2E-62C4C6AE4081}"/>
              </a:ext>
            </a:extLst>
          </p:cNvPr>
          <p:cNvSpPr txBox="1"/>
          <p:nvPr/>
        </p:nvSpPr>
        <p:spPr>
          <a:xfrm>
            <a:off x="533400" y="6477000"/>
            <a:ext cx="6350000" cy="153888"/>
          </a:xfrm>
          <a:prstGeom prst="rect">
            <a:avLst/>
          </a:prstGeom>
          <a:noFill/>
        </p:spPr>
        <p:txBody>
          <a:bodyPr vert="horz" wrap="square" lIns="0" tIns="0" rIns="0" bIns="0" rtlCol="0">
            <a:spAutoFit/>
          </a:bodyPr>
          <a:lstStyle/>
          <a:p>
            <a:r>
              <a:rPr lang="es-ES" sz="1000">
                <a:solidFill>
                  <a:srgbClr val="52677A"/>
                </a:solidFill>
                <a:latin typeface="Aptos" panose="020B0004020202020204" pitchFamily="34" charset="0"/>
              </a:rPr>
              <a:t>MAYORISTAPRO  /  SPRINT 01</a:t>
            </a:r>
          </a:p>
        </p:txBody>
      </p:sp>
      <p:sp>
        <p:nvSpPr>
          <p:cNvPr id="4" name="CuadroTexto 3">
            <a:extLst>
              <a:ext uri="{FF2B5EF4-FFF2-40B4-BE49-F238E27FC236}">
                <a16:creationId xmlns:a16="http://schemas.microsoft.com/office/drawing/2014/main" id="{D694B2D4-1932-E1E9-4185-9A146046373E}"/>
              </a:ext>
            </a:extLst>
          </p:cNvPr>
          <p:cNvSpPr txBox="1"/>
          <p:nvPr/>
        </p:nvSpPr>
        <p:spPr>
          <a:xfrm>
            <a:off x="11176000" y="6477000"/>
            <a:ext cx="444500" cy="169277"/>
          </a:xfrm>
          <a:prstGeom prst="rect">
            <a:avLst/>
          </a:prstGeom>
          <a:noFill/>
        </p:spPr>
        <p:txBody>
          <a:bodyPr vert="horz" wrap="square" lIns="0" tIns="0" rIns="0" bIns="0" rtlCol="0">
            <a:spAutoFit/>
          </a:bodyPr>
          <a:lstStyle/>
          <a:p>
            <a:r>
              <a:rPr lang="es-ES" sz="1100">
                <a:solidFill>
                  <a:srgbClr val="52677A"/>
                </a:solidFill>
                <a:latin typeface="Aptos" panose="020B0004020202020204" pitchFamily="34" charset="0"/>
              </a:rPr>
              <a:t>9</a:t>
            </a:r>
          </a:p>
        </p:txBody>
      </p:sp>
      <p:sp>
        <p:nvSpPr>
          <p:cNvPr id="5" name="CuadroTexto 4">
            <a:extLst>
              <a:ext uri="{FF2B5EF4-FFF2-40B4-BE49-F238E27FC236}">
                <a16:creationId xmlns:a16="http://schemas.microsoft.com/office/drawing/2014/main" id="{DBC1341F-40D9-F5C0-D63F-7A447847464D}"/>
              </a:ext>
            </a:extLst>
          </p:cNvPr>
          <p:cNvSpPr txBox="1"/>
          <p:nvPr/>
        </p:nvSpPr>
        <p:spPr>
          <a:xfrm>
            <a:off x="533400" y="1460500"/>
            <a:ext cx="5334000" cy="415498"/>
          </a:xfrm>
          <a:prstGeom prst="rect">
            <a:avLst/>
          </a:prstGeom>
          <a:noFill/>
        </p:spPr>
        <p:txBody>
          <a:bodyPr vert="horz" wrap="square" lIns="0" tIns="0" rIns="0" bIns="0" rtlCol="0">
            <a:spAutoFit/>
          </a:bodyPr>
          <a:lstStyle/>
          <a:p>
            <a:r>
              <a:rPr lang="es-ES" sz="2700" b="1">
                <a:solidFill>
                  <a:srgbClr val="1269B0"/>
                </a:solidFill>
                <a:latin typeface="Aptos" panose="020B0004020202020204" pitchFamily="34" charset="0"/>
              </a:rPr>
              <a:t>MVP propuesto</a:t>
            </a:r>
          </a:p>
        </p:txBody>
      </p:sp>
      <p:sp>
        <p:nvSpPr>
          <p:cNvPr id="6" name="CuadroTexto 5">
            <a:extLst>
              <a:ext uri="{FF2B5EF4-FFF2-40B4-BE49-F238E27FC236}">
                <a16:creationId xmlns:a16="http://schemas.microsoft.com/office/drawing/2014/main" id="{3B545033-76F7-E081-F718-11E3C506459D}"/>
              </a:ext>
            </a:extLst>
          </p:cNvPr>
          <p:cNvSpPr txBox="1"/>
          <p:nvPr/>
        </p:nvSpPr>
        <p:spPr>
          <a:xfrm>
            <a:off x="533400" y="2209800"/>
            <a:ext cx="5270500" cy="3046988"/>
          </a:xfrm>
          <a:prstGeom prst="rect">
            <a:avLst/>
          </a:prstGeom>
          <a:noFill/>
        </p:spPr>
        <p:txBody>
          <a:bodyPr vert="horz" wrap="square" lIns="0" tIns="0" rIns="0" bIns="0" rtlCol="0">
            <a:spAutoFit/>
          </a:bodyPr>
          <a:lstStyle/>
          <a:p>
            <a:r>
              <a:rPr lang="es-ES" sz="2200">
                <a:solidFill>
                  <a:srgbClr val="203447"/>
                </a:solidFill>
                <a:latin typeface="Aptos" panose="020B0004020202020204" pitchFamily="34" charset="0"/>
              </a:rPr>
              <a:t>Registro y permisos por empresa</a:t>
            </a:r>
          </a:p>
          <a:p>
            <a:endParaRPr lang="es-ES" sz="2200">
              <a:solidFill>
                <a:srgbClr val="203447"/>
              </a:solidFill>
              <a:latin typeface="Aptos" panose="020B0004020202020204" pitchFamily="34" charset="0"/>
            </a:endParaRPr>
          </a:p>
          <a:p>
            <a:r>
              <a:rPr lang="es-ES" sz="2200">
                <a:solidFill>
                  <a:srgbClr val="203447"/>
                </a:solidFill>
                <a:latin typeface="Aptos" panose="020B0004020202020204" pitchFamily="34" charset="0"/>
              </a:rPr>
              <a:t>Catálogo y verificación manual</a:t>
            </a:r>
          </a:p>
          <a:p>
            <a:endParaRPr lang="es-ES" sz="2200">
              <a:solidFill>
                <a:srgbClr val="203447"/>
              </a:solidFill>
              <a:latin typeface="Aptos" panose="020B0004020202020204" pitchFamily="34" charset="0"/>
            </a:endParaRPr>
          </a:p>
          <a:p>
            <a:r>
              <a:rPr lang="es-ES" sz="2200">
                <a:solidFill>
                  <a:srgbClr val="203447"/>
                </a:solidFill>
                <a:latin typeface="Aptos" panose="020B0004020202020204" pitchFamily="34" charset="0"/>
              </a:rPr>
              <a:t>Cotización a un proveedor</a:t>
            </a:r>
          </a:p>
          <a:p>
            <a:endParaRPr lang="es-ES" sz="2200">
              <a:solidFill>
                <a:srgbClr val="203447"/>
              </a:solidFill>
              <a:latin typeface="Aptos" panose="020B0004020202020204" pitchFamily="34" charset="0"/>
            </a:endParaRPr>
          </a:p>
          <a:p>
            <a:r>
              <a:rPr lang="es-ES" sz="2200">
                <a:solidFill>
                  <a:srgbClr val="203447"/>
                </a:solidFill>
                <a:latin typeface="Aptos" panose="020B0004020202020204" pitchFamily="34" charset="0"/>
              </a:rPr>
              <a:t>Pedido y reserva de stock</a:t>
            </a:r>
          </a:p>
          <a:p>
            <a:endParaRPr lang="es-ES" sz="2200">
              <a:solidFill>
                <a:srgbClr val="203447"/>
              </a:solidFill>
              <a:latin typeface="Aptos" panose="020B0004020202020204" pitchFamily="34" charset="0"/>
            </a:endParaRPr>
          </a:p>
          <a:p>
            <a:r>
              <a:rPr lang="es-ES" sz="2200">
                <a:solidFill>
                  <a:srgbClr val="203447"/>
                </a:solidFill>
                <a:latin typeface="Aptos" panose="020B0004020202020204" pitchFamily="34" charset="0"/>
              </a:rPr>
              <a:t>Atención y estados básicos</a:t>
            </a:r>
          </a:p>
        </p:txBody>
      </p:sp>
      <p:sp>
        <p:nvSpPr>
          <p:cNvPr id="7" name="CuadroTexto 6">
            <a:extLst>
              <a:ext uri="{FF2B5EF4-FFF2-40B4-BE49-F238E27FC236}">
                <a16:creationId xmlns:a16="http://schemas.microsoft.com/office/drawing/2014/main" id="{0A10F7A4-5D37-1BC2-733D-7B059BF6E03D}"/>
              </a:ext>
            </a:extLst>
          </p:cNvPr>
          <p:cNvSpPr txBox="1"/>
          <p:nvPr/>
        </p:nvSpPr>
        <p:spPr>
          <a:xfrm>
            <a:off x="6604000" y="1460500"/>
            <a:ext cx="5054600" cy="415498"/>
          </a:xfrm>
          <a:prstGeom prst="rect">
            <a:avLst/>
          </a:prstGeom>
          <a:noFill/>
        </p:spPr>
        <p:txBody>
          <a:bodyPr vert="horz" wrap="square" lIns="0" tIns="0" rIns="0" bIns="0" rtlCol="0">
            <a:spAutoFit/>
          </a:bodyPr>
          <a:lstStyle/>
          <a:p>
            <a:r>
              <a:rPr lang="es-ES" sz="2700" b="1">
                <a:solidFill>
                  <a:srgbClr val="0F776F"/>
                </a:solidFill>
                <a:latin typeface="Aptos" panose="020B0004020202020204" pitchFamily="34" charset="0"/>
              </a:rPr>
              <a:t>Entregas posteriores</a:t>
            </a:r>
          </a:p>
        </p:txBody>
      </p:sp>
      <p:sp>
        <p:nvSpPr>
          <p:cNvPr id="8" name="CuadroTexto 7">
            <a:extLst>
              <a:ext uri="{FF2B5EF4-FFF2-40B4-BE49-F238E27FC236}">
                <a16:creationId xmlns:a16="http://schemas.microsoft.com/office/drawing/2014/main" id="{E1F11CEE-7AB2-1F3D-F4DC-CD884F62E6DF}"/>
              </a:ext>
            </a:extLst>
          </p:cNvPr>
          <p:cNvSpPr txBox="1"/>
          <p:nvPr/>
        </p:nvSpPr>
        <p:spPr>
          <a:xfrm>
            <a:off x="6604000" y="2209800"/>
            <a:ext cx="5054600" cy="2369880"/>
          </a:xfrm>
          <a:prstGeom prst="rect">
            <a:avLst/>
          </a:prstGeom>
          <a:noFill/>
        </p:spPr>
        <p:txBody>
          <a:bodyPr vert="horz" wrap="square" lIns="0" tIns="0" rIns="0" bIns="0" rtlCol="0">
            <a:spAutoFit/>
          </a:bodyPr>
          <a:lstStyle/>
          <a:p>
            <a:r>
              <a:rPr lang="es-ES" sz="2200">
                <a:solidFill>
                  <a:srgbClr val="203447"/>
                </a:solidFill>
                <a:latin typeface="Aptos" panose="020B0004020202020204" pitchFamily="34" charset="0"/>
              </a:rPr>
              <a:t>Recomendaciones de proveedores</a:t>
            </a:r>
          </a:p>
          <a:p>
            <a:endParaRPr lang="es-ES" sz="2200">
              <a:solidFill>
                <a:srgbClr val="203447"/>
              </a:solidFill>
              <a:latin typeface="Aptos" panose="020B0004020202020204" pitchFamily="34" charset="0"/>
            </a:endParaRPr>
          </a:p>
          <a:p>
            <a:r>
              <a:rPr lang="es-ES" sz="2200">
                <a:solidFill>
                  <a:srgbClr val="203447"/>
                </a:solidFill>
                <a:latin typeface="Aptos" panose="020B0004020202020204" pitchFamily="34" charset="0"/>
              </a:rPr>
              <a:t>Facturación y avisos externos</a:t>
            </a:r>
          </a:p>
          <a:p>
            <a:endParaRPr lang="es-ES" sz="2200">
              <a:solidFill>
                <a:srgbClr val="203447"/>
              </a:solidFill>
              <a:latin typeface="Aptos" panose="020B0004020202020204" pitchFamily="34" charset="0"/>
            </a:endParaRPr>
          </a:p>
          <a:p>
            <a:r>
              <a:rPr lang="es-ES" sz="2200">
                <a:solidFill>
                  <a:srgbClr val="203447"/>
                </a:solidFill>
                <a:latin typeface="Aptos" panose="020B0004020202020204" pitchFamily="34" charset="0"/>
              </a:rPr>
              <a:t>Reportes y reclamos avanzados</a:t>
            </a:r>
          </a:p>
          <a:p>
            <a:endParaRPr lang="es-ES" sz="2200">
              <a:solidFill>
                <a:srgbClr val="203447"/>
              </a:solidFill>
              <a:latin typeface="Aptos" panose="020B0004020202020204" pitchFamily="34" charset="0"/>
            </a:endParaRPr>
          </a:p>
          <a:p>
            <a:r>
              <a:rPr lang="es-ES" sz="2200">
                <a:solidFill>
                  <a:srgbClr val="203447"/>
                </a:solidFill>
                <a:latin typeface="Aptos" panose="020B0004020202020204" pitchFamily="34" charset="0"/>
              </a:rPr>
              <a:t>Mapas y automatizaciones</a:t>
            </a:r>
          </a:p>
        </p:txBody>
      </p:sp>
      <p:sp>
        <p:nvSpPr>
          <p:cNvPr id="9" name="CuadroTexto 8">
            <a:extLst>
              <a:ext uri="{FF2B5EF4-FFF2-40B4-BE49-F238E27FC236}">
                <a16:creationId xmlns:a16="http://schemas.microsoft.com/office/drawing/2014/main" id="{CC930AF6-C24C-B7D4-71E7-4ED66C82F91C}"/>
              </a:ext>
            </a:extLst>
          </p:cNvPr>
          <p:cNvSpPr txBox="1"/>
          <p:nvPr/>
        </p:nvSpPr>
        <p:spPr>
          <a:xfrm>
            <a:off x="533400" y="5880100"/>
            <a:ext cx="11125200" cy="276999"/>
          </a:xfrm>
          <a:prstGeom prst="rect">
            <a:avLst/>
          </a:prstGeom>
          <a:noFill/>
        </p:spPr>
        <p:txBody>
          <a:bodyPr vert="horz" wrap="square" lIns="0" tIns="0" rIns="0" bIns="0" rtlCol="0">
            <a:spAutoFit/>
          </a:bodyPr>
          <a:lstStyle/>
          <a:p>
            <a:r>
              <a:rPr lang="es-ES">
                <a:solidFill>
                  <a:srgbClr val="52677A"/>
                </a:solidFill>
                <a:latin typeface="Aptos" panose="020B0004020202020204" pitchFamily="34" charset="0"/>
              </a:rPr>
              <a:t>Pagos e IA: alcance sujeto a los requisitos del curso y validación docente</a:t>
            </a:r>
          </a:p>
        </p:txBody>
      </p:sp>
    </p:spTree>
    <p:extLst>
      <p:ext uri="{BB962C8B-B14F-4D97-AF65-F5344CB8AC3E}">
        <p14:creationId xmlns:p14="http://schemas.microsoft.com/office/powerpoint/2010/main" val="27950080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3E06600B-F534-E2ED-E3C1-698E97D49420}"/>
              </a:ext>
            </a:extLst>
          </p:cNvPr>
          <p:cNvSpPr txBox="1"/>
          <p:nvPr/>
        </p:nvSpPr>
        <p:spPr>
          <a:xfrm>
            <a:off x="533400" y="355600"/>
            <a:ext cx="11049000" cy="492443"/>
          </a:xfrm>
          <a:prstGeom prst="rect">
            <a:avLst/>
          </a:prstGeom>
          <a:noFill/>
        </p:spPr>
        <p:txBody>
          <a:bodyPr vert="horz" wrap="square" lIns="0" tIns="0" rIns="0" bIns="0" rtlCol="0">
            <a:spAutoFit/>
          </a:bodyPr>
          <a:lstStyle/>
          <a:p>
            <a:r>
              <a:rPr lang="es-ES" sz="3200" b="1">
                <a:solidFill>
                  <a:srgbClr val="102D4E"/>
                </a:solidFill>
                <a:latin typeface="Aptos" panose="020B0004020202020204" pitchFamily="34" charset="0"/>
              </a:rPr>
              <a:t>Atributos de calidad prioritarios</a:t>
            </a:r>
          </a:p>
        </p:txBody>
      </p:sp>
      <p:sp>
        <p:nvSpPr>
          <p:cNvPr id="3" name="CuadroTexto 2">
            <a:extLst>
              <a:ext uri="{FF2B5EF4-FFF2-40B4-BE49-F238E27FC236}">
                <a16:creationId xmlns:a16="http://schemas.microsoft.com/office/drawing/2014/main" id="{740AEE5C-4A5E-F0F1-7972-BB2885281E53}"/>
              </a:ext>
            </a:extLst>
          </p:cNvPr>
          <p:cNvSpPr txBox="1"/>
          <p:nvPr/>
        </p:nvSpPr>
        <p:spPr>
          <a:xfrm>
            <a:off x="533400" y="6477000"/>
            <a:ext cx="6350000" cy="153888"/>
          </a:xfrm>
          <a:prstGeom prst="rect">
            <a:avLst/>
          </a:prstGeom>
          <a:noFill/>
        </p:spPr>
        <p:txBody>
          <a:bodyPr vert="horz" wrap="square" lIns="0" tIns="0" rIns="0" bIns="0" rtlCol="0">
            <a:spAutoFit/>
          </a:bodyPr>
          <a:lstStyle/>
          <a:p>
            <a:r>
              <a:rPr lang="es-ES" sz="1000">
                <a:solidFill>
                  <a:srgbClr val="52677A"/>
                </a:solidFill>
                <a:latin typeface="Aptos" panose="020B0004020202020204" pitchFamily="34" charset="0"/>
              </a:rPr>
              <a:t>MAYORISTAPRO  /  SPRINT 01</a:t>
            </a:r>
          </a:p>
        </p:txBody>
      </p:sp>
      <p:sp>
        <p:nvSpPr>
          <p:cNvPr id="4" name="CuadroTexto 3">
            <a:extLst>
              <a:ext uri="{FF2B5EF4-FFF2-40B4-BE49-F238E27FC236}">
                <a16:creationId xmlns:a16="http://schemas.microsoft.com/office/drawing/2014/main" id="{8C744B49-8A1E-62EC-3A32-C801DDE2F2EB}"/>
              </a:ext>
            </a:extLst>
          </p:cNvPr>
          <p:cNvSpPr txBox="1"/>
          <p:nvPr/>
        </p:nvSpPr>
        <p:spPr>
          <a:xfrm>
            <a:off x="11176000" y="6477000"/>
            <a:ext cx="444500" cy="169277"/>
          </a:xfrm>
          <a:prstGeom prst="rect">
            <a:avLst/>
          </a:prstGeom>
          <a:noFill/>
        </p:spPr>
        <p:txBody>
          <a:bodyPr vert="horz" wrap="square" lIns="0" tIns="0" rIns="0" bIns="0" rtlCol="0">
            <a:spAutoFit/>
          </a:bodyPr>
          <a:lstStyle/>
          <a:p>
            <a:r>
              <a:rPr lang="es-ES" sz="1100">
                <a:solidFill>
                  <a:srgbClr val="52677A"/>
                </a:solidFill>
                <a:latin typeface="Aptos" panose="020B0004020202020204" pitchFamily="34" charset="0"/>
              </a:rPr>
              <a:t>10</a:t>
            </a:r>
          </a:p>
        </p:txBody>
      </p:sp>
      <p:graphicFrame>
        <p:nvGraphicFramePr>
          <p:cNvPr id="5" name="Tabla 4">
            <a:extLst>
              <a:ext uri="{FF2B5EF4-FFF2-40B4-BE49-F238E27FC236}">
                <a16:creationId xmlns:a16="http://schemas.microsoft.com/office/drawing/2014/main" id="{CFFF16C7-8F8F-014B-B9F8-EE3D0882FE14}"/>
              </a:ext>
            </a:extLst>
          </p:cNvPr>
          <p:cNvGraphicFramePr>
            <a:graphicFrameLocks noGrp="1"/>
          </p:cNvGraphicFramePr>
          <p:nvPr>
            <p:extLst>
              <p:ext uri="{D42A27DB-BD31-4B8C-83A1-F6EECF244321}">
                <p14:modId xmlns:p14="http://schemas.microsoft.com/office/powerpoint/2010/main" val="646705598"/>
              </p:ext>
            </p:extLst>
          </p:nvPr>
        </p:nvGraphicFramePr>
        <p:xfrm>
          <a:off x="533400" y="1409700"/>
          <a:ext cx="11125200" cy="4343400"/>
        </p:xfrm>
        <a:graphic>
          <a:graphicData uri="http://schemas.openxmlformats.org/drawingml/2006/table">
            <a:tbl>
              <a:tblPr firstRow="1" bandRow="1">
                <a:tableStyleId>{5C22544A-7EE6-4342-B048-85BDC9FD1C3A}</a:tableStyleId>
              </a:tblPr>
              <a:tblGrid>
                <a:gridCol w="2489200">
                  <a:extLst>
                    <a:ext uri="{9D8B030D-6E8A-4147-A177-3AD203B41FA5}">
                      <a16:colId xmlns:a16="http://schemas.microsoft.com/office/drawing/2014/main" val="697645385"/>
                    </a:ext>
                  </a:extLst>
                </a:gridCol>
                <a:gridCol w="5651500">
                  <a:extLst>
                    <a:ext uri="{9D8B030D-6E8A-4147-A177-3AD203B41FA5}">
                      <a16:colId xmlns:a16="http://schemas.microsoft.com/office/drawing/2014/main" val="3144369718"/>
                    </a:ext>
                  </a:extLst>
                </a:gridCol>
                <a:gridCol w="2984500">
                  <a:extLst>
                    <a:ext uri="{9D8B030D-6E8A-4147-A177-3AD203B41FA5}">
                      <a16:colId xmlns:a16="http://schemas.microsoft.com/office/drawing/2014/main" val="1882097466"/>
                    </a:ext>
                  </a:extLst>
                </a:gridCol>
              </a:tblGrid>
              <a:tr h="723900">
                <a:tc>
                  <a:txBody>
                    <a:bodyPr/>
                    <a:lstStyle/>
                    <a:p>
                      <a:r>
                        <a:rPr lang="es-ES" sz="1900" b="1">
                          <a:solidFill>
                            <a:srgbClr val="FFFFFF"/>
                          </a:solidFill>
                          <a:latin typeface="Aptos" panose="020B0004020202020204" pitchFamily="34" charset="0"/>
                        </a:rPr>
                        <a:t>Atributo</a:t>
                      </a:r>
                    </a:p>
                  </a:txBody>
                  <a:tcPr marL="152400" marR="127000" marT="127000" marB="101600">
                    <a:solidFill>
                      <a:srgbClr val="102D4E"/>
                    </a:solidFill>
                  </a:tcPr>
                </a:tc>
                <a:tc>
                  <a:txBody>
                    <a:bodyPr/>
                    <a:lstStyle/>
                    <a:p>
                      <a:r>
                        <a:rPr lang="es-ES" sz="1900" b="1">
                          <a:solidFill>
                            <a:srgbClr val="FFFFFF"/>
                          </a:solidFill>
                          <a:latin typeface="Aptos" panose="020B0004020202020204" pitchFamily="34" charset="0"/>
                        </a:rPr>
                        <a:t>Meta propuesta</a:t>
                      </a:r>
                    </a:p>
                  </a:txBody>
                  <a:tcPr marL="152400" marR="127000" marT="127000" marB="101600">
                    <a:solidFill>
                      <a:srgbClr val="102D4E"/>
                    </a:solidFill>
                  </a:tcPr>
                </a:tc>
                <a:tc>
                  <a:txBody>
                    <a:bodyPr/>
                    <a:lstStyle/>
                    <a:p>
                      <a:r>
                        <a:rPr lang="es-ES" sz="1900" b="1">
                          <a:solidFill>
                            <a:srgbClr val="FFFFFF"/>
                          </a:solidFill>
                          <a:latin typeface="Aptos" panose="020B0004020202020204" pitchFamily="34" charset="0"/>
                        </a:rPr>
                        <a:t>Herramienta</a:t>
                      </a:r>
                    </a:p>
                  </a:txBody>
                  <a:tcPr marL="152400" marR="127000" marT="127000" marB="101600">
                    <a:solidFill>
                      <a:srgbClr val="102D4E"/>
                    </a:solidFill>
                  </a:tcPr>
                </a:tc>
                <a:extLst>
                  <a:ext uri="{0D108BD9-81ED-4DB2-BD59-A6C34878D82A}">
                    <a16:rowId xmlns:a16="http://schemas.microsoft.com/office/drawing/2014/main" val="2131059152"/>
                  </a:ext>
                </a:extLst>
              </a:tr>
              <a:tr h="723900">
                <a:tc>
                  <a:txBody>
                    <a:bodyPr/>
                    <a:lstStyle/>
                    <a:p>
                      <a:r>
                        <a:rPr lang="es-ES" sz="1900" b="0">
                          <a:solidFill>
                            <a:srgbClr val="203447"/>
                          </a:solidFill>
                          <a:latin typeface="Aptos" panose="020B0004020202020204" pitchFamily="34" charset="0"/>
                        </a:rPr>
                        <a:t>Rendimiento</a:t>
                      </a:r>
                    </a:p>
                  </a:txBody>
                  <a:tcPr marL="152400" marR="127000" marT="127000" marB="101600">
                    <a:solidFill>
                      <a:srgbClr val="EDF4FA"/>
                    </a:solidFill>
                  </a:tcPr>
                </a:tc>
                <a:tc>
                  <a:txBody>
                    <a:bodyPr/>
                    <a:lstStyle/>
                    <a:p>
                      <a:r>
                        <a:rPr lang="es-ES" sz="1900" b="0">
                          <a:solidFill>
                            <a:srgbClr val="203447"/>
                          </a:solidFill>
                          <a:latin typeface="Aptos" panose="020B0004020202020204" pitchFamily="34" charset="0"/>
                        </a:rPr>
                        <a:t>p95 de hasta 500 ms por endpoint local.</a:t>
                      </a:r>
                    </a:p>
                  </a:txBody>
                  <a:tcPr marL="152400" marR="127000" marT="127000" marB="101600">
                    <a:solidFill>
                      <a:srgbClr val="EDF4FA"/>
                    </a:solidFill>
                  </a:tcPr>
                </a:tc>
                <a:tc>
                  <a:txBody>
                    <a:bodyPr/>
                    <a:lstStyle/>
                    <a:p>
                      <a:r>
                        <a:rPr lang="es-ES" sz="1900" b="0">
                          <a:solidFill>
                            <a:srgbClr val="203447"/>
                          </a:solidFill>
                          <a:latin typeface="Aptos" panose="020B0004020202020204" pitchFamily="34" charset="0"/>
                        </a:rPr>
                        <a:t>k6</a:t>
                      </a:r>
                    </a:p>
                  </a:txBody>
                  <a:tcPr marL="152400" marR="127000" marT="127000" marB="101600">
                    <a:solidFill>
                      <a:srgbClr val="EDF4FA"/>
                    </a:solidFill>
                  </a:tcPr>
                </a:tc>
                <a:extLst>
                  <a:ext uri="{0D108BD9-81ED-4DB2-BD59-A6C34878D82A}">
                    <a16:rowId xmlns:a16="http://schemas.microsoft.com/office/drawing/2014/main" val="2428423852"/>
                  </a:ext>
                </a:extLst>
              </a:tr>
              <a:tr h="723900">
                <a:tc>
                  <a:txBody>
                    <a:bodyPr/>
                    <a:lstStyle/>
                    <a:p>
                      <a:r>
                        <a:rPr lang="es-ES" sz="1900" b="0">
                          <a:solidFill>
                            <a:srgbClr val="203447"/>
                          </a:solidFill>
                          <a:latin typeface="Aptos" panose="020B0004020202020204" pitchFamily="34" charset="0"/>
                        </a:rPr>
                        <a:t>Escalabilidad</a:t>
                      </a:r>
                    </a:p>
                  </a:txBody>
                  <a:tcPr marL="152400" marR="127000" marT="127000" marB="101600">
                    <a:solidFill>
                      <a:srgbClr val="FFFFFF"/>
                    </a:solidFill>
                  </a:tcPr>
                </a:tc>
                <a:tc>
                  <a:txBody>
                    <a:bodyPr/>
                    <a:lstStyle/>
                    <a:p>
                      <a:r>
                        <a:rPr lang="es-ES" sz="1900" b="0">
                          <a:solidFill>
                            <a:srgbClr val="203447"/>
                          </a:solidFill>
                          <a:latin typeface="Aptos" panose="020B0004020202020204" pitchFamily="34" charset="0"/>
                        </a:rPr>
                        <a:t>Evaluar hasta 2,000 usuarios virtuales.</a:t>
                      </a:r>
                    </a:p>
                  </a:txBody>
                  <a:tcPr marL="152400" marR="127000" marT="127000" marB="101600">
                    <a:solidFill>
                      <a:srgbClr val="FFFFFF"/>
                    </a:solidFill>
                  </a:tcPr>
                </a:tc>
                <a:tc>
                  <a:txBody>
                    <a:bodyPr/>
                    <a:lstStyle/>
                    <a:p>
                      <a:r>
                        <a:rPr lang="es-ES" sz="1900" b="0">
                          <a:solidFill>
                            <a:srgbClr val="203447"/>
                          </a:solidFill>
                          <a:latin typeface="Aptos" panose="020B0004020202020204" pitchFamily="34" charset="0"/>
                        </a:rPr>
                        <a:t>k6 + CloudWatch</a:t>
                      </a:r>
                    </a:p>
                  </a:txBody>
                  <a:tcPr marL="152400" marR="127000" marT="127000" marB="101600">
                    <a:solidFill>
                      <a:srgbClr val="FFFFFF"/>
                    </a:solidFill>
                  </a:tcPr>
                </a:tc>
                <a:extLst>
                  <a:ext uri="{0D108BD9-81ED-4DB2-BD59-A6C34878D82A}">
                    <a16:rowId xmlns:a16="http://schemas.microsoft.com/office/drawing/2014/main" val="3893600146"/>
                  </a:ext>
                </a:extLst>
              </a:tr>
              <a:tr h="723900">
                <a:tc>
                  <a:txBody>
                    <a:bodyPr/>
                    <a:lstStyle/>
                    <a:p>
                      <a:r>
                        <a:rPr lang="es-ES" sz="1900" b="0">
                          <a:solidFill>
                            <a:srgbClr val="203447"/>
                          </a:solidFill>
                          <a:latin typeface="Aptos" panose="020B0004020202020204" pitchFamily="34" charset="0"/>
                        </a:rPr>
                        <a:t>Concurrencia</a:t>
                      </a:r>
                    </a:p>
                  </a:txBody>
                  <a:tcPr marL="152400" marR="127000" marT="127000" marB="101600">
                    <a:solidFill>
                      <a:srgbClr val="EDF4FA"/>
                    </a:solidFill>
                  </a:tcPr>
                </a:tc>
                <a:tc>
                  <a:txBody>
                    <a:bodyPr/>
                    <a:lstStyle/>
                    <a:p>
                      <a:r>
                        <a:rPr lang="es-ES" sz="1900" b="0">
                          <a:solidFill>
                            <a:srgbClr val="203447"/>
                          </a:solidFill>
                          <a:latin typeface="Aptos" panose="020B0004020202020204" pitchFamily="34" charset="0"/>
                        </a:rPr>
                        <a:t>Sin sobreventa ni stock negativo.</a:t>
                      </a:r>
                    </a:p>
                  </a:txBody>
                  <a:tcPr marL="152400" marR="127000" marT="127000" marB="101600">
                    <a:solidFill>
                      <a:srgbClr val="EDF4FA"/>
                    </a:solidFill>
                  </a:tcPr>
                </a:tc>
                <a:tc>
                  <a:txBody>
                    <a:bodyPr/>
                    <a:lstStyle/>
                    <a:p>
                      <a:r>
                        <a:rPr lang="es-ES" sz="1900" b="0">
                          <a:solidFill>
                            <a:srgbClr val="203447"/>
                          </a:solidFill>
                          <a:latin typeface="Aptos" panose="020B0004020202020204" pitchFamily="34" charset="0"/>
                        </a:rPr>
                        <a:t>k6 + SQL</a:t>
                      </a:r>
                    </a:p>
                  </a:txBody>
                  <a:tcPr marL="152400" marR="127000" marT="127000" marB="101600">
                    <a:solidFill>
                      <a:srgbClr val="EDF4FA"/>
                    </a:solidFill>
                  </a:tcPr>
                </a:tc>
                <a:extLst>
                  <a:ext uri="{0D108BD9-81ED-4DB2-BD59-A6C34878D82A}">
                    <a16:rowId xmlns:a16="http://schemas.microsoft.com/office/drawing/2014/main" val="3772051706"/>
                  </a:ext>
                </a:extLst>
              </a:tr>
              <a:tr h="723900">
                <a:tc>
                  <a:txBody>
                    <a:bodyPr/>
                    <a:lstStyle/>
                    <a:p>
                      <a:r>
                        <a:rPr lang="es-ES" sz="1900" b="0">
                          <a:solidFill>
                            <a:srgbClr val="203447"/>
                          </a:solidFill>
                          <a:latin typeface="Aptos" panose="020B0004020202020204" pitchFamily="34" charset="0"/>
                        </a:rPr>
                        <a:t>Seguridad</a:t>
                      </a:r>
                    </a:p>
                  </a:txBody>
                  <a:tcPr marL="152400" marR="127000" marT="127000" marB="101600">
                    <a:solidFill>
                      <a:srgbClr val="FFFFFF"/>
                    </a:solidFill>
                  </a:tcPr>
                </a:tc>
                <a:tc>
                  <a:txBody>
                    <a:bodyPr/>
                    <a:lstStyle/>
                    <a:p>
                      <a:r>
                        <a:rPr lang="es-ES" sz="1900" b="0">
                          <a:solidFill>
                            <a:srgbClr val="203447"/>
                          </a:solidFill>
                          <a:latin typeface="Aptos" panose="020B0004020202020204" pitchFamily="34" charset="0"/>
                        </a:rPr>
                        <a:t>Rechazar accesos indebidos de la matriz.</a:t>
                      </a:r>
                    </a:p>
                  </a:txBody>
                  <a:tcPr marL="152400" marR="127000" marT="127000" marB="101600">
                    <a:solidFill>
                      <a:srgbClr val="FFFFFF"/>
                    </a:solidFill>
                  </a:tcPr>
                </a:tc>
                <a:tc>
                  <a:txBody>
                    <a:bodyPr/>
                    <a:lstStyle/>
                    <a:p>
                      <a:r>
                        <a:rPr lang="es-ES" sz="1900" b="0">
                          <a:solidFill>
                            <a:srgbClr val="203447"/>
                          </a:solidFill>
                          <a:latin typeface="Aptos" panose="020B0004020202020204" pitchFamily="34" charset="0"/>
                        </a:rPr>
                        <a:t>Jest + HTTP</a:t>
                      </a:r>
                    </a:p>
                  </a:txBody>
                  <a:tcPr marL="152400" marR="127000" marT="127000" marB="101600">
                    <a:solidFill>
                      <a:srgbClr val="FFFFFF"/>
                    </a:solidFill>
                  </a:tcPr>
                </a:tc>
                <a:extLst>
                  <a:ext uri="{0D108BD9-81ED-4DB2-BD59-A6C34878D82A}">
                    <a16:rowId xmlns:a16="http://schemas.microsoft.com/office/drawing/2014/main" val="2527907198"/>
                  </a:ext>
                </a:extLst>
              </a:tr>
              <a:tr h="723900">
                <a:tc>
                  <a:txBody>
                    <a:bodyPr/>
                    <a:lstStyle/>
                    <a:p>
                      <a:r>
                        <a:rPr lang="es-ES" sz="1900" b="0">
                          <a:solidFill>
                            <a:srgbClr val="203447"/>
                          </a:solidFill>
                          <a:latin typeface="Aptos" panose="020B0004020202020204" pitchFamily="34" charset="0"/>
                        </a:rPr>
                        <a:t>Disponibilidad</a:t>
                      </a:r>
                    </a:p>
                  </a:txBody>
                  <a:tcPr marL="152400" marR="127000" marT="127000" marB="101600">
                    <a:solidFill>
                      <a:srgbClr val="EDF4FA"/>
                    </a:solidFill>
                  </a:tcPr>
                </a:tc>
                <a:tc>
                  <a:txBody>
                    <a:bodyPr/>
                    <a:lstStyle/>
                    <a:p>
                      <a:r>
                        <a:rPr lang="pt-BR" sz="1900" b="0">
                          <a:solidFill>
                            <a:srgbClr val="203447"/>
                          </a:solidFill>
                          <a:latin typeface="Aptos" panose="020B0004020202020204" pitchFamily="34" charset="0"/>
                        </a:rPr>
                        <a:t>99.5% mensual, RTO 4 h y RPO 1 h.</a:t>
                      </a:r>
                      <a:endParaRPr lang="es-ES" sz="1900" b="0">
                        <a:solidFill>
                          <a:srgbClr val="203447"/>
                        </a:solidFill>
                        <a:latin typeface="Aptos" panose="020B0004020202020204" pitchFamily="34" charset="0"/>
                      </a:endParaRPr>
                    </a:p>
                  </a:txBody>
                  <a:tcPr marL="152400" marR="127000" marT="127000" marB="101600">
                    <a:solidFill>
                      <a:srgbClr val="EDF4FA"/>
                    </a:solidFill>
                  </a:tcPr>
                </a:tc>
                <a:tc>
                  <a:txBody>
                    <a:bodyPr/>
                    <a:lstStyle/>
                    <a:p>
                      <a:r>
                        <a:rPr lang="es-ES" sz="1900" b="0">
                          <a:solidFill>
                            <a:srgbClr val="203447"/>
                          </a:solidFill>
                          <a:latin typeface="Aptos" panose="020B0004020202020204" pitchFamily="34" charset="0"/>
                        </a:rPr>
                        <a:t>Sondas + CloudWatch</a:t>
                      </a:r>
                    </a:p>
                  </a:txBody>
                  <a:tcPr marL="152400" marR="127000" marT="127000" marB="101600">
                    <a:solidFill>
                      <a:srgbClr val="EDF4FA"/>
                    </a:solidFill>
                  </a:tcPr>
                </a:tc>
                <a:extLst>
                  <a:ext uri="{0D108BD9-81ED-4DB2-BD59-A6C34878D82A}">
                    <a16:rowId xmlns:a16="http://schemas.microsoft.com/office/drawing/2014/main" val="3373838811"/>
                  </a:ext>
                </a:extLst>
              </a:tr>
            </a:tbl>
          </a:graphicData>
        </a:graphic>
      </p:graphicFrame>
      <p:sp>
        <p:nvSpPr>
          <p:cNvPr id="6" name="CuadroTexto 5">
            <a:extLst>
              <a:ext uri="{FF2B5EF4-FFF2-40B4-BE49-F238E27FC236}">
                <a16:creationId xmlns:a16="http://schemas.microsoft.com/office/drawing/2014/main" id="{3A9CFD93-F746-AC22-C1A1-3E8542A0E019}"/>
              </a:ext>
            </a:extLst>
          </p:cNvPr>
          <p:cNvSpPr txBox="1"/>
          <p:nvPr/>
        </p:nvSpPr>
        <p:spPr>
          <a:xfrm>
            <a:off x="533400" y="6007100"/>
            <a:ext cx="11125200" cy="292388"/>
          </a:xfrm>
          <a:prstGeom prst="rect">
            <a:avLst/>
          </a:prstGeom>
          <a:noFill/>
        </p:spPr>
        <p:txBody>
          <a:bodyPr vert="horz" wrap="square" lIns="0" tIns="0" rIns="0" bIns="0" rtlCol="0">
            <a:spAutoFit/>
          </a:bodyPr>
          <a:lstStyle/>
          <a:p>
            <a:r>
              <a:rPr lang="es-ES" sz="1900" b="1">
                <a:solidFill>
                  <a:srgbClr val="1269B0"/>
                </a:solidFill>
                <a:latin typeface="Aptos" panose="020B0004020202020204" pitchFamily="34" charset="0"/>
              </a:rPr>
              <a:t>Metas pendientes de validación sobre el software implementado</a:t>
            </a:r>
          </a:p>
        </p:txBody>
      </p:sp>
    </p:spTree>
    <p:extLst>
      <p:ext uri="{BB962C8B-B14F-4D97-AF65-F5344CB8AC3E}">
        <p14:creationId xmlns:p14="http://schemas.microsoft.com/office/powerpoint/2010/main" val="62950343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E26DBB2B-2751-B663-2405-7868D7CE5C6F}"/>
              </a:ext>
            </a:extLst>
          </p:cNvPr>
          <p:cNvSpPr txBox="1"/>
          <p:nvPr/>
        </p:nvSpPr>
        <p:spPr>
          <a:xfrm>
            <a:off x="533400" y="355600"/>
            <a:ext cx="11049000" cy="492443"/>
          </a:xfrm>
          <a:prstGeom prst="rect">
            <a:avLst/>
          </a:prstGeom>
          <a:noFill/>
        </p:spPr>
        <p:txBody>
          <a:bodyPr vert="horz" wrap="square" lIns="0" tIns="0" rIns="0" bIns="0" rtlCol="0">
            <a:spAutoFit/>
          </a:bodyPr>
          <a:lstStyle/>
          <a:p>
            <a:r>
              <a:rPr lang="es-ES" sz="3200" b="1">
                <a:solidFill>
                  <a:srgbClr val="102D4E"/>
                </a:solidFill>
                <a:latin typeface="Aptos" panose="020B0004020202020204" pitchFamily="34" charset="0"/>
              </a:rPr>
              <a:t>Medición después del despliegue</a:t>
            </a:r>
          </a:p>
        </p:txBody>
      </p:sp>
      <p:sp>
        <p:nvSpPr>
          <p:cNvPr id="3" name="CuadroTexto 2">
            <a:extLst>
              <a:ext uri="{FF2B5EF4-FFF2-40B4-BE49-F238E27FC236}">
                <a16:creationId xmlns:a16="http://schemas.microsoft.com/office/drawing/2014/main" id="{104452CE-26BE-A56E-3992-3D9BF9618675}"/>
              </a:ext>
            </a:extLst>
          </p:cNvPr>
          <p:cNvSpPr txBox="1"/>
          <p:nvPr/>
        </p:nvSpPr>
        <p:spPr>
          <a:xfrm>
            <a:off x="533400" y="6477000"/>
            <a:ext cx="6350000" cy="153888"/>
          </a:xfrm>
          <a:prstGeom prst="rect">
            <a:avLst/>
          </a:prstGeom>
          <a:noFill/>
        </p:spPr>
        <p:txBody>
          <a:bodyPr vert="horz" wrap="square" lIns="0" tIns="0" rIns="0" bIns="0" rtlCol="0">
            <a:spAutoFit/>
          </a:bodyPr>
          <a:lstStyle/>
          <a:p>
            <a:r>
              <a:rPr lang="es-ES" sz="1000">
                <a:solidFill>
                  <a:srgbClr val="52677A"/>
                </a:solidFill>
                <a:latin typeface="Aptos" panose="020B0004020202020204" pitchFamily="34" charset="0"/>
              </a:rPr>
              <a:t>MAYORISTAPRO  /  SPRINT 01</a:t>
            </a:r>
          </a:p>
        </p:txBody>
      </p:sp>
      <p:sp>
        <p:nvSpPr>
          <p:cNvPr id="4" name="CuadroTexto 3">
            <a:extLst>
              <a:ext uri="{FF2B5EF4-FFF2-40B4-BE49-F238E27FC236}">
                <a16:creationId xmlns:a16="http://schemas.microsoft.com/office/drawing/2014/main" id="{403D07D4-05E2-6566-ED73-C7EA801C8223}"/>
              </a:ext>
            </a:extLst>
          </p:cNvPr>
          <p:cNvSpPr txBox="1"/>
          <p:nvPr/>
        </p:nvSpPr>
        <p:spPr>
          <a:xfrm>
            <a:off x="11176000" y="6477000"/>
            <a:ext cx="444500" cy="169277"/>
          </a:xfrm>
          <a:prstGeom prst="rect">
            <a:avLst/>
          </a:prstGeom>
          <a:noFill/>
        </p:spPr>
        <p:txBody>
          <a:bodyPr vert="horz" wrap="square" lIns="0" tIns="0" rIns="0" bIns="0" rtlCol="0">
            <a:spAutoFit/>
          </a:bodyPr>
          <a:lstStyle/>
          <a:p>
            <a:r>
              <a:rPr lang="es-ES" sz="1100">
                <a:solidFill>
                  <a:srgbClr val="52677A"/>
                </a:solidFill>
                <a:latin typeface="Aptos" panose="020B0004020202020204" pitchFamily="34" charset="0"/>
              </a:rPr>
              <a:t>11</a:t>
            </a:r>
          </a:p>
        </p:txBody>
      </p:sp>
      <p:graphicFrame>
        <p:nvGraphicFramePr>
          <p:cNvPr id="5" name="Tabla 4">
            <a:extLst>
              <a:ext uri="{FF2B5EF4-FFF2-40B4-BE49-F238E27FC236}">
                <a16:creationId xmlns:a16="http://schemas.microsoft.com/office/drawing/2014/main" id="{5311FD94-AAA2-C000-5CAA-BB7D3FAD138B}"/>
              </a:ext>
            </a:extLst>
          </p:cNvPr>
          <p:cNvGraphicFramePr>
            <a:graphicFrameLocks noGrp="1"/>
          </p:cNvGraphicFramePr>
          <p:nvPr>
            <p:extLst>
              <p:ext uri="{D42A27DB-BD31-4B8C-83A1-F6EECF244321}">
                <p14:modId xmlns:p14="http://schemas.microsoft.com/office/powerpoint/2010/main" val="1038703756"/>
              </p:ext>
            </p:extLst>
          </p:nvPr>
        </p:nvGraphicFramePr>
        <p:xfrm>
          <a:off x="533400" y="1435100"/>
          <a:ext cx="11125200" cy="4191000"/>
        </p:xfrm>
        <a:graphic>
          <a:graphicData uri="http://schemas.openxmlformats.org/drawingml/2006/table">
            <a:tbl>
              <a:tblPr firstRow="1" bandRow="1">
                <a:tableStyleId>{5C22544A-7EE6-4342-B048-85BDC9FD1C3A}</a:tableStyleId>
              </a:tblPr>
              <a:tblGrid>
                <a:gridCol w="2413000">
                  <a:extLst>
                    <a:ext uri="{9D8B030D-6E8A-4147-A177-3AD203B41FA5}">
                      <a16:colId xmlns:a16="http://schemas.microsoft.com/office/drawing/2014/main" val="4176752854"/>
                    </a:ext>
                  </a:extLst>
                </a:gridCol>
                <a:gridCol w="5143500">
                  <a:extLst>
                    <a:ext uri="{9D8B030D-6E8A-4147-A177-3AD203B41FA5}">
                      <a16:colId xmlns:a16="http://schemas.microsoft.com/office/drawing/2014/main" val="2518964356"/>
                    </a:ext>
                  </a:extLst>
                </a:gridCol>
                <a:gridCol w="3568700">
                  <a:extLst>
                    <a:ext uri="{9D8B030D-6E8A-4147-A177-3AD203B41FA5}">
                      <a16:colId xmlns:a16="http://schemas.microsoft.com/office/drawing/2014/main" val="1239729407"/>
                    </a:ext>
                  </a:extLst>
                </a:gridCol>
              </a:tblGrid>
              <a:tr h="838200">
                <a:tc>
                  <a:txBody>
                    <a:bodyPr/>
                    <a:lstStyle/>
                    <a:p>
                      <a:r>
                        <a:rPr lang="es-ES" sz="1900" b="1">
                          <a:solidFill>
                            <a:srgbClr val="FFFFFF"/>
                          </a:solidFill>
                          <a:latin typeface="Aptos" panose="020B0004020202020204" pitchFamily="34" charset="0"/>
                        </a:rPr>
                        <a:t>Prueba</a:t>
                      </a:r>
                    </a:p>
                  </a:txBody>
                  <a:tcPr marL="152400" marR="127000" marT="127000" marB="101600">
                    <a:solidFill>
                      <a:srgbClr val="102D4E"/>
                    </a:solidFill>
                  </a:tcPr>
                </a:tc>
                <a:tc>
                  <a:txBody>
                    <a:bodyPr/>
                    <a:lstStyle/>
                    <a:p>
                      <a:r>
                        <a:rPr lang="es-ES" sz="1900" b="1">
                          <a:solidFill>
                            <a:srgbClr val="FFFFFF"/>
                          </a:solidFill>
                          <a:latin typeface="Aptos" panose="020B0004020202020204" pitchFamily="34" charset="0"/>
                        </a:rPr>
                        <a:t>Cómo se realizará</a:t>
                      </a:r>
                    </a:p>
                  </a:txBody>
                  <a:tcPr marL="152400" marR="127000" marT="127000" marB="101600">
                    <a:solidFill>
                      <a:srgbClr val="102D4E"/>
                    </a:solidFill>
                  </a:tcPr>
                </a:tc>
                <a:tc>
                  <a:txBody>
                    <a:bodyPr/>
                    <a:lstStyle/>
                    <a:p>
                      <a:r>
                        <a:rPr lang="es-ES" sz="1900" b="1">
                          <a:solidFill>
                            <a:srgbClr val="FFFFFF"/>
                          </a:solidFill>
                          <a:latin typeface="Aptos" panose="020B0004020202020204" pitchFamily="34" charset="0"/>
                        </a:rPr>
                        <a:t>Evidencia</a:t>
                      </a:r>
                    </a:p>
                  </a:txBody>
                  <a:tcPr marL="152400" marR="127000" marT="127000" marB="101600">
                    <a:solidFill>
                      <a:srgbClr val="102D4E"/>
                    </a:solidFill>
                  </a:tcPr>
                </a:tc>
                <a:extLst>
                  <a:ext uri="{0D108BD9-81ED-4DB2-BD59-A6C34878D82A}">
                    <a16:rowId xmlns:a16="http://schemas.microsoft.com/office/drawing/2014/main" val="1308026762"/>
                  </a:ext>
                </a:extLst>
              </a:tr>
              <a:tr h="838200">
                <a:tc>
                  <a:txBody>
                    <a:bodyPr/>
                    <a:lstStyle/>
                    <a:p>
                      <a:r>
                        <a:rPr lang="es-ES" sz="1900" b="0">
                          <a:solidFill>
                            <a:srgbClr val="203447"/>
                          </a:solidFill>
                          <a:latin typeface="Aptos" panose="020B0004020202020204" pitchFamily="34" charset="0"/>
                        </a:rPr>
                        <a:t>Carga con k6</a:t>
                      </a:r>
                    </a:p>
                  </a:txBody>
                  <a:tcPr marL="152400" marR="127000" marT="127000" marB="101600">
                    <a:solidFill>
                      <a:srgbClr val="EDF4FA"/>
                    </a:solidFill>
                  </a:tcPr>
                </a:tc>
                <a:tc>
                  <a:txBody>
                    <a:bodyPr/>
                    <a:lstStyle/>
                    <a:p>
                      <a:r>
                        <a:rPr lang="es-ES" sz="1900" b="0">
                          <a:solidFill>
                            <a:srgbClr val="203447"/>
                          </a:solidFill>
                          <a:latin typeface="Aptos" panose="020B0004020202020204" pitchFamily="34" charset="0"/>
                        </a:rPr>
                        <a:t>500, 1,000 y 2,000 usuarios.</a:t>
                      </a:r>
                    </a:p>
                    <a:p>
                      <a:r>
                        <a:rPr lang="es-ES" sz="1900" b="0">
                          <a:solidFill>
                            <a:srgbClr val="203447"/>
                          </a:solidFill>
                          <a:latin typeface="Aptos" panose="020B0004020202020204" pitchFamily="34" charset="0"/>
                        </a:rPr>
                        <a:t>Mesetas de 5 min y pausas de 2 s.</a:t>
                      </a:r>
                    </a:p>
                  </a:txBody>
                  <a:tcPr marL="152400" marR="127000" marT="127000" marB="101600">
                    <a:solidFill>
                      <a:srgbClr val="EDF4FA"/>
                    </a:solidFill>
                  </a:tcPr>
                </a:tc>
                <a:tc>
                  <a:txBody>
                    <a:bodyPr/>
                    <a:lstStyle/>
                    <a:p>
                      <a:r>
                        <a:rPr lang="es-ES" sz="1900" b="0">
                          <a:solidFill>
                            <a:srgbClr val="203447"/>
                          </a:solidFill>
                          <a:latin typeface="Aptos" panose="020B0004020202020204" pitchFamily="34" charset="0"/>
                        </a:rPr>
                        <a:t>p95 y errores por endpoint y etapa.</a:t>
                      </a:r>
                    </a:p>
                  </a:txBody>
                  <a:tcPr marL="152400" marR="127000" marT="127000" marB="101600">
                    <a:solidFill>
                      <a:srgbClr val="EDF4FA"/>
                    </a:solidFill>
                  </a:tcPr>
                </a:tc>
                <a:extLst>
                  <a:ext uri="{0D108BD9-81ED-4DB2-BD59-A6C34878D82A}">
                    <a16:rowId xmlns:a16="http://schemas.microsoft.com/office/drawing/2014/main" val="2254571726"/>
                  </a:ext>
                </a:extLst>
              </a:tr>
              <a:tr h="838200">
                <a:tc>
                  <a:txBody>
                    <a:bodyPr/>
                    <a:lstStyle/>
                    <a:p>
                      <a:r>
                        <a:rPr lang="es-ES" sz="1900" b="0">
                          <a:solidFill>
                            <a:srgbClr val="203447"/>
                          </a:solidFill>
                          <a:latin typeface="Aptos" panose="020B0004020202020204" pitchFamily="34" charset="0"/>
                        </a:rPr>
                        <a:t>Stock concurrente</a:t>
                      </a:r>
                    </a:p>
                  </a:txBody>
                  <a:tcPr marL="152400" marR="127000" marT="127000" marB="101600">
                    <a:solidFill>
                      <a:srgbClr val="FFFFFF"/>
                    </a:solidFill>
                  </a:tcPr>
                </a:tc>
                <a:tc>
                  <a:txBody>
                    <a:bodyPr/>
                    <a:lstStyle/>
                    <a:p>
                      <a:r>
                        <a:rPr lang="es-ES" sz="1900" b="0">
                          <a:solidFill>
                            <a:srgbClr val="203447"/>
                          </a:solidFill>
                          <a:latin typeface="Aptos" panose="020B0004020202020204" pitchFamily="34" charset="0"/>
                        </a:rPr>
                        <a:t>500 compradores y 100 unidades.</a:t>
                      </a:r>
                    </a:p>
                    <a:p>
                      <a:r>
                        <a:rPr lang="es-ES" sz="1900" b="0">
                          <a:solidFill>
                            <a:srgbClr val="203447"/>
                          </a:solidFill>
                          <a:latin typeface="Aptos" panose="020B0004020202020204" pitchFamily="34" charset="0"/>
                        </a:rPr>
                        <a:t>Una unidad por intento.</a:t>
                      </a:r>
                    </a:p>
                  </a:txBody>
                  <a:tcPr marL="152400" marR="127000" marT="127000" marB="101600">
                    <a:solidFill>
                      <a:srgbClr val="FFFFFF"/>
                    </a:solidFill>
                  </a:tcPr>
                </a:tc>
                <a:tc>
                  <a:txBody>
                    <a:bodyPr/>
                    <a:lstStyle/>
                    <a:p>
                      <a:r>
                        <a:rPr lang="es-ES" sz="1900" b="0">
                          <a:solidFill>
                            <a:srgbClr val="203447"/>
                          </a:solidFill>
                          <a:latin typeface="Aptos" panose="020B0004020202020204" pitchFamily="34" charset="0"/>
                        </a:rPr>
                        <a:t>100 aceptados, 400 rechazos y stock 0.</a:t>
                      </a:r>
                    </a:p>
                  </a:txBody>
                  <a:tcPr marL="152400" marR="127000" marT="127000" marB="101600">
                    <a:solidFill>
                      <a:srgbClr val="FFFFFF"/>
                    </a:solidFill>
                  </a:tcPr>
                </a:tc>
                <a:extLst>
                  <a:ext uri="{0D108BD9-81ED-4DB2-BD59-A6C34878D82A}">
                    <a16:rowId xmlns:a16="http://schemas.microsoft.com/office/drawing/2014/main" val="3038201915"/>
                  </a:ext>
                </a:extLst>
              </a:tr>
              <a:tr h="838200">
                <a:tc>
                  <a:txBody>
                    <a:bodyPr/>
                    <a:lstStyle/>
                    <a:p>
                      <a:r>
                        <a:rPr lang="es-ES" sz="1900" b="0">
                          <a:solidFill>
                            <a:srgbClr val="203447"/>
                          </a:solidFill>
                          <a:latin typeface="Aptos" panose="020B0004020202020204" pitchFamily="34" charset="0"/>
                        </a:rPr>
                        <a:t>Infraestructura</a:t>
                      </a:r>
                    </a:p>
                  </a:txBody>
                  <a:tcPr marL="152400" marR="127000" marT="127000" marB="101600">
                    <a:solidFill>
                      <a:srgbClr val="EDF4FA"/>
                    </a:solidFill>
                  </a:tcPr>
                </a:tc>
                <a:tc>
                  <a:txBody>
                    <a:bodyPr/>
                    <a:lstStyle/>
                    <a:p>
                      <a:r>
                        <a:rPr lang="es-ES" sz="1900" b="0">
                          <a:solidFill>
                            <a:srgbClr val="203447"/>
                          </a:solidFill>
                          <a:latin typeface="Aptos" panose="020B0004020202020204" pitchFamily="34" charset="0"/>
                        </a:rPr>
                        <a:t>Correlacionar carga con CPU, memoria instrumentada y conexiones.</a:t>
                      </a:r>
                    </a:p>
                  </a:txBody>
                  <a:tcPr marL="152400" marR="127000" marT="127000" marB="101600">
                    <a:solidFill>
                      <a:srgbClr val="EDF4FA"/>
                    </a:solidFill>
                  </a:tcPr>
                </a:tc>
                <a:tc>
                  <a:txBody>
                    <a:bodyPr/>
                    <a:lstStyle/>
                    <a:p>
                      <a:r>
                        <a:rPr lang="es-ES" sz="1900" b="0">
                          <a:solidFill>
                            <a:srgbClr val="203447"/>
                          </a:solidFill>
                          <a:latin typeface="Aptos" panose="020B0004020202020204" pitchFamily="34" charset="0"/>
                        </a:rPr>
                        <a:t>Métricas y registros en CloudWatch.</a:t>
                      </a:r>
                    </a:p>
                  </a:txBody>
                  <a:tcPr marL="152400" marR="127000" marT="127000" marB="101600">
                    <a:solidFill>
                      <a:srgbClr val="EDF4FA"/>
                    </a:solidFill>
                  </a:tcPr>
                </a:tc>
                <a:extLst>
                  <a:ext uri="{0D108BD9-81ED-4DB2-BD59-A6C34878D82A}">
                    <a16:rowId xmlns:a16="http://schemas.microsoft.com/office/drawing/2014/main" val="4137584842"/>
                  </a:ext>
                </a:extLst>
              </a:tr>
              <a:tr h="838200">
                <a:tc>
                  <a:txBody>
                    <a:bodyPr/>
                    <a:lstStyle/>
                    <a:p>
                      <a:r>
                        <a:rPr lang="es-ES" sz="1900" b="0">
                          <a:solidFill>
                            <a:srgbClr val="203447"/>
                          </a:solidFill>
                          <a:latin typeface="Aptos" panose="020B0004020202020204" pitchFamily="34" charset="0"/>
                        </a:rPr>
                        <a:t>Disponibilidad</a:t>
                      </a:r>
                    </a:p>
                  </a:txBody>
                  <a:tcPr marL="152400" marR="127000" marT="127000" marB="101600">
                    <a:solidFill>
                      <a:srgbClr val="FFFFFF"/>
                    </a:solidFill>
                  </a:tcPr>
                </a:tc>
                <a:tc>
                  <a:txBody>
                    <a:bodyPr/>
                    <a:lstStyle/>
                    <a:p>
                      <a:r>
                        <a:rPr lang="es-ES" sz="1900" b="0">
                          <a:solidFill>
                            <a:srgbClr val="203447"/>
                          </a:solidFill>
                          <a:latin typeface="Aptos" panose="020B0004020202020204" pitchFamily="34" charset="0"/>
                        </a:rPr>
                        <a:t>Sondas cada minuto durante un mes.</a:t>
                      </a:r>
                    </a:p>
                  </a:txBody>
                  <a:tcPr marL="152400" marR="127000" marT="127000" marB="101600">
                    <a:solidFill>
                      <a:srgbClr val="FFFFFF"/>
                    </a:solidFill>
                  </a:tcPr>
                </a:tc>
                <a:tc>
                  <a:txBody>
                    <a:bodyPr/>
                    <a:lstStyle/>
                    <a:p>
                      <a:r>
                        <a:rPr lang="es-ES" sz="1900" b="0">
                          <a:solidFill>
                            <a:srgbClr val="203447"/>
                          </a:solidFill>
                          <a:latin typeface="Aptos" panose="020B0004020202020204" pitchFamily="34" charset="0"/>
                        </a:rPr>
                        <a:t>Historial, incidentes y cobertura.</a:t>
                      </a:r>
                    </a:p>
                  </a:txBody>
                  <a:tcPr marL="152400" marR="127000" marT="127000" marB="101600">
                    <a:solidFill>
                      <a:srgbClr val="FFFFFF"/>
                    </a:solidFill>
                  </a:tcPr>
                </a:tc>
                <a:extLst>
                  <a:ext uri="{0D108BD9-81ED-4DB2-BD59-A6C34878D82A}">
                    <a16:rowId xmlns:a16="http://schemas.microsoft.com/office/drawing/2014/main" val="1459141857"/>
                  </a:ext>
                </a:extLst>
              </a:tr>
            </a:tbl>
          </a:graphicData>
        </a:graphic>
      </p:graphicFrame>
      <p:sp>
        <p:nvSpPr>
          <p:cNvPr id="6" name="CuadroTexto 5">
            <a:extLst>
              <a:ext uri="{FF2B5EF4-FFF2-40B4-BE49-F238E27FC236}">
                <a16:creationId xmlns:a16="http://schemas.microsoft.com/office/drawing/2014/main" id="{143AE74C-CB9B-4C7E-DE70-1D6801323671}"/>
              </a:ext>
            </a:extLst>
          </p:cNvPr>
          <p:cNvSpPr txBox="1"/>
          <p:nvPr/>
        </p:nvSpPr>
        <p:spPr>
          <a:xfrm>
            <a:off x="533400" y="5918200"/>
            <a:ext cx="11125200" cy="276999"/>
          </a:xfrm>
          <a:prstGeom prst="rect">
            <a:avLst/>
          </a:prstGeom>
          <a:noFill/>
        </p:spPr>
        <p:txBody>
          <a:bodyPr vert="horz" wrap="square" lIns="0" tIns="0" rIns="0" bIns="0" rtlCol="0">
            <a:spAutoFit/>
          </a:bodyPr>
          <a:lstStyle/>
          <a:p>
            <a:r>
              <a:rPr lang="es-ES">
                <a:solidFill>
                  <a:srgbClr val="52677A"/>
                </a:solidFill>
                <a:latin typeface="Aptos" panose="020B0004020202020204" pitchFamily="34" charset="0"/>
              </a:rPr>
              <a:t>Ejecución pendiente. El informe incluirá versión, entorno y resultados reales</a:t>
            </a:r>
          </a:p>
        </p:txBody>
      </p:sp>
    </p:spTree>
    <p:extLst>
      <p:ext uri="{BB962C8B-B14F-4D97-AF65-F5344CB8AC3E}">
        <p14:creationId xmlns:p14="http://schemas.microsoft.com/office/powerpoint/2010/main" val="104580572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23E70548-0946-A846-4D13-8FF542EA83AB}"/>
              </a:ext>
            </a:extLst>
          </p:cNvPr>
          <p:cNvSpPr txBox="1"/>
          <p:nvPr/>
        </p:nvSpPr>
        <p:spPr>
          <a:xfrm>
            <a:off x="533400" y="355600"/>
            <a:ext cx="11049000" cy="492443"/>
          </a:xfrm>
          <a:prstGeom prst="rect">
            <a:avLst/>
          </a:prstGeom>
          <a:noFill/>
        </p:spPr>
        <p:txBody>
          <a:bodyPr vert="horz" wrap="square" lIns="0" tIns="0" rIns="0" bIns="0" rtlCol="0">
            <a:spAutoFit/>
          </a:bodyPr>
          <a:lstStyle/>
          <a:p>
            <a:r>
              <a:rPr lang="es-ES" sz="3200" b="1">
                <a:solidFill>
                  <a:srgbClr val="102D4E"/>
                </a:solidFill>
                <a:latin typeface="Aptos" panose="020B0004020202020204" pitchFamily="34" charset="0"/>
              </a:rPr>
              <a:t>Drivers que orientan la arquitectura</a:t>
            </a:r>
          </a:p>
        </p:txBody>
      </p:sp>
      <p:sp>
        <p:nvSpPr>
          <p:cNvPr id="3" name="CuadroTexto 2">
            <a:extLst>
              <a:ext uri="{FF2B5EF4-FFF2-40B4-BE49-F238E27FC236}">
                <a16:creationId xmlns:a16="http://schemas.microsoft.com/office/drawing/2014/main" id="{898C804A-7D3D-D28A-B533-B9F315F48D70}"/>
              </a:ext>
            </a:extLst>
          </p:cNvPr>
          <p:cNvSpPr txBox="1"/>
          <p:nvPr/>
        </p:nvSpPr>
        <p:spPr>
          <a:xfrm>
            <a:off x="533400" y="6477000"/>
            <a:ext cx="6350000" cy="153888"/>
          </a:xfrm>
          <a:prstGeom prst="rect">
            <a:avLst/>
          </a:prstGeom>
          <a:noFill/>
        </p:spPr>
        <p:txBody>
          <a:bodyPr vert="horz" wrap="square" lIns="0" tIns="0" rIns="0" bIns="0" rtlCol="0">
            <a:spAutoFit/>
          </a:bodyPr>
          <a:lstStyle/>
          <a:p>
            <a:r>
              <a:rPr lang="es-ES" sz="1000">
                <a:solidFill>
                  <a:srgbClr val="52677A"/>
                </a:solidFill>
                <a:latin typeface="Aptos" panose="020B0004020202020204" pitchFamily="34" charset="0"/>
              </a:rPr>
              <a:t>MAYORISTAPRO  /  SPRINT 01</a:t>
            </a:r>
          </a:p>
        </p:txBody>
      </p:sp>
      <p:sp>
        <p:nvSpPr>
          <p:cNvPr id="4" name="CuadroTexto 3">
            <a:extLst>
              <a:ext uri="{FF2B5EF4-FFF2-40B4-BE49-F238E27FC236}">
                <a16:creationId xmlns:a16="http://schemas.microsoft.com/office/drawing/2014/main" id="{DCB169A6-A733-CEBC-37AE-E50D9A4CEE6A}"/>
              </a:ext>
            </a:extLst>
          </p:cNvPr>
          <p:cNvSpPr txBox="1"/>
          <p:nvPr/>
        </p:nvSpPr>
        <p:spPr>
          <a:xfrm>
            <a:off x="11176000" y="6477000"/>
            <a:ext cx="444500" cy="169277"/>
          </a:xfrm>
          <a:prstGeom prst="rect">
            <a:avLst/>
          </a:prstGeom>
          <a:noFill/>
        </p:spPr>
        <p:txBody>
          <a:bodyPr vert="horz" wrap="square" lIns="0" tIns="0" rIns="0" bIns="0" rtlCol="0">
            <a:spAutoFit/>
          </a:bodyPr>
          <a:lstStyle/>
          <a:p>
            <a:r>
              <a:rPr lang="es-ES" sz="1100">
                <a:solidFill>
                  <a:srgbClr val="52677A"/>
                </a:solidFill>
                <a:latin typeface="Aptos" panose="020B0004020202020204" pitchFamily="34" charset="0"/>
              </a:rPr>
              <a:t>12</a:t>
            </a:r>
          </a:p>
        </p:txBody>
      </p:sp>
      <p:graphicFrame>
        <p:nvGraphicFramePr>
          <p:cNvPr id="5" name="Tabla 4">
            <a:extLst>
              <a:ext uri="{FF2B5EF4-FFF2-40B4-BE49-F238E27FC236}">
                <a16:creationId xmlns:a16="http://schemas.microsoft.com/office/drawing/2014/main" id="{7488BAFE-754B-E853-E9D9-874142A29C48}"/>
              </a:ext>
            </a:extLst>
          </p:cNvPr>
          <p:cNvGraphicFramePr>
            <a:graphicFrameLocks noGrp="1"/>
          </p:cNvGraphicFramePr>
          <p:nvPr>
            <p:extLst>
              <p:ext uri="{D42A27DB-BD31-4B8C-83A1-F6EECF244321}">
                <p14:modId xmlns:p14="http://schemas.microsoft.com/office/powerpoint/2010/main" val="3549187379"/>
              </p:ext>
            </p:extLst>
          </p:nvPr>
        </p:nvGraphicFramePr>
        <p:xfrm>
          <a:off x="533400" y="1460500"/>
          <a:ext cx="11125200" cy="4254500"/>
        </p:xfrm>
        <a:graphic>
          <a:graphicData uri="http://schemas.openxmlformats.org/drawingml/2006/table">
            <a:tbl>
              <a:tblPr firstRow="1" bandRow="1">
                <a:tableStyleId>{5C22544A-7EE6-4342-B048-85BDC9FD1C3A}</a:tableStyleId>
              </a:tblPr>
              <a:tblGrid>
                <a:gridCol w="2159000">
                  <a:extLst>
                    <a:ext uri="{9D8B030D-6E8A-4147-A177-3AD203B41FA5}">
                      <a16:colId xmlns:a16="http://schemas.microsoft.com/office/drawing/2014/main" val="2681328464"/>
                    </a:ext>
                  </a:extLst>
                </a:gridCol>
                <a:gridCol w="4483100">
                  <a:extLst>
                    <a:ext uri="{9D8B030D-6E8A-4147-A177-3AD203B41FA5}">
                      <a16:colId xmlns:a16="http://schemas.microsoft.com/office/drawing/2014/main" val="2953831185"/>
                    </a:ext>
                  </a:extLst>
                </a:gridCol>
                <a:gridCol w="4483100">
                  <a:extLst>
                    <a:ext uri="{9D8B030D-6E8A-4147-A177-3AD203B41FA5}">
                      <a16:colId xmlns:a16="http://schemas.microsoft.com/office/drawing/2014/main" val="2986745070"/>
                    </a:ext>
                  </a:extLst>
                </a:gridCol>
              </a:tblGrid>
              <a:tr h="850900">
                <a:tc>
                  <a:txBody>
                    <a:bodyPr/>
                    <a:lstStyle/>
                    <a:p>
                      <a:r>
                        <a:rPr lang="es-ES" sz="2100" b="1">
                          <a:solidFill>
                            <a:srgbClr val="FFFFFF"/>
                          </a:solidFill>
                          <a:latin typeface="Aptos" panose="020B0004020202020204" pitchFamily="34" charset="0"/>
                        </a:rPr>
                        <a:t>Driver</a:t>
                      </a:r>
                    </a:p>
                  </a:txBody>
                  <a:tcPr marL="152400" marR="127000" marT="127000" marB="101600">
                    <a:solidFill>
                      <a:srgbClr val="102D4E"/>
                    </a:solidFill>
                  </a:tcPr>
                </a:tc>
                <a:tc>
                  <a:txBody>
                    <a:bodyPr/>
                    <a:lstStyle/>
                    <a:p>
                      <a:r>
                        <a:rPr lang="es-ES" sz="2100" b="1">
                          <a:solidFill>
                            <a:srgbClr val="FFFFFF"/>
                          </a:solidFill>
                          <a:latin typeface="Aptos" panose="020B0004020202020204" pitchFamily="34" charset="0"/>
                        </a:rPr>
                        <a:t>Necesidad</a:t>
                      </a:r>
                    </a:p>
                  </a:txBody>
                  <a:tcPr marL="152400" marR="127000" marT="127000" marB="101600">
                    <a:solidFill>
                      <a:srgbClr val="102D4E"/>
                    </a:solidFill>
                  </a:tcPr>
                </a:tc>
                <a:tc>
                  <a:txBody>
                    <a:bodyPr/>
                    <a:lstStyle/>
                    <a:p>
                      <a:r>
                        <a:rPr lang="es-ES" sz="2100" b="1">
                          <a:solidFill>
                            <a:srgbClr val="FFFFFF"/>
                          </a:solidFill>
                          <a:latin typeface="Aptos" panose="020B0004020202020204" pitchFamily="34" charset="0"/>
                        </a:rPr>
                        <a:t>Respuesta de diseño</a:t>
                      </a:r>
                    </a:p>
                  </a:txBody>
                  <a:tcPr marL="152400" marR="127000" marT="127000" marB="101600">
                    <a:solidFill>
                      <a:srgbClr val="102D4E"/>
                    </a:solidFill>
                  </a:tcPr>
                </a:tc>
                <a:extLst>
                  <a:ext uri="{0D108BD9-81ED-4DB2-BD59-A6C34878D82A}">
                    <a16:rowId xmlns:a16="http://schemas.microsoft.com/office/drawing/2014/main" val="390772678"/>
                  </a:ext>
                </a:extLst>
              </a:tr>
              <a:tr h="850900">
                <a:tc>
                  <a:txBody>
                    <a:bodyPr/>
                    <a:lstStyle/>
                    <a:p>
                      <a:r>
                        <a:rPr lang="es-ES" sz="2100" b="0">
                          <a:solidFill>
                            <a:srgbClr val="203447"/>
                          </a:solidFill>
                          <a:latin typeface="Aptos" panose="020B0004020202020204" pitchFamily="34" charset="0"/>
                        </a:rPr>
                        <a:t>DA03 / DA11</a:t>
                      </a:r>
                    </a:p>
                  </a:txBody>
                  <a:tcPr marL="152400" marR="127000" marT="127000" marB="101600">
                    <a:solidFill>
                      <a:srgbClr val="EDF4FA"/>
                    </a:solidFill>
                  </a:tcPr>
                </a:tc>
                <a:tc>
                  <a:txBody>
                    <a:bodyPr/>
                    <a:lstStyle/>
                    <a:p>
                      <a:r>
                        <a:rPr lang="es-ES" sz="2100" b="0">
                          <a:solidFill>
                            <a:srgbClr val="203447"/>
                          </a:solidFill>
                          <a:latin typeface="Aptos" panose="020B0004020202020204" pitchFamily="34" charset="0"/>
                        </a:rPr>
                        <a:t>Mantener pedidos y stock consistentes.</a:t>
                      </a:r>
                    </a:p>
                  </a:txBody>
                  <a:tcPr marL="152400" marR="127000" marT="127000" marB="101600">
                    <a:solidFill>
                      <a:srgbClr val="EDF4FA"/>
                    </a:solidFill>
                  </a:tcPr>
                </a:tc>
                <a:tc>
                  <a:txBody>
                    <a:bodyPr/>
                    <a:lstStyle/>
                    <a:p>
                      <a:r>
                        <a:rPr lang="es-ES" sz="2100" b="0">
                          <a:solidFill>
                            <a:srgbClr val="203447"/>
                          </a:solidFill>
                          <a:latin typeface="Aptos" panose="020B0004020202020204" pitchFamily="34" charset="0"/>
                        </a:rPr>
                        <a:t>Transacción local y recuperación.</a:t>
                      </a:r>
                    </a:p>
                  </a:txBody>
                  <a:tcPr marL="152400" marR="127000" marT="127000" marB="101600">
                    <a:solidFill>
                      <a:srgbClr val="EDF4FA"/>
                    </a:solidFill>
                  </a:tcPr>
                </a:tc>
                <a:extLst>
                  <a:ext uri="{0D108BD9-81ED-4DB2-BD59-A6C34878D82A}">
                    <a16:rowId xmlns:a16="http://schemas.microsoft.com/office/drawing/2014/main" val="2480942029"/>
                  </a:ext>
                </a:extLst>
              </a:tr>
              <a:tr h="850900">
                <a:tc>
                  <a:txBody>
                    <a:bodyPr/>
                    <a:lstStyle/>
                    <a:p>
                      <a:r>
                        <a:rPr lang="es-ES" sz="2100" b="0">
                          <a:solidFill>
                            <a:srgbClr val="203447"/>
                          </a:solidFill>
                          <a:latin typeface="Aptos" panose="020B0004020202020204" pitchFamily="34" charset="0"/>
                        </a:rPr>
                        <a:t>DA04</a:t>
                      </a:r>
                    </a:p>
                  </a:txBody>
                  <a:tcPr marL="152400" marR="127000" marT="127000" marB="101600">
                    <a:solidFill>
                      <a:srgbClr val="FFFFFF"/>
                    </a:solidFill>
                  </a:tcPr>
                </a:tc>
                <a:tc>
                  <a:txBody>
                    <a:bodyPr/>
                    <a:lstStyle/>
                    <a:p>
                      <a:r>
                        <a:rPr lang="es-ES" sz="2100" b="0">
                          <a:solidFill>
                            <a:srgbClr val="203447"/>
                          </a:solidFill>
                          <a:latin typeface="Aptos" panose="020B0004020202020204" pitchFamily="34" charset="0"/>
                        </a:rPr>
                        <a:t>Proteger la información comercial.</a:t>
                      </a:r>
                    </a:p>
                  </a:txBody>
                  <a:tcPr marL="152400" marR="127000" marT="127000" marB="101600">
                    <a:solidFill>
                      <a:srgbClr val="FFFFFF"/>
                    </a:solidFill>
                  </a:tcPr>
                </a:tc>
                <a:tc>
                  <a:txBody>
                    <a:bodyPr/>
                    <a:lstStyle/>
                    <a:p>
                      <a:r>
                        <a:rPr lang="es-ES" sz="2100" b="0">
                          <a:solidFill>
                            <a:srgbClr val="203447"/>
                          </a:solidFill>
                          <a:latin typeface="Aptos" panose="020B0004020202020204" pitchFamily="34" charset="0"/>
                        </a:rPr>
                        <a:t>Autorización por empresa y rol.</a:t>
                      </a:r>
                    </a:p>
                  </a:txBody>
                  <a:tcPr marL="152400" marR="127000" marT="127000" marB="101600">
                    <a:solidFill>
                      <a:srgbClr val="FFFFFF"/>
                    </a:solidFill>
                  </a:tcPr>
                </a:tc>
                <a:extLst>
                  <a:ext uri="{0D108BD9-81ED-4DB2-BD59-A6C34878D82A}">
                    <a16:rowId xmlns:a16="http://schemas.microsoft.com/office/drawing/2014/main" val="417860789"/>
                  </a:ext>
                </a:extLst>
              </a:tr>
              <a:tr h="850900">
                <a:tc>
                  <a:txBody>
                    <a:bodyPr/>
                    <a:lstStyle/>
                    <a:p>
                      <a:r>
                        <a:rPr lang="es-ES" sz="2100" b="0">
                          <a:solidFill>
                            <a:srgbClr val="203447"/>
                          </a:solidFill>
                          <a:latin typeface="Aptos" panose="020B0004020202020204" pitchFamily="34" charset="0"/>
                        </a:rPr>
                        <a:t>DA09</a:t>
                      </a:r>
                    </a:p>
                  </a:txBody>
                  <a:tcPr marL="152400" marR="127000" marT="127000" marB="101600">
                    <a:solidFill>
                      <a:srgbClr val="EDF4FA"/>
                    </a:solidFill>
                  </a:tcPr>
                </a:tc>
                <a:tc>
                  <a:txBody>
                    <a:bodyPr/>
                    <a:lstStyle/>
                    <a:p>
                      <a:r>
                        <a:rPr lang="es-ES" sz="2100" b="0">
                          <a:solidFill>
                            <a:srgbClr val="203447"/>
                          </a:solidFill>
                          <a:latin typeface="Aptos" panose="020B0004020202020204" pitchFamily="34" charset="0"/>
                        </a:rPr>
                        <a:t>Modificar funcionalidades con menor acoplamiento.</a:t>
                      </a:r>
                    </a:p>
                  </a:txBody>
                  <a:tcPr marL="152400" marR="127000" marT="127000" marB="101600">
                    <a:solidFill>
                      <a:srgbClr val="EDF4FA"/>
                    </a:solidFill>
                  </a:tcPr>
                </a:tc>
                <a:tc>
                  <a:txBody>
                    <a:bodyPr/>
                    <a:lstStyle/>
                    <a:p>
                      <a:r>
                        <a:rPr lang="es-ES" sz="2100" b="0">
                          <a:solidFill>
                            <a:srgbClr val="203447"/>
                          </a:solidFill>
                          <a:latin typeface="Aptos" panose="020B0004020202020204" pitchFamily="34" charset="0"/>
                        </a:rPr>
                        <a:t>Módulos y Clean Architecture.</a:t>
                      </a:r>
                    </a:p>
                  </a:txBody>
                  <a:tcPr marL="152400" marR="127000" marT="127000" marB="101600">
                    <a:solidFill>
                      <a:srgbClr val="EDF4FA"/>
                    </a:solidFill>
                  </a:tcPr>
                </a:tc>
                <a:extLst>
                  <a:ext uri="{0D108BD9-81ED-4DB2-BD59-A6C34878D82A}">
                    <a16:rowId xmlns:a16="http://schemas.microsoft.com/office/drawing/2014/main" val="1459388109"/>
                  </a:ext>
                </a:extLst>
              </a:tr>
              <a:tr h="850900">
                <a:tc>
                  <a:txBody>
                    <a:bodyPr/>
                    <a:lstStyle/>
                    <a:p>
                      <a:r>
                        <a:rPr lang="es-ES" sz="2100" b="0">
                          <a:solidFill>
                            <a:srgbClr val="203447"/>
                          </a:solidFill>
                          <a:latin typeface="Aptos" panose="020B0004020202020204" pitchFamily="34" charset="0"/>
                        </a:rPr>
                        <a:t>DA12</a:t>
                      </a:r>
                    </a:p>
                  </a:txBody>
                  <a:tcPr marL="152400" marR="127000" marT="127000" marB="101600">
                    <a:solidFill>
                      <a:srgbClr val="FFFFFF"/>
                    </a:solidFill>
                  </a:tcPr>
                </a:tc>
                <a:tc>
                  <a:txBody>
                    <a:bodyPr/>
                    <a:lstStyle/>
                    <a:p>
                      <a:r>
                        <a:rPr lang="es-ES" sz="2100" b="0">
                          <a:solidFill>
                            <a:srgbClr val="203447"/>
                          </a:solidFill>
                          <a:latin typeface="Aptos" panose="020B0004020202020204" pitchFamily="34" charset="0"/>
                        </a:rPr>
                        <a:t>Trabajar con presupuesto limitado.</a:t>
                      </a:r>
                    </a:p>
                  </a:txBody>
                  <a:tcPr marL="152400" marR="127000" marT="127000" marB="101600">
                    <a:solidFill>
                      <a:srgbClr val="FFFFFF"/>
                    </a:solidFill>
                  </a:tcPr>
                </a:tc>
                <a:tc>
                  <a:txBody>
                    <a:bodyPr/>
                    <a:lstStyle/>
                    <a:p>
                      <a:r>
                        <a:rPr lang="es-ES" sz="2100" b="0">
                          <a:solidFill>
                            <a:srgbClr val="203447"/>
                          </a:solidFill>
                          <a:latin typeface="Aptos" panose="020B0004020202020204" pitchFamily="34" charset="0"/>
                        </a:rPr>
                        <a:t>MVP y despliegue por etapas.</a:t>
                      </a:r>
                    </a:p>
                  </a:txBody>
                  <a:tcPr marL="152400" marR="127000" marT="127000" marB="101600">
                    <a:solidFill>
                      <a:srgbClr val="FFFFFF"/>
                    </a:solidFill>
                  </a:tcPr>
                </a:tc>
                <a:extLst>
                  <a:ext uri="{0D108BD9-81ED-4DB2-BD59-A6C34878D82A}">
                    <a16:rowId xmlns:a16="http://schemas.microsoft.com/office/drawing/2014/main" val="2741212139"/>
                  </a:ext>
                </a:extLst>
              </a:tr>
            </a:tbl>
          </a:graphicData>
        </a:graphic>
      </p:graphicFrame>
      <p:sp>
        <p:nvSpPr>
          <p:cNvPr id="6" name="CuadroTexto 5">
            <a:extLst>
              <a:ext uri="{FF2B5EF4-FFF2-40B4-BE49-F238E27FC236}">
                <a16:creationId xmlns:a16="http://schemas.microsoft.com/office/drawing/2014/main" id="{A394A2F4-B189-6F51-09C4-9E8A0B8E856C}"/>
              </a:ext>
            </a:extLst>
          </p:cNvPr>
          <p:cNvSpPr txBox="1"/>
          <p:nvPr/>
        </p:nvSpPr>
        <p:spPr>
          <a:xfrm>
            <a:off x="533400" y="5994400"/>
            <a:ext cx="11125200" cy="292388"/>
          </a:xfrm>
          <a:prstGeom prst="rect">
            <a:avLst/>
          </a:prstGeom>
          <a:noFill/>
        </p:spPr>
        <p:txBody>
          <a:bodyPr vert="horz" wrap="square" lIns="0" tIns="0" rIns="0" bIns="0" rtlCol="0">
            <a:spAutoFit/>
          </a:bodyPr>
          <a:lstStyle/>
          <a:p>
            <a:r>
              <a:rPr lang="es-ES" sz="1900" b="1">
                <a:solidFill>
                  <a:srgbClr val="1269B0"/>
                </a:solidFill>
                <a:latin typeface="Aptos" panose="020B0004020202020204" pitchFamily="34" charset="0"/>
              </a:rPr>
              <a:t>Las decisiones responden a necesidades concretas del sistema</a:t>
            </a:r>
          </a:p>
        </p:txBody>
      </p:sp>
    </p:spTree>
    <p:extLst>
      <p:ext uri="{BB962C8B-B14F-4D97-AF65-F5344CB8AC3E}">
        <p14:creationId xmlns:p14="http://schemas.microsoft.com/office/powerpoint/2010/main" val="388726386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03363279-5FD0-11E4-FA99-7138E33D7A32}"/>
              </a:ext>
            </a:extLst>
          </p:cNvPr>
          <p:cNvSpPr txBox="1"/>
          <p:nvPr/>
        </p:nvSpPr>
        <p:spPr>
          <a:xfrm>
            <a:off x="533400" y="355600"/>
            <a:ext cx="11049000" cy="492443"/>
          </a:xfrm>
          <a:prstGeom prst="rect">
            <a:avLst/>
          </a:prstGeom>
          <a:noFill/>
        </p:spPr>
        <p:txBody>
          <a:bodyPr vert="horz" wrap="square" lIns="0" tIns="0" rIns="0" bIns="0" rtlCol="0">
            <a:spAutoFit/>
          </a:bodyPr>
          <a:lstStyle/>
          <a:p>
            <a:r>
              <a:rPr lang="es-ES" sz="3200" b="1">
                <a:solidFill>
                  <a:srgbClr val="102D4E"/>
                </a:solidFill>
                <a:latin typeface="Aptos" panose="020B0004020202020204" pitchFamily="34" charset="0"/>
              </a:rPr>
              <a:t>Tecnologías previstas para MayoristaPro</a:t>
            </a:r>
          </a:p>
        </p:txBody>
      </p:sp>
      <p:sp>
        <p:nvSpPr>
          <p:cNvPr id="3" name="CuadroTexto 2">
            <a:extLst>
              <a:ext uri="{FF2B5EF4-FFF2-40B4-BE49-F238E27FC236}">
                <a16:creationId xmlns:a16="http://schemas.microsoft.com/office/drawing/2014/main" id="{68455705-02CE-960B-B8D2-6E5B5240BE49}"/>
              </a:ext>
            </a:extLst>
          </p:cNvPr>
          <p:cNvSpPr txBox="1"/>
          <p:nvPr/>
        </p:nvSpPr>
        <p:spPr>
          <a:xfrm>
            <a:off x="533400" y="6477000"/>
            <a:ext cx="6350000" cy="153888"/>
          </a:xfrm>
          <a:prstGeom prst="rect">
            <a:avLst/>
          </a:prstGeom>
          <a:noFill/>
        </p:spPr>
        <p:txBody>
          <a:bodyPr vert="horz" wrap="square" lIns="0" tIns="0" rIns="0" bIns="0" rtlCol="0">
            <a:spAutoFit/>
          </a:bodyPr>
          <a:lstStyle/>
          <a:p>
            <a:r>
              <a:rPr lang="es-ES" sz="1000">
                <a:solidFill>
                  <a:srgbClr val="52677A"/>
                </a:solidFill>
                <a:latin typeface="Aptos" panose="020B0004020202020204" pitchFamily="34" charset="0"/>
              </a:rPr>
              <a:t>MAYORISTAPRO  /  SPRINT 01</a:t>
            </a:r>
          </a:p>
        </p:txBody>
      </p:sp>
      <p:sp>
        <p:nvSpPr>
          <p:cNvPr id="4" name="CuadroTexto 3">
            <a:extLst>
              <a:ext uri="{FF2B5EF4-FFF2-40B4-BE49-F238E27FC236}">
                <a16:creationId xmlns:a16="http://schemas.microsoft.com/office/drawing/2014/main" id="{59514177-62F4-0A24-2B63-EC8D950BCEEB}"/>
              </a:ext>
            </a:extLst>
          </p:cNvPr>
          <p:cNvSpPr txBox="1"/>
          <p:nvPr/>
        </p:nvSpPr>
        <p:spPr>
          <a:xfrm>
            <a:off x="11176000" y="6477000"/>
            <a:ext cx="444500" cy="169277"/>
          </a:xfrm>
          <a:prstGeom prst="rect">
            <a:avLst/>
          </a:prstGeom>
          <a:noFill/>
        </p:spPr>
        <p:txBody>
          <a:bodyPr vert="horz" wrap="square" lIns="0" tIns="0" rIns="0" bIns="0" rtlCol="0">
            <a:spAutoFit/>
          </a:bodyPr>
          <a:lstStyle/>
          <a:p>
            <a:r>
              <a:rPr lang="es-ES" sz="1100">
                <a:solidFill>
                  <a:srgbClr val="52677A"/>
                </a:solidFill>
                <a:latin typeface="Aptos" panose="020B0004020202020204" pitchFamily="34" charset="0"/>
              </a:rPr>
              <a:t>13</a:t>
            </a:r>
          </a:p>
        </p:txBody>
      </p:sp>
      <p:sp>
        <p:nvSpPr>
          <p:cNvPr id="5" name="CuadroTexto 4">
            <a:extLst>
              <a:ext uri="{FF2B5EF4-FFF2-40B4-BE49-F238E27FC236}">
                <a16:creationId xmlns:a16="http://schemas.microsoft.com/office/drawing/2014/main" id="{337364F8-1834-E53F-5D58-EE2C66D94404}"/>
              </a:ext>
            </a:extLst>
          </p:cNvPr>
          <p:cNvSpPr txBox="1"/>
          <p:nvPr/>
        </p:nvSpPr>
        <p:spPr>
          <a:xfrm>
            <a:off x="533400" y="1270000"/>
            <a:ext cx="11125200" cy="369332"/>
          </a:xfrm>
          <a:prstGeom prst="rect">
            <a:avLst/>
          </a:prstGeom>
          <a:noFill/>
        </p:spPr>
        <p:txBody>
          <a:bodyPr vert="horz" wrap="square" lIns="0" tIns="0" rIns="0" bIns="0" rtlCol="0">
            <a:spAutoFit/>
          </a:bodyPr>
          <a:lstStyle/>
          <a:p>
            <a:r>
              <a:rPr lang="es-ES" sz="2400" b="1">
                <a:solidFill>
                  <a:srgbClr val="1269B0"/>
                </a:solidFill>
                <a:latin typeface="Aptos" panose="020B0004020202020204" pitchFamily="34" charset="0"/>
              </a:rPr>
              <a:t>Base propuesta y control de versiones</a:t>
            </a:r>
          </a:p>
        </p:txBody>
      </p:sp>
      <p:sp>
        <p:nvSpPr>
          <p:cNvPr id="6" name="Rectángulo: esquinas redondeadas 5">
            <a:extLst>
              <a:ext uri="{FF2B5EF4-FFF2-40B4-BE49-F238E27FC236}">
                <a16:creationId xmlns:a16="http://schemas.microsoft.com/office/drawing/2014/main" id="{B99C126C-6D50-BCF9-774E-929FE62E78BC}"/>
              </a:ext>
            </a:extLst>
          </p:cNvPr>
          <p:cNvSpPr/>
          <p:nvPr/>
        </p:nvSpPr>
        <p:spPr>
          <a:xfrm>
            <a:off x="533400" y="1816100"/>
            <a:ext cx="1701800" cy="1651000"/>
          </a:xfrm>
          <a:prstGeom prst="roundRect">
            <a:avLst/>
          </a:prstGeom>
          <a:solidFill>
            <a:srgbClr val="FFFFFF"/>
          </a:solidFill>
          <a:ln>
            <a:solidFill>
              <a:srgbClr val="DAE4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8" name="Gráfico 7">
            <a:extLst>
              <a:ext uri="{FF2B5EF4-FFF2-40B4-BE49-F238E27FC236}">
                <a16:creationId xmlns:a16="http://schemas.microsoft.com/office/drawing/2014/main" id="{3D7C0C5C-0F89-8208-FFD8-24B40271CA0A}"/>
              </a:ext>
            </a:extLst>
          </p:cNvPr>
          <p:cNvPicPr>
            <a:picLocks/>
          </p:cNvPicPr>
          <p:nvPr/>
        </p:nvPicPr>
        <p:blipFill>
          <a:blip r:embed="rId3">
            <a:extLst>
              <a:ext uri="{96DAC541-7B7A-43D3-8B79-37D633B846F1}">
                <asvg:svgBlip xmlns:asvg="http://schemas.microsoft.com/office/drawing/2016/SVG/main" r:embed="rId4"/>
              </a:ext>
            </a:extLst>
          </a:blip>
          <a:stretch>
            <a:fillRect/>
          </a:stretch>
        </p:blipFill>
        <p:spPr>
          <a:xfrm>
            <a:off x="1054100" y="1968500"/>
            <a:ext cx="660400" cy="660400"/>
          </a:xfrm>
          <a:prstGeom prst="rect">
            <a:avLst/>
          </a:prstGeom>
        </p:spPr>
      </p:pic>
      <p:sp>
        <p:nvSpPr>
          <p:cNvPr id="9" name="CuadroTexto 8">
            <a:extLst>
              <a:ext uri="{FF2B5EF4-FFF2-40B4-BE49-F238E27FC236}">
                <a16:creationId xmlns:a16="http://schemas.microsoft.com/office/drawing/2014/main" id="{B09DE8BF-3413-75EA-8EE8-A7539DBFA694}"/>
              </a:ext>
            </a:extLst>
          </p:cNvPr>
          <p:cNvSpPr txBox="1"/>
          <p:nvPr/>
        </p:nvSpPr>
        <p:spPr>
          <a:xfrm>
            <a:off x="584200" y="2768600"/>
            <a:ext cx="1600200" cy="292388"/>
          </a:xfrm>
          <a:prstGeom prst="rect">
            <a:avLst/>
          </a:prstGeom>
          <a:noFill/>
        </p:spPr>
        <p:txBody>
          <a:bodyPr vert="horz" wrap="square" lIns="0" tIns="0" rIns="0" bIns="0" rtlCol="0">
            <a:spAutoFit/>
          </a:bodyPr>
          <a:lstStyle/>
          <a:p>
            <a:pPr algn="ctr"/>
            <a:r>
              <a:rPr lang="es-ES" sz="1900" b="1">
                <a:solidFill>
                  <a:srgbClr val="102D4E"/>
                </a:solidFill>
                <a:latin typeface="Aptos" panose="020B0004020202020204" pitchFamily="34" charset="0"/>
              </a:rPr>
              <a:t>Angular</a:t>
            </a:r>
          </a:p>
        </p:txBody>
      </p:sp>
      <p:sp>
        <p:nvSpPr>
          <p:cNvPr id="10" name="CuadroTexto 9">
            <a:extLst>
              <a:ext uri="{FF2B5EF4-FFF2-40B4-BE49-F238E27FC236}">
                <a16:creationId xmlns:a16="http://schemas.microsoft.com/office/drawing/2014/main" id="{A5EB92B1-3D06-A3D4-7A4A-3CC99E297B9C}"/>
              </a:ext>
            </a:extLst>
          </p:cNvPr>
          <p:cNvSpPr txBox="1"/>
          <p:nvPr/>
        </p:nvSpPr>
        <p:spPr>
          <a:xfrm>
            <a:off x="584200" y="3111500"/>
            <a:ext cx="1600200" cy="200055"/>
          </a:xfrm>
          <a:prstGeom prst="rect">
            <a:avLst/>
          </a:prstGeom>
          <a:noFill/>
        </p:spPr>
        <p:txBody>
          <a:bodyPr vert="horz" wrap="square" lIns="0" tIns="0" rIns="0" bIns="0" rtlCol="0">
            <a:spAutoFit/>
          </a:bodyPr>
          <a:lstStyle/>
          <a:p>
            <a:pPr algn="ctr"/>
            <a:r>
              <a:rPr lang="es-ES" sz="1300">
                <a:solidFill>
                  <a:srgbClr val="52677A"/>
                </a:solidFill>
                <a:latin typeface="Aptos" panose="020B0004020202020204" pitchFamily="34" charset="0"/>
              </a:rPr>
              <a:t>Interfaz web</a:t>
            </a:r>
          </a:p>
        </p:txBody>
      </p:sp>
      <p:sp>
        <p:nvSpPr>
          <p:cNvPr id="11" name="Rectángulo: esquinas redondeadas 10">
            <a:extLst>
              <a:ext uri="{FF2B5EF4-FFF2-40B4-BE49-F238E27FC236}">
                <a16:creationId xmlns:a16="http://schemas.microsoft.com/office/drawing/2014/main" id="{54643859-D3FE-F602-696B-A3B69FF56A0E}"/>
              </a:ext>
            </a:extLst>
          </p:cNvPr>
          <p:cNvSpPr/>
          <p:nvPr/>
        </p:nvSpPr>
        <p:spPr>
          <a:xfrm>
            <a:off x="2413000" y="1816100"/>
            <a:ext cx="1701800" cy="1651000"/>
          </a:xfrm>
          <a:prstGeom prst="roundRect">
            <a:avLst/>
          </a:prstGeom>
          <a:solidFill>
            <a:srgbClr val="FFFFFF"/>
          </a:solidFill>
          <a:ln>
            <a:solidFill>
              <a:srgbClr val="DAE4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13" name="Gráfico 12">
            <a:extLst>
              <a:ext uri="{FF2B5EF4-FFF2-40B4-BE49-F238E27FC236}">
                <a16:creationId xmlns:a16="http://schemas.microsoft.com/office/drawing/2014/main" id="{687D520C-B5BD-3F5E-F79B-947F223C6428}"/>
              </a:ext>
            </a:extLst>
          </p:cNvPr>
          <p:cNvPicPr>
            <a:picLocks/>
          </p:cNvPicPr>
          <p:nvPr/>
        </p:nvPicPr>
        <p:blipFill>
          <a:blip r:embed="rId5">
            <a:extLst>
              <a:ext uri="{96DAC541-7B7A-43D3-8B79-37D633B846F1}">
                <asvg:svgBlip xmlns:asvg="http://schemas.microsoft.com/office/drawing/2016/SVG/main" r:embed="rId6"/>
              </a:ext>
            </a:extLst>
          </a:blip>
          <a:stretch>
            <a:fillRect/>
          </a:stretch>
        </p:blipFill>
        <p:spPr>
          <a:xfrm>
            <a:off x="2933700" y="1968500"/>
            <a:ext cx="660400" cy="660400"/>
          </a:xfrm>
          <a:prstGeom prst="rect">
            <a:avLst/>
          </a:prstGeom>
        </p:spPr>
      </p:pic>
      <p:sp>
        <p:nvSpPr>
          <p:cNvPr id="14" name="CuadroTexto 13">
            <a:extLst>
              <a:ext uri="{FF2B5EF4-FFF2-40B4-BE49-F238E27FC236}">
                <a16:creationId xmlns:a16="http://schemas.microsoft.com/office/drawing/2014/main" id="{4911FEF4-AD97-E508-BED0-F9FDE78D6519}"/>
              </a:ext>
            </a:extLst>
          </p:cNvPr>
          <p:cNvSpPr txBox="1"/>
          <p:nvPr/>
        </p:nvSpPr>
        <p:spPr>
          <a:xfrm>
            <a:off x="2463800" y="2768600"/>
            <a:ext cx="1600200" cy="292388"/>
          </a:xfrm>
          <a:prstGeom prst="rect">
            <a:avLst/>
          </a:prstGeom>
          <a:noFill/>
        </p:spPr>
        <p:txBody>
          <a:bodyPr vert="horz" wrap="square" lIns="0" tIns="0" rIns="0" bIns="0" rtlCol="0">
            <a:spAutoFit/>
          </a:bodyPr>
          <a:lstStyle/>
          <a:p>
            <a:pPr algn="ctr"/>
            <a:r>
              <a:rPr lang="es-ES" sz="1900" b="1">
                <a:solidFill>
                  <a:srgbClr val="102D4E"/>
                </a:solidFill>
                <a:latin typeface="Aptos" panose="020B0004020202020204" pitchFamily="34" charset="0"/>
              </a:rPr>
              <a:t>TypeScript</a:t>
            </a:r>
          </a:p>
        </p:txBody>
      </p:sp>
      <p:sp>
        <p:nvSpPr>
          <p:cNvPr id="15" name="CuadroTexto 14">
            <a:extLst>
              <a:ext uri="{FF2B5EF4-FFF2-40B4-BE49-F238E27FC236}">
                <a16:creationId xmlns:a16="http://schemas.microsoft.com/office/drawing/2014/main" id="{060EECF9-5800-66C5-6417-181527C1F37E}"/>
              </a:ext>
            </a:extLst>
          </p:cNvPr>
          <p:cNvSpPr txBox="1"/>
          <p:nvPr/>
        </p:nvSpPr>
        <p:spPr>
          <a:xfrm>
            <a:off x="2463800" y="3111500"/>
            <a:ext cx="1600200" cy="200055"/>
          </a:xfrm>
          <a:prstGeom prst="rect">
            <a:avLst/>
          </a:prstGeom>
          <a:noFill/>
        </p:spPr>
        <p:txBody>
          <a:bodyPr vert="horz" wrap="square" lIns="0" tIns="0" rIns="0" bIns="0" rtlCol="0">
            <a:spAutoFit/>
          </a:bodyPr>
          <a:lstStyle/>
          <a:p>
            <a:pPr algn="ctr"/>
            <a:r>
              <a:rPr lang="es-ES" sz="1300">
                <a:solidFill>
                  <a:srgbClr val="52677A"/>
                </a:solidFill>
                <a:latin typeface="Aptos" panose="020B0004020202020204" pitchFamily="34" charset="0"/>
              </a:rPr>
              <a:t>Lenguaje principal</a:t>
            </a:r>
          </a:p>
        </p:txBody>
      </p:sp>
      <p:sp>
        <p:nvSpPr>
          <p:cNvPr id="16" name="Rectángulo: esquinas redondeadas 15">
            <a:extLst>
              <a:ext uri="{FF2B5EF4-FFF2-40B4-BE49-F238E27FC236}">
                <a16:creationId xmlns:a16="http://schemas.microsoft.com/office/drawing/2014/main" id="{CD9C5D9C-587B-88CC-BF6C-389E90D27F53}"/>
              </a:ext>
            </a:extLst>
          </p:cNvPr>
          <p:cNvSpPr/>
          <p:nvPr/>
        </p:nvSpPr>
        <p:spPr>
          <a:xfrm>
            <a:off x="4292600" y="1816100"/>
            <a:ext cx="1701800" cy="1651000"/>
          </a:xfrm>
          <a:prstGeom prst="roundRect">
            <a:avLst/>
          </a:prstGeom>
          <a:solidFill>
            <a:srgbClr val="FFFFFF"/>
          </a:solidFill>
          <a:ln>
            <a:solidFill>
              <a:srgbClr val="DAE4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18" name="Gráfico 17">
            <a:extLst>
              <a:ext uri="{FF2B5EF4-FFF2-40B4-BE49-F238E27FC236}">
                <a16:creationId xmlns:a16="http://schemas.microsoft.com/office/drawing/2014/main" id="{DC31D83B-29AF-1C78-CB90-BB64F47BDB24}"/>
              </a:ext>
            </a:extLst>
          </p:cNvPr>
          <p:cNvPicPr>
            <a:picLocks/>
          </p:cNvPicPr>
          <p:nvPr/>
        </p:nvPicPr>
        <p:blipFill>
          <a:blip r:embed="rId7">
            <a:extLst>
              <a:ext uri="{96DAC541-7B7A-43D3-8B79-37D633B846F1}">
                <asvg:svgBlip xmlns:asvg="http://schemas.microsoft.com/office/drawing/2016/SVG/main" r:embed="rId8"/>
              </a:ext>
            </a:extLst>
          </a:blip>
          <a:stretch>
            <a:fillRect/>
          </a:stretch>
        </p:blipFill>
        <p:spPr>
          <a:xfrm>
            <a:off x="4813300" y="1968500"/>
            <a:ext cx="660400" cy="660400"/>
          </a:xfrm>
          <a:prstGeom prst="rect">
            <a:avLst/>
          </a:prstGeom>
        </p:spPr>
      </p:pic>
      <p:sp>
        <p:nvSpPr>
          <p:cNvPr id="19" name="CuadroTexto 18">
            <a:extLst>
              <a:ext uri="{FF2B5EF4-FFF2-40B4-BE49-F238E27FC236}">
                <a16:creationId xmlns:a16="http://schemas.microsoft.com/office/drawing/2014/main" id="{E14F3FDD-F17F-EF17-84C4-9460B7B03CFD}"/>
              </a:ext>
            </a:extLst>
          </p:cNvPr>
          <p:cNvSpPr txBox="1"/>
          <p:nvPr/>
        </p:nvSpPr>
        <p:spPr>
          <a:xfrm>
            <a:off x="4343400" y="2768600"/>
            <a:ext cx="1600200" cy="292388"/>
          </a:xfrm>
          <a:prstGeom prst="rect">
            <a:avLst/>
          </a:prstGeom>
          <a:noFill/>
        </p:spPr>
        <p:txBody>
          <a:bodyPr vert="horz" wrap="square" lIns="0" tIns="0" rIns="0" bIns="0" rtlCol="0">
            <a:spAutoFit/>
          </a:bodyPr>
          <a:lstStyle/>
          <a:p>
            <a:pPr algn="ctr"/>
            <a:r>
              <a:rPr lang="es-ES" sz="1900" b="1">
                <a:solidFill>
                  <a:srgbClr val="102D4E"/>
                </a:solidFill>
                <a:latin typeface="Aptos" panose="020B0004020202020204" pitchFamily="34" charset="0"/>
              </a:rPr>
              <a:t>NestJS</a:t>
            </a:r>
          </a:p>
        </p:txBody>
      </p:sp>
      <p:sp>
        <p:nvSpPr>
          <p:cNvPr id="20" name="CuadroTexto 19">
            <a:extLst>
              <a:ext uri="{FF2B5EF4-FFF2-40B4-BE49-F238E27FC236}">
                <a16:creationId xmlns:a16="http://schemas.microsoft.com/office/drawing/2014/main" id="{ABB3EA8D-9940-A37E-0EDE-32C9906544C1}"/>
              </a:ext>
            </a:extLst>
          </p:cNvPr>
          <p:cNvSpPr txBox="1"/>
          <p:nvPr/>
        </p:nvSpPr>
        <p:spPr>
          <a:xfrm>
            <a:off x="4343400" y="3111500"/>
            <a:ext cx="1600200" cy="200055"/>
          </a:xfrm>
          <a:prstGeom prst="rect">
            <a:avLst/>
          </a:prstGeom>
          <a:noFill/>
        </p:spPr>
        <p:txBody>
          <a:bodyPr vert="horz" wrap="square" lIns="0" tIns="0" rIns="0" bIns="0" rtlCol="0">
            <a:spAutoFit/>
          </a:bodyPr>
          <a:lstStyle/>
          <a:p>
            <a:pPr algn="ctr"/>
            <a:r>
              <a:rPr lang="es-ES" sz="1300">
                <a:solidFill>
                  <a:srgbClr val="52677A"/>
                </a:solidFill>
                <a:latin typeface="Aptos" panose="020B0004020202020204" pitchFamily="34" charset="0"/>
              </a:rPr>
              <a:t>Backend modular</a:t>
            </a:r>
          </a:p>
        </p:txBody>
      </p:sp>
      <p:sp>
        <p:nvSpPr>
          <p:cNvPr id="21" name="Rectángulo: esquinas redondeadas 20">
            <a:extLst>
              <a:ext uri="{FF2B5EF4-FFF2-40B4-BE49-F238E27FC236}">
                <a16:creationId xmlns:a16="http://schemas.microsoft.com/office/drawing/2014/main" id="{FE8F12EB-1FBD-3AD4-7BE4-99DA070AE89A}"/>
              </a:ext>
            </a:extLst>
          </p:cNvPr>
          <p:cNvSpPr/>
          <p:nvPr/>
        </p:nvSpPr>
        <p:spPr>
          <a:xfrm>
            <a:off x="6172200" y="1816100"/>
            <a:ext cx="1701800" cy="1651000"/>
          </a:xfrm>
          <a:prstGeom prst="roundRect">
            <a:avLst/>
          </a:prstGeom>
          <a:solidFill>
            <a:srgbClr val="FFFFFF"/>
          </a:solidFill>
          <a:ln>
            <a:solidFill>
              <a:srgbClr val="DAE4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23" name="Gráfico 22">
            <a:extLst>
              <a:ext uri="{FF2B5EF4-FFF2-40B4-BE49-F238E27FC236}">
                <a16:creationId xmlns:a16="http://schemas.microsoft.com/office/drawing/2014/main" id="{30C41042-3CBF-D6FE-AC84-B1387CC214D9}"/>
              </a:ext>
            </a:extLst>
          </p:cNvPr>
          <p:cNvPicPr>
            <a:picLocks/>
          </p:cNvPicPr>
          <p:nvPr/>
        </p:nvPicPr>
        <p:blipFill>
          <a:blip r:embed="rId9">
            <a:extLst>
              <a:ext uri="{96DAC541-7B7A-43D3-8B79-37D633B846F1}">
                <asvg:svgBlip xmlns:asvg="http://schemas.microsoft.com/office/drawing/2016/SVG/main" r:embed="rId10"/>
              </a:ext>
            </a:extLst>
          </a:blip>
          <a:stretch>
            <a:fillRect/>
          </a:stretch>
        </p:blipFill>
        <p:spPr>
          <a:xfrm>
            <a:off x="6692900" y="1968500"/>
            <a:ext cx="660400" cy="660400"/>
          </a:xfrm>
          <a:prstGeom prst="rect">
            <a:avLst/>
          </a:prstGeom>
        </p:spPr>
      </p:pic>
      <p:sp>
        <p:nvSpPr>
          <p:cNvPr id="24" name="CuadroTexto 23">
            <a:extLst>
              <a:ext uri="{FF2B5EF4-FFF2-40B4-BE49-F238E27FC236}">
                <a16:creationId xmlns:a16="http://schemas.microsoft.com/office/drawing/2014/main" id="{43B2FBCA-0FBD-8D46-07F6-CCAB3CCF8D96}"/>
              </a:ext>
            </a:extLst>
          </p:cNvPr>
          <p:cNvSpPr txBox="1"/>
          <p:nvPr/>
        </p:nvSpPr>
        <p:spPr>
          <a:xfrm>
            <a:off x="6223000" y="2768600"/>
            <a:ext cx="1600200" cy="292388"/>
          </a:xfrm>
          <a:prstGeom prst="rect">
            <a:avLst/>
          </a:prstGeom>
          <a:noFill/>
        </p:spPr>
        <p:txBody>
          <a:bodyPr vert="horz" wrap="square" lIns="0" tIns="0" rIns="0" bIns="0" rtlCol="0">
            <a:spAutoFit/>
          </a:bodyPr>
          <a:lstStyle/>
          <a:p>
            <a:pPr algn="ctr"/>
            <a:r>
              <a:rPr lang="es-ES" sz="1900" b="1">
                <a:solidFill>
                  <a:srgbClr val="102D4E"/>
                </a:solidFill>
                <a:latin typeface="Aptos" panose="020B0004020202020204" pitchFamily="34" charset="0"/>
              </a:rPr>
              <a:t>Node.js</a:t>
            </a:r>
          </a:p>
        </p:txBody>
      </p:sp>
      <p:sp>
        <p:nvSpPr>
          <p:cNvPr id="25" name="CuadroTexto 24">
            <a:extLst>
              <a:ext uri="{FF2B5EF4-FFF2-40B4-BE49-F238E27FC236}">
                <a16:creationId xmlns:a16="http://schemas.microsoft.com/office/drawing/2014/main" id="{A6639263-5D45-2E55-E846-B83B5F80A647}"/>
              </a:ext>
            </a:extLst>
          </p:cNvPr>
          <p:cNvSpPr txBox="1"/>
          <p:nvPr/>
        </p:nvSpPr>
        <p:spPr>
          <a:xfrm>
            <a:off x="6223000" y="3111500"/>
            <a:ext cx="1600200" cy="200055"/>
          </a:xfrm>
          <a:prstGeom prst="rect">
            <a:avLst/>
          </a:prstGeom>
          <a:noFill/>
        </p:spPr>
        <p:txBody>
          <a:bodyPr vert="horz" wrap="square" lIns="0" tIns="0" rIns="0" bIns="0" rtlCol="0">
            <a:spAutoFit/>
          </a:bodyPr>
          <a:lstStyle/>
          <a:p>
            <a:pPr algn="ctr"/>
            <a:r>
              <a:rPr lang="es-ES" sz="1300">
                <a:solidFill>
                  <a:srgbClr val="52677A"/>
                </a:solidFill>
                <a:latin typeface="Aptos" panose="020B0004020202020204" pitchFamily="34" charset="0"/>
              </a:rPr>
              <a:t>Ejecución backend</a:t>
            </a:r>
          </a:p>
        </p:txBody>
      </p:sp>
      <p:sp>
        <p:nvSpPr>
          <p:cNvPr id="26" name="Rectángulo: esquinas redondeadas 25">
            <a:extLst>
              <a:ext uri="{FF2B5EF4-FFF2-40B4-BE49-F238E27FC236}">
                <a16:creationId xmlns:a16="http://schemas.microsoft.com/office/drawing/2014/main" id="{0355CAFA-4312-2E25-50E6-9812C2D18114}"/>
              </a:ext>
            </a:extLst>
          </p:cNvPr>
          <p:cNvSpPr/>
          <p:nvPr/>
        </p:nvSpPr>
        <p:spPr>
          <a:xfrm>
            <a:off x="8051800" y="1816100"/>
            <a:ext cx="1701800" cy="1651000"/>
          </a:xfrm>
          <a:prstGeom prst="roundRect">
            <a:avLst/>
          </a:prstGeom>
          <a:solidFill>
            <a:srgbClr val="FFFFFF"/>
          </a:solidFill>
          <a:ln>
            <a:solidFill>
              <a:srgbClr val="DAE4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28" name="Gráfico 27">
            <a:extLst>
              <a:ext uri="{FF2B5EF4-FFF2-40B4-BE49-F238E27FC236}">
                <a16:creationId xmlns:a16="http://schemas.microsoft.com/office/drawing/2014/main" id="{8178A1AF-CD7F-BF8A-F4B4-24DB1A91FD6B}"/>
              </a:ext>
            </a:extLst>
          </p:cNvPr>
          <p:cNvPicPr>
            <a:picLocks/>
          </p:cNvPicPr>
          <p:nvPr/>
        </p:nvPicPr>
        <p:blipFill>
          <a:blip r:embed="rId11">
            <a:extLst>
              <a:ext uri="{96DAC541-7B7A-43D3-8B79-37D633B846F1}">
                <asvg:svgBlip xmlns:asvg="http://schemas.microsoft.com/office/drawing/2016/SVG/main" r:embed="rId12"/>
              </a:ext>
            </a:extLst>
          </a:blip>
          <a:stretch>
            <a:fillRect/>
          </a:stretch>
        </p:blipFill>
        <p:spPr>
          <a:xfrm>
            <a:off x="8572500" y="1968500"/>
            <a:ext cx="660400" cy="660400"/>
          </a:xfrm>
          <a:prstGeom prst="rect">
            <a:avLst/>
          </a:prstGeom>
        </p:spPr>
      </p:pic>
      <p:sp>
        <p:nvSpPr>
          <p:cNvPr id="29" name="CuadroTexto 28">
            <a:extLst>
              <a:ext uri="{FF2B5EF4-FFF2-40B4-BE49-F238E27FC236}">
                <a16:creationId xmlns:a16="http://schemas.microsoft.com/office/drawing/2014/main" id="{B619EC4B-2095-BEC9-02C5-1FE07145C1FA}"/>
              </a:ext>
            </a:extLst>
          </p:cNvPr>
          <p:cNvSpPr txBox="1"/>
          <p:nvPr/>
        </p:nvSpPr>
        <p:spPr>
          <a:xfrm>
            <a:off x="8102600" y="2768600"/>
            <a:ext cx="1600200" cy="292388"/>
          </a:xfrm>
          <a:prstGeom prst="rect">
            <a:avLst/>
          </a:prstGeom>
          <a:noFill/>
        </p:spPr>
        <p:txBody>
          <a:bodyPr vert="horz" wrap="square" lIns="0" tIns="0" rIns="0" bIns="0" rtlCol="0">
            <a:spAutoFit/>
          </a:bodyPr>
          <a:lstStyle/>
          <a:p>
            <a:pPr algn="ctr"/>
            <a:r>
              <a:rPr lang="es-ES" sz="1900" b="1">
                <a:solidFill>
                  <a:srgbClr val="102D4E"/>
                </a:solidFill>
                <a:latin typeface="Aptos" panose="020B0004020202020204" pitchFamily="34" charset="0"/>
              </a:rPr>
              <a:t>PostgreSQL</a:t>
            </a:r>
          </a:p>
        </p:txBody>
      </p:sp>
      <p:sp>
        <p:nvSpPr>
          <p:cNvPr id="30" name="CuadroTexto 29">
            <a:extLst>
              <a:ext uri="{FF2B5EF4-FFF2-40B4-BE49-F238E27FC236}">
                <a16:creationId xmlns:a16="http://schemas.microsoft.com/office/drawing/2014/main" id="{5C1B6D33-07FD-F351-039D-5446D5524FDD}"/>
              </a:ext>
            </a:extLst>
          </p:cNvPr>
          <p:cNvSpPr txBox="1"/>
          <p:nvPr/>
        </p:nvSpPr>
        <p:spPr>
          <a:xfrm>
            <a:off x="8102600" y="3111500"/>
            <a:ext cx="1600200" cy="200055"/>
          </a:xfrm>
          <a:prstGeom prst="rect">
            <a:avLst/>
          </a:prstGeom>
          <a:noFill/>
        </p:spPr>
        <p:txBody>
          <a:bodyPr vert="horz" wrap="square" lIns="0" tIns="0" rIns="0" bIns="0" rtlCol="0">
            <a:spAutoFit/>
          </a:bodyPr>
          <a:lstStyle/>
          <a:p>
            <a:pPr algn="ctr"/>
            <a:r>
              <a:rPr lang="es-ES" sz="1300">
                <a:solidFill>
                  <a:srgbClr val="52677A"/>
                </a:solidFill>
                <a:latin typeface="Aptos" panose="020B0004020202020204" pitchFamily="34" charset="0"/>
              </a:rPr>
              <a:t>Datos comerciales</a:t>
            </a:r>
          </a:p>
        </p:txBody>
      </p:sp>
      <p:sp>
        <p:nvSpPr>
          <p:cNvPr id="31" name="Rectángulo: esquinas redondeadas 30">
            <a:extLst>
              <a:ext uri="{FF2B5EF4-FFF2-40B4-BE49-F238E27FC236}">
                <a16:creationId xmlns:a16="http://schemas.microsoft.com/office/drawing/2014/main" id="{10DB060E-FC79-E8AB-2B07-C49A83602EFD}"/>
              </a:ext>
            </a:extLst>
          </p:cNvPr>
          <p:cNvSpPr/>
          <p:nvPr/>
        </p:nvSpPr>
        <p:spPr>
          <a:xfrm>
            <a:off x="9931400" y="1816100"/>
            <a:ext cx="1701800" cy="1651000"/>
          </a:xfrm>
          <a:prstGeom prst="roundRect">
            <a:avLst/>
          </a:prstGeom>
          <a:solidFill>
            <a:srgbClr val="FFFFFF"/>
          </a:solidFill>
          <a:ln>
            <a:solidFill>
              <a:srgbClr val="DAE4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33" name="Gráfico 32">
            <a:extLst>
              <a:ext uri="{FF2B5EF4-FFF2-40B4-BE49-F238E27FC236}">
                <a16:creationId xmlns:a16="http://schemas.microsoft.com/office/drawing/2014/main" id="{3AEE0E63-0190-819E-9366-36A47980C42C}"/>
              </a:ext>
            </a:extLst>
          </p:cNvPr>
          <p:cNvPicPr>
            <a:picLocks/>
          </p:cNvPicPr>
          <p:nvPr/>
        </p:nvPicPr>
        <p:blipFill>
          <a:blip r:embed="rId13">
            <a:extLst>
              <a:ext uri="{96DAC541-7B7A-43D3-8B79-37D633B846F1}">
                <asvg:svgBlip xmlns:asvg="http://schemas.microsoft.com/office/drawing/2016/SVG/main" r:embed="rId14"/>
              </a:ext>
            </a:extLst>
          </a:blip>
          <a:stretch>
            <a:fillRect/>
          </a:stretch>
        </p:blipFill>
        <p:spPr>
          <a:xfrm>
            <a:off x="10452100" y="1968500"/>
            <a:ext cx="660400" cy="660400"/>
          </a:xfrm>
          <a:prstGeom prst="rect">
            <a:avLst/>
          </a:prstGeom>
        </p:spPr>
      </p:pic>
      <p:sp>
        <p:nvSpPr>
          <p:cNvPr id="34" name="CuadroTexto 33">
            <a:extLst>
              <a:ext uri="{FF2B5EF4-FFF2-40B4-BE49-F238E27FC236}">
                <a16:creationId xmlns:a16="http://schemas.microsoft.com/office/drawing/2014/main" id="{28E3F983-3865-38CF-4AF2-F7F554921D95}"/>
              </a:ext>
            </a:extLst>
          </p:cNvPr>
          <p:cNvSpPr txBox="1"/>
          <p:nvPr/>
        </p:nvSpPr>
        <p:spPr>
          <a:xfrm>
            <a:off x="9982200" y="2768600"/>
            <a:ext cx="1600200" cy="292388"/>
          </a:xfrm>
          <a:prstGeom prst="rect">
            <a:avLst/>
          </a:prstGeom>
          <a:noFill/>
        </p:spPr>
        <p:txBody>
          <a:bodyPr vert="horz" wrap="square" lIns="0" tIns="0" rIns="0" bIns="0" rtlCol="0">
            <a:spAutoFit/>
          </a:bodyPr>
          <a:lstStyle/>
          <a:p>
            <a:pPr algn="ctr"/>
            <a:r>
              <a:rPr lang="es-ES" sz="1900" b="1">
                <a:solidFill>
                  <a:srgbClr val="102D4E"/>
                </a:solidFill>
                <a:latin typeface="Aptos" panose="020B0004020202020204" pitchFamily="34" charset="0"/>
              </a:rPr>
              <a:t>GitHub</a:t>
            </a:r>
          </a:p>
        </p:txBody>
      </p:sp>
      <p:sp>
        <p:nvSpPr>
          <p:cNvPr id="35" name="CuadroTexto 34">
            <a:extLst>
              <a:ext uri="{FF2B5EF4-FFF2-40B4-BE49-F238E27FC236}">
                <a16:creationId xmlns:a16="http://schemas.microsoft.com/office/drawing/2014/main" id="{1FA80E29-250E-36D9-BCD6-98C6357D9764}"/>
              </a:ext>
            </a:extLst>
          </p:cNvPr>
          <p:cNvSpPr txBox="1"/>
          <p:nvPr/>
        </p:nvSpPr>
        <p:spPr>
          <a:xfrm>
            <a:off x="9982200" y="3111500"/>
            <a:ext cx="1600200" cy="200055"/>
          </a:xfrm>
          <a:prstGeom prst="rect">
            <a:avLst/>
          </a:prstGeom>
          <a:noFill/>
        </p:spPr>
        <p:txBody>
          <a:bodyPr vert="horz" wrap="square" lIns="0" tIns="0" rIns="0" bIns="0" rtlCol="0">
            <a:spAutoFit/>
          </a:bodyPr>
          <a:lstStyle/>
          <a:p>
            <a:pPr algn="ctr"/>
            <a:r>
              <a:rPr lang="es-ES" sz="1300">
                <a:solidFill>
                  <a:srgbClr val="52677A"/>
                </a:solidFill>
                <a:latin typeface="Aptos" panose="020B0004020202020204" pitchFamily="34" charset="0"/>
              </a:rPr>
              <a:t>Repositorio</a:t>
            </a:r>
          </a:p>
        </p:txBody>
      </p:sp>
      <p:sp>
        <p:nvSpPr>
          <p:cNvPr id="36" name="CuadroTexto 35">
            <a:extLst>
              <a:ext uri="{FF2B5EF4-FFF2-40B4-BE49-F238E27FC236}">
                <a16:creationId xmlns:a16="http://schemas.microsoft.com/office/drawing/2014/main" id="{5439F39E-2D51-28E4-BEEC-39280996091B}"/>
              </a:ext>
            </a:extLst>
          </p:cNvPr>
          <p:cNvSpPr txBox="1"/>
          <p:nvPr/>
        </p:nvSpPr>
        <p:spPr>
          <a:xfrm>
            <a:off x="533400" y="3746500"/>
            <a:ext cx="11125200" cy="369332"/>
          </a:xfrm>
          <a:prstGeom prst="rect">
            <a:avLst/>
          </a:prstGeom>
          <a:noFill/>
        </p:spPr>
        <p:txBody>
          <a:bodyPr vert="horz" wrap="square" lIns="0" tIns="0" rIns="0" bIns="0" rtlCol="0">
            <a:spAutoFit/>
          </a:bodyPr>
          <a:lstStyle/>
          <a:p>
            <a:r>
              <a:rPr lang="es-ES" sz="2400" b="1">
                <a:solidFill>
                  <a:srgbClr val="0F776F"/>
                </a:solidFill>
                <a:latin typeface="Aptos" panose="020B0004020202020204" pitchFamily="34" charset="0"/>
              </a:rPr>
              <a:t>Despliegue previsto y componentes según alcance</a:t>
            </a:r>
          </a:p>
        </p:txBody>
      </p:sp>
      <p:sp>
        <p:nvSpPr>
          <p:cNvPr id="37" name="Rectángulo: esquinas redondeadas 36">
            <a:extLst>
              <a:ext uri="{FF2B5EF4-FFF2-40B4-BE49-F238E27FC236}">
                <a16:creationId xmlns:a16="http://schemas.microsoft.com/office/drawing/2014/main" id="{2F009E78-5A74-09B1-7E6E-3B85A89F508C}"/>
              </a:ext>
            </a:extLst>
          </p:cNvPr>
          <p:cNvSpPr/>
          <p:nvPr/>
        </p:nvSpPr>
        <p:spPr>
          <a:xfrm>
            <a:off x="533400" y="4279900"/>
            <a:ext cx="2667000" cy="1651000"/>
          </a:xfrm>
          <a:prstGeom prst="roundRect">
            <a:avLst/>
          </a:prstGeom>
          <a:solidFill>
            <a:srgbClr val="FFFFFF"/>
          </a:solidFill>
          <a:ln>
            <a:solidFill>
              <a:srgbClr val="DAE4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39" name="Gráfico 38">
            <a:extLst>
              <a:ext uri="{FF2B5EF4-FFF2-40B4-BE49-F238E27FC236}">
                <a16:creationId xmlns:a16="http://schemas.microsoft.com/office/drawing/2014/main" id="{FF0C055F-538C-AB48-176B-C45B12B6BDB7}"/>
              </a:ext>
            </a:extLst>
          </p:cNvPr>
          <p:cNvPicPr>
            <a:picLocks/>
          </p:cNvPicPr>
          <p:nvPr/>
        </p:nvPicPr>
        <p:blipFill>
          <a:blip r:embed="rId15">
            <a:extLst>
              <a:ext uri="{96DAC541-7B7A-43D3-8B79-37D633B846F1}">
                <asvg:svgBlip xmlns:asvg="http://schemas.microsoft.com/office/drawing/2016/SVG/main" r:embed="rId16"/>
              </a:ext>
            </a:extLst>
          </a:blip>
          <a:stretch>
            <a:fillRect/>
          </a:stretch>
        </p:blipFill>
        <p:spPr>
          <a:xfrm>
            <a:off x="1536700" y="4432300"/>
            <a:ext cx="660400" cy="660400"/>
          </a:xfrm>
          <a:prstGeom prst="rect">
            <a:avLst/>
          </a:prstGeom>
        </p:spPr>
      </p:pic>
      <p:sp>
        <p:nvSpPr>
          <p:cNvPr id="40" name="CuadroTexto 39">
            <a:extLst>
              <a:ext uri="{FF2B5EF4-FFF2-40B4-BE49-F238E27FC236}">
                <a16:creationId xmlns:a16="http://schemas.microsoft.com/office/drawing/2014/main" id="{A5A1692C-5A61-D641-EE96-8B3F4FFB380C}"/>
              </a:ext>
            </a:extLst>
          </p:cNvPr>
          <p:cNvSpPr txBox="1"/>
          <p:nvPr/>
        </p:nvSpPr>
        <p:spPr>
          <a:xfrm>
            <a:off x="584200" y="5232400"/>
            <a:ext cx="2565400" cy="292388"/>
          </a:xfrm>
          <a:prstGeom prst="rect">
            <a:avLst/>
          </a:prstGeom>
          <a:noFill/>
        </p:spPr>
        <p:txBody>
          <a:bodyPr vert="horz" wrap="square" lIns="0" tIns="0" rIns="0" bIns="0" rtlCol="0">
            <a:spAutoFit/>
          </a:bodyPr>
          <a:lstStyle/>
          <a:p>
            <a:pPr algn="ctr"/>
            <a:r>
              <a:rPr lang="es-ES" sz="1900" b="1">
                <a:solidFill>
                  <a:srgbClr val="102D4E"/>
                </a:solidFill>
                <a:latin typeface="Aptos" panose="020B0004020202020204" pitchFamily="34" charset="0"/>
              </a:rPr>
              <a:t>AWS</a:t>
            </a:r>
          </a:p>
        </p:txBody>
      </p:sp>
      <p:sp>
        <p:nvSpPr>
          <p:cNvPr id="41" name="CuadroTexto 40">
            <a:extLst>
              <a:ext uri="{FF2B5EF4-FFF2-40B4-BE49-F238E27FC236}">
                <a16:creationId xmlns:a16="http://schemas.microsoft.com/office/drawing/2014/main" id="{67F41694-7511-0254-C995-DC14ACC0A92C}"/>
              </a:ext>
            </a:extLst>
          </p:cNvPr>
          <p:cNvSpPr txBox="1"/>
          <p:nvPr/>
        </p:nvSpPr>
        <p:spPr>
          <a:xfrm>
            <a:off x="584200" y="5575300"/>
            <a:ext cx="2565400" cy="200055"/>
          </a:xfrm>
          <a:prstGeom prst="rect">
            <a:avLst/>
          </a:prstGeom>
          <a:noFill/>
        </p:spPr>
        <p:txBody>
          <a:bodyPr vert="horz" wrap="square" lIns="0" tIns="0" rIns="0" bIns="0" rtlCol="0">
            <a:spAutoFit/>
          </a:bodyPr>
          <a:lstStyle/>
          <a:p>
            <a:pPr algn="ctr"/>
            <a:r>
              <a:rPr lang="es-ES" sz="1300">
                <a:solidFill>
                  <a:srgbClr val="52677A"/>
                </a:solidFill>
                <a:latin typeface="Aptos" panose="020B0004020202020204" pitchFamily="34" charset="0"/>
              </a:rPr>
              <a:t>Despliegue y servicios</a:t>
            </a:r>
          </a:p>
        </p:txBody>
      </p:sp>
      <p:sp>
        <p:nvSpPr>
          <p:cNvPr id="42" name="Rectángulo: esquinas redondeadas 41">
            <a:extLst>
              <a:ext uri="{FF2B5EF4-FFF2-40B4-BE49-F238E27FC236}">
                <a16:creationId xmlns:a16="http://schemas.microsoft.com/office/drawing/2014/main" id="{6A132999-008F-955A-5BBD-BA80DEDF4D37}"/>
              </a:ext>
            </a:extLst>
          </p:cNvPr>
          <p:cNvSpPr/>
          <p:nvPr/>
        </p:nvSpPr>
        <p:spPr>
          <a:xfrm>
            <a:off x="3352800" y="4279900"/>
            <a:ext cx="2667000" cy="1651000"/>
          </a:xfrm>
          <a:prstGeom prst="roundRect">
            <a:avLst/>
          </a:prstGeom>
          <a:solidFill>
            <a:srgbClr val="FFFFFF"/>
          </a:solidFill>
          <a:ln>
            <a:solidFill>
              <a:srgbClr val="DAE4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44" name="Gráfico 43">
            <a:extLst>
              <a:ext uri="{FF2B5EF4-FFF2-40B4-BE49-F238E27FC236}">
                <a16:creationId xmlns:a16="http://schemas.microsoft.com/office/drawing/2014/main" id="{14B19897-FDF0-5A08-002C-498EF316F255}"/>
              </a:ext>
            </a:extLst>
          </p:cNvPr>
          <p:cNvPicPr>
            <a:picLocks/>
          </p:cNvPicPr>
          <p:nvPr/>
        </p:nvPicPr>
        <p:blipFill>
          <a:blip r:embed="rId17">
            <a:extLst>
              <a:ext uri="{96DAC541-7B7A-43D3-8B79-37D633B846F1}">
                <asvg:svgBlip xmlns:asvg="http://schemas.microsoft.com/office/drawing/2016/SVG/main" r:embed="rId18"/>
              </a:ext>
            </a:extLst>
          </a:blip>
          <a:stretch>
            <a:fillRect/>
          </a:stretch>
        </p:blipFill>
        <p:spPr>
          <a:xfrm>
            <a:off x="4356100" y="4432300"/>
            <a:ext cx="660400" cy="660400"/>
          </a:xfrm>
          <a:prstGeom prst="rect">
            <a:avLst/>
          </a:prstGeom>
        </p:spPr>
      </p:pic>
      <p:sp>
        <p:nvSpPr>
          <p:cNvPr id="45" name="CuadroTexto 44">
            <a:extLst>
              <a:ext uri="{FF2B5EF4-FFF2-40B4-BE49-F238E27FC236}">
                <a16:creationId xmlns:a16="http://schemas.microsoft.com/office/drawing/2014/main" id="{5DA8B345-9ED6-A8DC-8B1C-A23F4F6AA712}"/>
              </a:ext>
            </a:extLst>
          </p:cNvPr>
          <p:cNvSpPr txBox="1"/>
          <p:nvPr/>
        </p:nvSpPr>
        <p:spPr>
          <a:xfrm>
            <a:off x="3403600" y="5232400"/>
            <a:ext cx="2565400" cy="292388"/>
          </a:xfrm>
          <a:prstGeom prst="rect">
            <a:avLst/>
          </a:prstGeom>
          <a:noFill/>
        </p:spPr>
        <p:txBody>
          <a:bodyPr vert="horz" wrap="square" lIns="0" tIns="0" rIns="0" bIns="0" rtlCol="0">
            <a:spAutoFit/>
          </a:bodyPr>
          <a:lstStyle/>
          <a:p>
            <a:pPr algn="ctr"/>
            <a:r>
              <a:rPr lang="es-ES" sz="1900" b="1">
                <a:solidFill>
                  <a:srgbClr val="102D4E"/>
                </a:solidFill>
                <a:latin typeface="Aptos" panose="020B0004020202020204" pitchFamily="34" charset="0"/>
              </a:rPr>
              <a:t>Redis</a:t>
            </a:r>
          </a:p>
        </p:txBody>
      </p:sp>
      <p:sp>
        <p:nvSpPr>
          <p:cNvPr id="46" name="CuadroTexto 45">
            <a:extLst>
              <a:ext uri="{FF2B5EF4-FFF2-40B4-BE49-F238E27FC236}">
                <a16:creationId xmlns:a16="http://schemas.microsoft.com/office/drawing/2014/main" id="{5C75901B-04AB-3752-403C-0A879EAD81BA}"/>
              </a:ext>
            </a:extLst>
          </p:cNvPr>
          <p:cNvSpPr txBox="1"/>
          <p:nvPr/>
        </p:nvSpPr>
        <p:spPr>
          <a:xfrm>
            <a:off x="3403600" y="5575300"/>
            <a:ext cx="2565400" cy="200055"/>
          </a:xfrm>
          <a:prstGeom prst="rect">
            <a:avLst/>
          </a:prstGeom>
          <a:noFill/>
        </p:spPr>
        <p:txBody>
          <a:bodyPr vert="horz" wrap="square" lIns="0" tIns="0" rIns="0" bIns="0" rtlCol="0">
            <a:spAutoFit/>
          </a:bodyPr>
          <a:lstStyle/>
          <a:p>
            <a:pPr algn="ctr"/>
            <a:r>
              <a:rPr lang="es-ES" sz="1300">
                <a:solidFill>
                  <a:srgbClr val="52677A"/>
                </a:solidFill>
                <a:latin typeface="Aptos" panose="020B0004020202020204" pitchFamily="34" charset="0"/>
              </a:rPr>
              <a:t>Caché temporal</a:t>
            </a:r>
          </a:p>
        </p:txBody>
      </p:sp>
      <p:sp>
        <p:nvSpPr>
          <p:cNvPr id="47" name="Rectángulo: esquinas redondeadas 46">
            <a:extLst>
              <a:ext uri="{FF2B5EF4-FFF2-40B4-BE49-F238E27FC236}">
                <a16:creationId xmlns:a16="http://schemas.microsoft.com/office/drawing/2014/main" id="{E5D950DE-57B0-62A9-97BF-8C34C36B1129}"/>
              </a:ext>
            </a:extLst>
          </p:cNvPr>
          <p:cNvSpPr/>
          <p:nvPr/>
        </p:nvSpPr>
        <p:spPr>
          <a:xfrm>
            <a:off x="6172200" y="4279900"/>
            <a:ext cx="2667000" cy="1651000"/>
          </a:xfrm>
          <a:prstGeom prst="roundRect">
            <a:avLst/>
          </a:prstGeom>
          <a:solidFill>
            <a:srgbClr val="FFFFFF"/>
          </a:solidFill>
          <a:ln>
            <a:solidFill>
              <a:srgbClr val="DAE4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49" name="Gráfico 48">
            <a:extLst>
              <a:ext uri="{FF2B5EF4-FFF2-40B4-BE49-F238E27FC236}">
                <a16:creationId xmlns:a16="http://schemas.microsoft.com/office/drawing/2014/main" id="{CAF5F7C7-8D55-4F46-0DD6-3D338C70825C}"/>
              </a:ext>
            </a:extLst>
          </p:cNvPr>
          <p:cNvPicPr>
            <a:picLocks/>
          </p:cNvPicPr>
          <p:nvPr/>
        </p:nvPicPr>
        <p:blipFill>
          <a:blip r:embed="rId19">
            <a:extLst>
              <a:ext uri="{96DAC541-7B7A-43D3-8B79-37D633B846F1}">
                <asvg:svgBlip xmlns:asvg="http://schemas.microsoft.com/office/drawing/2016/SVG/main" r:embed="rId20"/>
              </a:ext>
            </a:extLst>
          </a:blip>
          <a:stretch>
            <a:fillRect/>
          </a:stretch>
        </p:blipFill>
        <p:spPr>
          <a:xfrm>
            <a:off x="7175500" y="4432300"/>
            <a:ext cx="660400" cy="660400"/>
          </a:xfrm>
          <a:prstGeom prst="rect">
            <a:avLst/>
          </a:prstGeom>
        </p:spPr>
      </p:pic>
      <p:sp>
        <p:nvSpPr>
          <p:cNvPr id="50" name="CuadroTexto 49">
            <a:extLst>
              <a:ext uri="{FF2B5EF4-FFF2-40B4-BE49-F238E27FC236}">
                <a16:creationId xmlns:a16="http://schemas.microsoft.com/office/drawing/2014/main" id="{9A62FF87-54BC-5A57-3CA7-2EC17851AF59}"/>
              </a:ext>
            </a:extLst>
          </p:cNvPr>
          <p:cNvSpPr txBox="1"/>
          <p:nvPr/>
        </p:nvSpPr>
        <p:spPr>
          <a:xfrm>
            <a:off x="6223000" y="5232400"/>
            <a:ext cx="2565400" cy="292388"/>
          </a:xfrm>
          <a:prstGeom prst="rect">
            <a:avLst/>
          </a:prstGeom>
          <a:noFill/>
        </p:spPr>
        <p:txBody>
          <a:bodyPr vert="horz" wrap="square" lIns="0" tIns="0" rIns="0" bIns="0" rtlCol="0">
            <a:spAutoFit/>
          </a:bodyPr>
          <a:lstStyle/>
          <a:p>
            <a:pPr algn="ctr"/>
            <a:r>
              <a:rPr lang="es-ES" sz="1900" b="1">
                <a:solidFill>
                  <a:srgbClr val="102D4E"/>
                </a:solidFill>
                <a:latin typeface="Aptos" panose="020B0004020202020204" pitchFamily="34" charset="0"/>
              </a:rPr>
              <a:t>Python</a:t>
            </a:r>
          </a:p>
        </p:txBody>
      </p:sp>
      <p:sp>
        <p:nvSpPr>
          <p:cNvPr id="51" name="CuadroTexto 50">
            <a:extLst>
              <a:ext uri="{FF2B5EF4-FFF2-40B4-BE49-F238E27FC236}">
                <a16:creationId xmlns:a16="http://schemas.microsoft.com/office/drawing/2014/main" id="{398AD23A-45B8-20FF-4D39-1D30372E958B}"/>
              </a:ext>
            </a:extLst>
          </p:cNvPr>
          <p:cNvSpPr txBox="1"/>
          <p:nvPr/>
        </p:nvSpPr>
        <p:spPr>
          <a:xfrm>
            <a:off x="6223000" y="5575300"/>
            <a:ext cx="2565400" cy="200055"/>
          </a:xfrm>
          <a:prstGeom prst="rect">
            <a:avLst/>
          </a:prstGeom>
          <a:noFill/>
        </p:spPr>
        <p:txBody>
          <a:bodyPr vert="horz" wrap="square" lIns="0" tIns="0" rIns="0" bIns="0" rtlCol="0">
            <a:spAutoFit/>
          </a:bodyPr>
          <a:lstStyle/>
          <a:p>
            <a:pPr algn="ctr"/>
            <a:r>
              <a:rPr lang="es-ES" sz="1300">
                <a:solidFill>
                  <a:srgbClr val="52677A"/>
                </a:solidFill>
                <a:latin typeface="Aptos" panose="020B0004020202020204" pitchFamily="34" charset="0"/>
              </a:rPr>
              <a:t>Recomendación</a:t>
            </a:r>
          </a:p>
        </p:txBody>
      </p:sp>
      <p:sp>
        <p:nvSpPr>
          <p:cNvPr id="52" name="Rectángulo: esquinas redondeadas 51">
            <a:extLst>
              <a:ext uri="{FF2B5EF4-FFF2-40B4-BE49-F238E27FC236}">
                <a16:creationId xmlns:a16="http://schemas.microsoft.com/office/drawing/2014/main" id="{9B37CE02-55A3-E3A4-9699-62E34E6D1108}"/>
              </a:ext>
            </a:extLst>
          </p:cNvPr>
          <p:cNvSpPr/>
          <p:nvPr/>
        </p:nvSpPr>
        <p:spPr>
          <a:xfrm>
            <a:off x="8991600" y="4279900"/>
            <a:ext cx="2667000" cy="1651000"/>
          </a:xfrm>
          <a:prstGeom prst="roundRect">
            <a:avLst/>
          </a:prstGeom>
          <a:solidFill>
            <a:srgbClr val="FFFFFF"/>
          </a:solidFill>
          <a:ln>
            <a:solidFill>
              <a:srgbClr val="DAE4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54" name="Gráfico 53">
            <a:extLst>
              <a:ext uri="{FF2B5EF4-FFF2-40B4-BE49-F238E27FC236}">
                <a16:creationId xmlns:a16="http://schemas.microsoft.com/office/drawing/2014/main" id="{44C066C4-F15C-A6FE-13AF-63E657C85129}"/>
              </a:ext>
            </a:extLst>
          </p:cNvPr>
          <p:cNvPicPr>
            <a:picLocks/>
          </p:cNvPicPr>
          <p:nvPr/>
        </p:nvPicPr>
        <p:blipFill>
          <a:blip r:embed="rId21">
            <a:extLst>
              <a:ext uri="{96DAC541-7B7A-43D3-8B79-37D633B846F1}">
                <asvg:svgBlip xmlns:asvg="http://schemas.microsoft.com/office/drawing/2016/SVG/main" r:embed="rId22"/>
              </a:ext>
            </a:extLst>
          </a:blip>
          <a:stretch>
            <a:fillRect/>
          </a:stretch>
        </p:blipFill>
        <p:spPr>
          <a:xfrm>
            <a:off x="9994900" y="4432300"/>
            <a:ext cx="660400" cy="660400"/>
          </a:xfrm>
          <a:prstGeom prst="rect">
            <a:avLst/>
          </a:prstGeom>
        </p:spPr>
      </p:pic>
      <p:sp>
        <p:nvSpPr>
          <p:cNvPr id="55" name="CuadroTexto 54">
            <a:extLst>
              <a:ext uri="{FF2B5EF4-FFF2-40B4-BE49-F238E27FC236}">
                <a16:creationId xmlns:a16="http://schemas.microsoft.com/office/drawing/2014/main" id="{F2E396CE-795E-E65D-5FDC-902764792DC7}"/>
              </a:ext>
            </a:extLst>
          </p:cNvPr>
          <p:cNvSpPr txBox="1"/>
          <p:nvPr/>
        </p:nvSpPr>
        <p:spPr>
          <a:xfrm>
            <a:off x="9042400" y="5232400"/>
            <a:ext cx="2565400" cy="292388"/>
          </a:xfrm>
          <a:prstGeom prst="rect">
            <a:avLst/>
          </a:prstGeom>
          <a:noFill/>
        </p:spPr>
        <p:txBody>
          <a:bodyPr vert="horz" wrap="square" lIns="0" tIns="0" rIns="0" bIns="0" rtlCol="0">
            <a:spAutoFit/>
          </a:bodyPr>
          <a:lstStyle/>
          <a:p>
            <a:pPr algn="ctr"/>
            <a:r>
              <a:rPr lang="es-ES" sz="1900" b="1">
                <a:solidFill>
                  <a:srgbClr val="102D4E"/>
                </a:solidFill>
                <a:latin typeface="Aptos" panose="020B0004020202020204" pitchFamily="34" charset="0"/>
              </a:rPr>
              <a:t>FastAPI</a:t>
            </a:r>
          </a:p>
        </p:txBody>
      </p:sp>
      <p:sp>
        <p:nvSpPr>
          <p:cNvPr id="56" name="CuadroTexto 55">
            <a:extLst>
              <a:ext uri="{FF2B5EF4-FFF2-40B4-BE49-F238E27FC236}">
                <a16:creationId xmlns:a16="http://schemas.microsoft.com/office/drawing/2014/main" id="{DEE7CC83-1B84-68AE-231B-3586F7D8E479}"/>
              </a:ext>
            </a:extLst>
          </p:cNvPr>
          <p:cNvSpPr txBox="1"/>
          <p:nvPr/>
        </p:nvSpPr>
        <p:spPr>
          <a:xfrm>
            <a:off x="9042400" y="5575300"/>
            <a:ext cx="2565400" cy="200055"/>
          </a:xfrm>
          <a:prstGeom prst="rect">
            <a:avLst/>
          </a:prstGeom>
          <a:noFill/>
        </p:spPr>
        <p:txBody>
          <a:bodyPr vert="horz" wrap="square" lIns="0" tIns="0" rIns="0" bIns="0" rtlCol="0">
            <a:spAutoFit/>
          </a:bodyPr>
          <a:lstStyle/>
          <a:p>
            <a:pPr algn="ctr"/>
            <a:r>
              <a:rPr lang="es-ES" sz="1300">
                <a:solidFill>
                  <a:srgbClr val="52677A"/>
                </a:solidFill>
                <a:latin typeface="Aptos" panose="020B0004020202020204" pitchFamily="34" charset="0"/>
              </a:rPr>
              <a:t>API de recomendación</a:t>
            </a:r>
          </a:p>
        </p:txBody>
      </p:sp>
      <p:sp>
        <p:nvSpPr>
          <p:cNvPr id="57" name="CuadroTexto 56">
            <a:extLst>
              <a:ext uri="{FF2B5EF4-FFF2-40B4-BE49-F238E27FC236}">
                <a16:creationId xmlns:a16="http://schemas.microsoft.com/office/drawing/2014/main" id="{B22B9D69-085A-84A2-D672-25565764E676}"/>
              </a:ext>
            </a:extLst>
          </p:cNvPr>
          <p:cNvSpPr txBox="1"/>
          <p:nvPr/>
        </p:nvSpPr>
        <p:spPr>
          <a:xfrm>
            <a:off x="533400" y="6096000"/>
            <a:ext cx="11125200" cy="246221"/>
          </a:xfrm>
          <a:prstGeom prst="rect">
            <a:avLst/>
          </a:prstGeom>
          <a:noFill/>
        </p:spPr>
        <p:txBody>
          <a:bodyPr vert="horz" wrap="square" lIns="0" tIns="0" rIns="0" bIns="0" rtlCol="0">
            <a:spAutoFit/>
          </a:bodyPr>
          <a:lstStyle/>
          <a:p>
            <a:r>
              <a:rPr lang="es-ES" sz="1600">
                <a:solidFill>
                  <a:srgbClr val="52677A"/>
                </a:solidFill>
                <a:latin typeface="Aptos" panose="020B0004020202020204" pitchFamily="34" charset="0"/>
              </a:rPr>
              <a:t>Implementación pendiente. Servicios AWS previstos: EC2, RDS, S3, CloudWatch y SQS</a:t>
            </a:r>
          </a:p>
        </p:txBody>
      </p:sp>
    </p:spTree>
    <p:extLst>
      <p:ext uri="{BB962C8B-B14F-4D97-AF65-F5344CB8AC3E}">
        <p14:creationId xmlns:p14="http://schemas.microsoft.com/office/powerpoint/2010/main" val="209321130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04165FDF-6C42-6091-7D26-ECECDB328DCF}"/>
              </a:ext>
            </a:extLst>
          </p:cNvPr>
          <p:cNvSpPr txBox="1"/>
          <p:nvPr/>
        </p:nvSpPr>
        <p:spPr>
          <a:xfrm>
            <a:off x="533400" y="355600"/>
            <a:ext cx="11049000" cy="492443"/>
          </a:xfrm>
          <a:prstGeom prst="rect">
            <a:avLst/>
          </a:prstGeom>
          <a:noFill/>
        </p:spPr>
        <p:txBody>
          <a:bodyPr vert="horz" wrap="square" lIns="0" tIns="0" rIns="0" bIns="0" rtlCol="0">
            <a:spAutoFit/>
          </a:bodyPr>
          <a:lstStyle/>
          <a:p>
            <a:r>
              <a:rPr lang="es-ES" sz="3200" b="1">
                <a:solidFill>
                  <a:srgbClr val="102D4E"/>
                </a:solidFill>
                <a:latin typeface="Aptos" panose="020B0004020202020204" pitchFamily="34" charset="0"/>
              </a:rPr>
              <a:t>Estilos y decisiones arquitectónicas</a:t>
            </a:r>
          </a:p>
        </p:txBody>
      </p:sp>
      <p:sp>
        <p:nvSpPr>
          <p:cNvPr id="3" name="CuadroTexto 2">
            <a:extLst>
              <a:ext uri="{FF2B5EF4-FFF2-40B4-BE49-F238E27FC236}">
                <a16:creationId xmlns:a16="http://schemas.microsoft.com/office/drawing/2014/main" id="{057CDF4E-DA37-280A-E265-0D950EEBC7B7}"/>
              </a:ext>
            </a:extLst>
          </p:cNvPr>
          <p:cNvSpPr txBox="1"/>
          <p:nvPr/>
        </p:nvSpPr>
        <p:spPr>
          <a:xfrm>
            <a:off x="533400" y="6477000"/>
            <a:ext cx="6350000" cy="153888"/>
          </a:xfrm>
          <a:prstGeom prst="rect">
            <a:avLst/>
          </a:prstGeom>
          <a:noFill/>
        </p:spPr>
        <p:txBody>
          <a:bodyPr vert="horz" wrap="square" lIns="0" tIns="0" rIns="0" bIns="0" rtlCol="0">
            <a:spAutoFit/>
          </a:bodyPr>
          <a:lstStyle/>
          <a:p>
            <a:r>
              <a:rPr lang="es-ES" sz="1000">
                <a:solidFill>
                  <a:srgbClr val="52677A"/>
                </a:solidFill>
                <a:latin typeface="Aptos" panose="020B0004020202020204" pitchFamily="34" charset="0"/>
              </a:rPr>
              <a:t>MAYORISTAPRO  /  SPRINT 01</a:t>
            </a:r>
          </a:p>
        </p:txBody>
      </p:sp>
      <p:sp>
        <p:nvSpPr>
          <p:cNvPr id="4" name="CuadroTexto 3">
            <a:extLst>
              <a:ext uri="{FF2B5EF4-FFF2-40B4-BE49-F238E27FC236}">
                <a16:creationId xmlns:a16="http://schemas.microsoft.com/office/drawing/2014/main" id="{941E19B3-278A-9C28-D30B-F95D55EBC93B}"/>
              </a:ext>
            </a:extLst>
          </p:cNvPr>
          <p:cNvSpPr txBox="1"/>
          <p:nvPr/>
        </p:nvSpPr>
        <p:spPr>
          <a:xfrm>
            <a:off x="11176000" y="6477000"/>
            <a:ext cx="444500" cy="169277"/>
          </a:xfrm>
          <a:prstGeom prst="rect">
            <a:avLst/>
          </a:prstGeom>
          <a:noFill/>
        </p:spPr>
        <p:txBody>
          <a:bodyPr vert="horz" wrap="square" lIns="0" tIns="0" rIns="0" bIns="0" rtlCol="0">
            <a:spAutoFit/>
          </a:bodyPr>
          <a:lstStyle/>
          <a:p>
            <a:r>
              <a:rPr lang="es-ES" sz="1100">
                <a:solidFill>
                  <a:srgbClr val="52677A"/>
                </a:solidFill>
                <a:latin typeface="Aptos" panose="020B0004020202020204" pitchFamily="34" charset="0"/>
              </a:rPr>
              <a:t>14</a:t>
            </a:r>
          </a:p>
        </p:txBody>
      </p:sp>
      <p:graphicFrame>
        <p:nvGraphicFramePr>
          <p:cNvPr id="5" name="Tabla 4">
            <a:extLst>
              <a:ext uri="{FF2B5EF4-FFF2-40B4-BE49-F238E27FC236}">
                <a16:creationId xmlns:a16="http://schemas.microsoft.com/office/drawing/2014/main" id="{8354EF48-F2D3-028C-92A1-6F2189AC305D}"/>
              </a:ext>
            </a:extLst>
          </p:cNvPr>
          <p:cNvGraphicFramePr>
            <a:graphicFrameLocks noGrp="1"/>
          </p:cNvGraphicFramePr>
          <p:nvPr>
            <p:extLst>
              <p:ext uri="{D42A27DB-BD31-4B8C-83A1-F6EECF244321}">
                <p14:modId xmlns:p14="http://schemas.microsoft.com/office/powerpoint/2010/main" val="2967671593"/>
              </p:ext>
            </p:extLst>
          </p:nvPr>
        </p:nvGraphicFramePr>
        <p:xfrm>
          <a:off x="533400" y="1460500"/>
          <a:ext cx="11125200" cy="4254500"/>
        </p:xfrm>
        <a:graphic>
          <a:graphicData uri="http://schemas.openxmlformats.org/drawingml/2006/table">
            <a:tbl>
              <a:tblPr firstRow="1" bandRow="1">
                <a:tableStyleId>{5C22544A-7EE6-4342-B048-85BDC9FD1C3A}</a:tableStyleId>
              </a:tblPr>
              <a:tblGrid>
                <a:gridCol w="2819400">
                  <a:extLst>
                    <a:ext uri="{9D8B030D-6E8A-4147-A177-3AD203B41FA5}">
                      <a16:colId xmlns:a16="http://schemas.microsoft.com/office/drawing/2014/main" val="2440289273"/>
                    </a:ext>
                  </a:extLst>
                </a:gridCol>
                <a:gridCol w="4152900">
                  <a:extLst>
                    <a:ext uri="{9D8B030D-6E8A-4147-A177-3AD203B41FA5}">
                      <a16:colId xmlns:a16="http://schemas.microsoft.com/office/drawing/2014/main" val="2870492756"/>
                    </a:ext>
                  </a:extLst>
                </a:gridCol>
                <a:gridCol w="4152900">
                  <a:extLst>
                    <a:ext uri="{9D8B030D-6E8A-4147-A177-3AD203B41FA5}">
                      <a16:colId xmlns:a16="http://schemas.microsoft.com/office/drawing/2014/main" val="614374025"/>
                    </a:ext>
                  </a:extLst>
                </a:gridCol>
              </a:tblGrid>
              <a:tr h="850900">
                <a:tc>
                  <a:txBody>
                    <a:bodyPr/>
                    <a:lstStyle/>
                    <a:p>
                      <a:r>
                        <a:rPr lang="es-ES" sz="2000" b="1">
                          <a:solidFill>
                            <a:srgbClr val="FFFFFF"/>
                          </a:solidFill>
                          <a:latin typeface="Aptos" panose="020B0004020202020204" pitchFamily="34" charset="0"/>
                        </a:rPr>
                        <a:t>Decisión</a:t>
                      </a:r>
                    </a:p>
                  </a:txBody>
                  <a:tcPr marL="152400" marR="127000" marT="127000" marB="101600">
                    <a:solidFill>
                      <a:srgbClr val="102D4E"/>
                    </a:solidFill>
                  </a:tcPr>
                </a:tc>
                <a:tc>
                  <a:txBody>
                    <a:bodyPr/>
                    <a:lstStyle/>
                    <a:p>
                      <a:r>
                        <a:rPr lang="es-ES" sz="2000" b="1">
                          <a:solidFill>
                            <a:srgbClr val="FFFFFF"/>
                          </a:solidFill>
                          <a:latin typeface="Aptos" panose="020B0004020202020204" pitchFamily="34" charset="0"/>
                        </a:rPr>
                        <a:t>Aplicación</a:t>
                      </a:r>
                    </a:p>
                  </a:txBody>
                  <a:tcPr marL="152400" marR="127000" marT="127000" marB="101600">
                    <a:solidFill>
                      <a:srgbClr val="102D4E"/>
                    </a:solidFill>
                  </a:tcPr>
                </a:tc>
                <a:tc>
                  <a:txBody>
                    <a:bodyPr/>
                    <a:lstStyle/>
                    <a:p>
                      <a:r>
                        <a:rPr lang="es-ES" sz="2000" b="1">
                          <a:solidFill>
                            <a:srgbClr val="FFFFFF"/>
                          </a:solidFill>
                          <a:latin typeface="Aptos" panose="020B0004020202020204" pitchFamily="34" charset="0"/>
                        </a:rPr>
                        <a:t>Justificación</a:t>
                      </a:r>
                    </a:p>
                  </a:txBody>
                  <a:tcPr marL="152400" marR="127000" marT="127000" marB="101600">
                    <a:solidFill>
                      <a:srgbClr val="102D4E"/>
                    </a:solidFill>
                  </a:tcPr>
                </a:tc>
                <a:extLst>
                  <a:ext uri="{0D108BD9-81ED-4DB2-BD59-A6C34878D82A}">
                    <a16:rowId xmlns:a16="http://schemas.microsoft.com/office/drawing/2014/main" val="3940346676"/>
                  </a:ext>
                </a:extLst>
              </a:tr>
              <a:tr h="850900">
                <a:tc>
                  <a:txBody>
                    <a:bodyPr/>
                    <a:lstStyle/>
                    <a:p>
                      <a:r>
                        <a:rPr lang="es-ES" sz="2000" b="0">
                          <a:solidFill>
                            <a:srgbClr val="203447"/>
                          </a:solidFill>
                          <a:latin typeface="Aptos" panose="020B0004020202020204" pitchFamily="34" charset="0"/>
                        </a:rPr>
                        <a:t>Cliente-servidor</a:t>
                      </a:r>
                    </a:p>
                  </a:txBody>
                  <a:tcPr marL="152400" marR="127000" marT="127000" marB="101600">
                    <a:solidFill>
                      <a:srgbClr val="EDF4FA"/>
                    </a:solidFill>
                  </a:tcPr>
                </a:tc>
                <a:tc>
                  <a:txBody>
                    <a:bodyPr/>
                    <a:lstStyle/>
                    <a:p>
                      <a:r>
                        <a:rPr lang="es-ES" sz="2000" b="0">
                          <a:solidFill>
                            <a:srgbClr val="203447"/>
                          </a:solidFill>
                          <a:latin typeface="Aptos" panose="020B0004020202020204" pitchFamily="34" charset="0"/>
                        </a:rPr>
                        <a:t>Angular consume la API REST.</a:t>
                      </a:r>
                    </a:p>
                  </a:txBody>
                  <a:tcPr marL="152400" marR="127000" marT="127000" marB="101600">
                    <a:solidFill>
                      <a:srgbClr val="EDF4FA"/>
                    </a:solidFill>
                  </a:tcPr>
                </a:tc>
                <a:tc>
                  <a:txBody>
                    <a:bodyPr/>
                    <a:lstStyle/>
                    <a:p>
                      <a:r>
                        <a:rPr lang="es-ES" sz="2000" b="0">
                          <a:solidFill>
                            <a:srgbClr val="203447"/>
                          </a:solidFill>
                          <a:latin typeface="Aptos" panose="020B0004020202020204" pitchFamily="34" charset="0"/>
                        </a:rPr>
                        <a:t>Separar la interfaz del backend.</a:t>
                      </a:r>
                    </a:p>
                  </a:txBody>
                  <a:tcPr marL="152400" marR="127000" marT="127000" marB="101600">
                    <a:solidFill>
                      <a:srgbClr val="EDF4FA"/>
                    </a:solidFill>
                  </a:tcPr>
                </a:tc>
                <a:extLst>
                  <a:ext uri="{0D108BD9-81ED-4DB2-BD59-A6C34878D82A}">
                    <a16:rowId xmlns:a16="http://schemas.microsoft.com/office/drawing/2014/main" val="3761100368"/>
                  </a:ext>
                </a:extLst>
              </a:tr>
              <a:tr h="850900">
                <a:tc>
                  <a:txBody>
                    <a:bodyPr/>
                    <a:lstStyle/>
                    <a:p>
                      <a:r>
                        <a:rPr lang="es-ES" sz="2000" b="0">
                          <a:solidFill>
                            <a:srgbClr val="203447"/>
                          </a:solidFill>
                          <a:latin typeface="Aptos" panose="020B0004020202020204" pitchFamily="34" charset="0"/>
                        </a:rPr>
                        <a:t>Monolito modular</a:t>
                      </a:r>
                    </a:p>
                  </a:txBody>
                  <a:tcPr marL="152400" marR="127000" marT="127000" marB="101600">
                    <a:solidFill>
                      <a:srgbClr val="FFFFFF"/>
                    </a:solidFill>
                  </a:tcPr>
                </a:tc>
                <a:tc>
                  <a:txBody>
                    <a:bodyPr/>
                    <a:lstStyle/>
                    <a:p>
                      <a:r>
                        <a:rPr lang="es-ES" sz="2000" b="0">
                          <a:solidFill>
                            <a:srgbClr val="203447"/>
                          </a:solidFill>
                          <a:latin typeface="Aptos" panose="020B0004020202020204" pitchFamily="34" charset="0"/>
                        </a:rPr>
                        <a:t>Módulos comerciales en NestJS.</a:t>
                      </a:r>
                    </a:p>
                  </a:txBody>
                  <a:tcPr marL="152400" marR="127000" marT="127000" marB="101600">
                    <a:solidFill>
                      <a:srgbClr val="FFFFFF"/>
                    </a:solidFill>
                  </a:tcPr>
                </a:tc>
                <a:tc>
                  <a:txBody>
                    <a:bodyPr/>
                    <a:lstStyle/>
                    <a:p>
                      <a:r>
                        <a:rPr lang="es-ES" sz="2000" b="0">
                          <a:solidFill>
                            <a:srgbClr val="203447"/>
                          </a:solidFill>
                          <a:latin typeface="Aptos" panose="020B0004020202020204" pitchFamily="34" charset="0"/>
                        </a:rPr>
                        <a:t>Simplificar despliegue y coordinación.</a:t>
                      </a:r>
                    </a:p>
                  </a:txBody>
                  <a:tcPr marL="152400" marR="127000" marT="127000" marB="101600">
                    <a:solidFill>
                      <a:srgbClr val="FFFFFF"/>
                    </a:solidFill>
                  </a:tcPr>
                </a:tc>
                <a:extLst>
                  <a:ext uri="{0D108BD9-81ED-4DB2-BD59-A6C34878D82A}">
                    <a16:rowId xmlns:a16="http://schemas.microsoft.com/office/drawing/2014/main" val="1626880311"/>
                  </a:ext>
                </a:extLst>
              </a:tr>
              <a:tr h="850900">
                <a:tc>
                  <a:txBody>
                    <a:bodyPr/>
                    <a:lstStyle/>
                    <a:p>
                      <a:r>
                        <a:rPr lang="es-ES" sz="2000" b="0">
                          <a:solidFill>
                            <a:srgbClr val="203447"/>
                          </a:solidFill>
                          <a:latin typeface="Aptos" panose="020B0004020202020204" pitchFamily="34" charset="0"/>
                        </a:rPr>
                        <a:t>Clean Architecture</a:t>
                      </a:r>
                    </a:p>
                  </a:txBody>
                  <a:tcPr marL="152400" marR="127000" marT="127000" marB="101600">
                    <a:solidFill>
                      <a:srgbClr val="EDF4FA"/>
                    </a:solidFill>
                  </a:tcPr>
                </a:tc>
                <a:tc>
                  <a:txBody>
                    <a:bodyPr/>
                    <a:lstStyle/>
                    <a:p>
                      <a:r>
                        <a:rPr lang="es-ES" sz="2000" b="0">
                          <a:solidFill>
                            <a:srgbClr val="203447"/>
                          </a:solidFill>
                          <a:latin typeface="Aptos" panose="020B0004020202020204" pitchFamily="34" charset="0"/>
                        </a:rPr>
                        <a:t>Capas dentro de cada módulo.</a:t>
                      </a:r>
                    </a:p>
                  </a:txBody>
                  <a:tcPr marL="152400" marR="127000" marT="127000" marB="101600">
                    <a:solidFill>
                      <a:srgbClr val="EDF4FA"/>
                    </a:solidFill>
                  </a:tcPr>
                </a:tc>
                <a:tc>
                  <a:txBody>
                    <a:bodyPr/>
                    <a:lstStyle/>
                    <a:p>
                      <a:r>
                        <a:rPr lang="es-ES" sz="2000" b="0">
                          <a:solidFill>
                            <a:srgbClr val="203447"/>
                          </a:solidFill>
                          <a:latin typeface="Aptos" panose="020B0004020202020204" pitchFamily="34" charset="0"/>
                        </a:rPr>
                        <a:t>Aislar las reglas de negocio.</a:t>
                      </a:r>
                    </a:p>
                  </a:txBody>
                  <a:tcPr marL="152400" marR="127000" marT="127000" marB="101600">
                    <a:solidFill>
                      <a:srgbClr val="EDF4FA"/>
                    </a:solidFill>
                  </a:tcPr>
                </a:tc>
                <a:extLst>
                  <a:ext uri="{0D108BD9-81ED-4DB2-BD59-A6C34878D82A}">
                    <a16:rowId xmlns:a16="http://schemas.microsoft.com/office/drawing/2014/main" val="1055076489"/>
                  </a:ext>
                </a:extLst>
              </a:tr>
              <a:tr h="850900">
                <a:tc>
                  <a:txBody>
                    <a:bodyPr/>
                    <a:lstStyle/>
                    <a:p>
                      <a:r>
                        <a:rPr lang="es-ES" sz="2000" b="0">
                          <a:solidFill>
                            <a:srgbClr val="203447"/>
                          </a:solidFill>
                          <a:latin typeface="Aptos" panose="020B0004020202020204" pitchFamily="34" charset="0"/>
                        </a:rPr>
                        <a:t>Tareas asíncronas</a:t>
                      </a:r>
                    </a:p>
                  </a:txBody>
                  <a:tcPr marL="152400" marR="127000" marT="127000" marB="101600">
                    <a:solidFill>
                      <a:srgbClr val="FFFFFF"/>
                    </a:solidFill>
                  </a:tcPr>
                </a:tc>
                <a:tc>
                  <a:txBody>
                    <a:bodyPr/>
                    <a:lstStyle/>
                    <a:p>
                      <a:r>
                        <a:rPr lang="en-US" sz="2000" b="0">
                          <a:solidFill>
                            <a:srgbClr val="203447"/>
                          </a:solidFill>
                          <a:latin typeface="Aptos" panose="020B0004020202020204" pitchFamily="34" charset="0"/>
                        </a:rPr>
                        <a:t>Outbox, SQS y workers previstos.</a:t>
                      </a:r>
                      <a:endParaRPr lang="es-ES" sz="2000" b="0">
                        <a:solidFill>
                          <a:srgbClr val="203447"/>
                        </a:solidFill>
                        <a:latin typeface="Aptos" panose="020B0004020202020204" pitchFamily="34" charset="0"/>
                      </a:endParaRPr>
                    </a:p>
                  </a:txBody>
                  <a:tcPr marL="152400" marR="127000" marT="127000" marB="101600">
                    <a:solidFill>
                      <a:srgbClr val="FFFFFF"/>
                    </a:solidFill>
                  </a:tcPr>
                </a:tc>
                <a:tc>
                  <a:txBody>
                    <a:bodyPr/>
                    <a:lstStyle/>
                    <a:p>
                      <a:r>
                        <a:rPr lang="es-ES" sz="2000" b="0">
                          <a:solidFill>
                            <a:srgbClr val="203447"/>
                          </a:solidFill>
                          <a:latin typeface="Aptos" panose="020B0004020202020204" pitchFamily="34" charset="0"/>
                        </a:rPr>
                        <a:t>Ejecutar tareas con reintentos.</a:t>
                      </a:r>
                    </a:p>
                  </a:txBody>
                  <a:tcPr marL="152400" marR="127000" marT="127000" marB="101600">
                    <a:solidFill>
                      <a:srgbClr val="FFFFFF"/>
                    </a:solidFill>
                  </a:tcPr>
                </a:tc>
                <a:extLst>
                  <a:ext uri="{0D108BD9-81ED-4DB2-BD59-A6C34878D82A}">
                    <a16:rowId xmlns:a16="http://schemas.microsoft.com/office/drawing/2014/main" val="1583045954"/>
                  </a:ext>
                </a:extLst>
              </a:tr>
            </a:tbl>
          </a:graphicData>
        </a:graphic>
      </p:graphicFrame>
      <p:sp>
        <p:nvSpPr>
          <p:cNvPr id="6" name="CuadroTexto 5">
            <a:extLst>
              <a:ext uri="{FF2B5EF4-FFF2-40B4-BE49-F238E27FC236}">
                <a16:creationId xmlns:a16="http://schemas.microsoft.com/office/drawing/2014/main" id="{2FA5F05D-5A16-753F-07F7-7DB03799AB91}"/>
              </a:ext>
            </a:extLst>
          </p:cNvPr>
          <p:cNvSpPr txBox="1"/>
          <p:nvPr/>
        </p:nvSpPr>
        <p:spPr>
          <a:xfrm>
            <a:off x="533400" y="5918200"/>
            <a:ext cx="11125200" cy="307777"/>
          </a:xfrm>
          <a:prstGeom prst="rect">
            <a:avLst/>
          </a:prstGeom>
          <a:noFill/>
        </p:spPr>
        <p:txBody>
          <a:bodyPr vert="horz" wrap="square" lIns="0" tIns="0" rIns="0" bIns="0" rtlCol="0">
            <a:spAutoFit/>
          </a:bodyPr>
          <a:lstStyle/>
          <a:p>
            <a:r>
              <a:rPr lang="es-ES" sz="2000" b="1">
                <a:solidFill>
                  <a:srgbClr val="1269B0"/>
                </a:solidFill>
                <a:latin typeface="Aptos" panose="020B0004020202020204" pitchFamily="34" charset="0"/>
              </a:rPr>
              <a:t>Base del núcleo inicial: Angular, NestJS y PostgreSQL</a:t>
            </a:r>
          </a:p>
        </p:txBody>
      </p:sp>
    </p:spTree>
    <p:extLst>
      <p:ext uri="{BB962C8B-B14F-4D97-AF65-F5344CB8AC3E}">
        <p14:creationId xmlns:p14="http://schemas.microsoft.com/office/powerpoint/2010/main" val="217141206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802FA43F-7D6B-48B3-7405-863C45A4205C}"/>
              </a:ext>
            </a:extLst>
          </p:cNvPr>
          <p:cNvSpPr txBox="1"/>
          <p:nvPr/>
        </p:nvSpPr>
        <p:spPr>
          <a:xfrm>
            <a:off x="533400" y="355600"/>
            <a:ext cx="11049000" cy="492443"/>
          </a:xfrm>
          <a:prstGeom prst="rect">
            <a:avLst/>
          </a:prstGeom>
          <a:noFill/>
        </p:spPr>
        <p:txBody>
          <a:bodyPr vert="horz" wrap="square" lIns="0" tIns="0" rIns="0" bIns="0" rtlCol="0">
            <a:spAutoFit/>
          </a:bodyPr>
          <a:lstStyle/>
          <a:p>
            <a:r>
              <a:rPr lang="es-ES" sz="3200" b="1">
                <a:solidFill>
                  <a:srgbClr val="102D4E"/>
                </a:solidFill>
                <a:latin typeface="Aptos" panose="020B0004020202020204" pitchFamily="34" charset="0"/>
              </a:rPr>
              <a:t>Organización interna del módulo</a:t>
            </a:r>
          </a:p>
        </p:txBody>
      </p:sp>
      <p:sp>
        <p:nvSpPr>
          <p:cNvPr id="3" name="CuadroTexto 2">
            <a:extLst>
              <a:ext uri="{FF2B5EF4-FFF2-40B4-BE49-F238E27FC236}">
                <a16:creationId xmlns:a16="http://schemas.microsoft.com/office/drawing/2014/main" id="{E062EBC6-388D-BF54-BE9F-0BFD03FECDD1}"/>
              </a:ext>
            </a:extLst>
          </p:cNvPr>
          <p:cNvSpPr txBox="1"/>
          <p:nvPr/>
        </p:nvSpPr>
        <p:spPr>
          <a:xfrm>
            <a:off x="533400" y="6477000"/>
            <a:ext cx="6350000" cy="153888"/>
          </a:xfrm>
          <a:prstGeom prst="rect">
            <a:avLst/>
          </a:prstGeom>
          <a:noFill/>
        </p:spPr>
        <p:txBody>
          <a:bodyPr vert="horz" wrap="square" lIns="0" tIns="0" rIns="0" bIns="0" rtlCol="0">
            <a:spAutoFit/>
          </a:bodyPr>
          <a:lstStyle/>
          <a:p>
            <a:r>
              <a:rPr lang="es-ES" sz="1000">
                <a:solidFill>
                  <a:srgbClr val="52677A"/>
                </a:solidFill>
                <a:latin typeface="Aptos" panose="020B0004020202020204" pitchFamily="34" charset="0"/>
              </a:rPr>
              <a:t>MAYORISTAPRO  /  SPRINT 01</a:t>
            </a:r>
          </a:p>
        </p:txBody>
      </p:sp>
      <p:sp>
        <p:nvSpPr>
          <p:cNvPr id="4" name="CuadroTexto 3">
            <a:extLst>
              <a:ext uri="{FF2B5EF4-FFF2-40B4-BE49-F238E27FC236}">
                <a16:creationId xmlns:a16="http://schemas.microsoft.com/office/drawing/2014/main" id="{6B27DEF7-8B72-35EB-DA7E-FAD34122B856}"/>
              </a:ext>
            </a:extLst>
          </p:cNvPr>
          <p:cNvSpPr txBox="1"/>
          <p:nvPr/>
        </p:nvSpPr>
        <p:spPr>
          <a:xfrm>
            <a:off x="11176000" y="6477000"/>
            <a:ext cx="444500" cy="169277"/>
          </a:xfrm>
          <a:prstGeom prst="rect">
            <a:avLst/>
          </a:prstGeom>
          <a:noFill/>
        </p:spPr>
        <p:txBody>
          <a:bodyPr vert="horz" wrap="square" lIns="0" tIns="0" rIns="0" bIns="0" rtlCol="0">
            <a:spAutoFit/>
          </a:bodyPr>
          <a:lstStyle/>
          <a:p>
            <a:r>
              <a:rPr lang="es-ES" sz="1100">
                <a:solidFill>
                  <a:srgbClr val="52677A"/>
                </a:solidFill>
                <a:latin typeface="Aptos" panose="020B0004020202020204" pitchFamily="34" charset="0"/>
              </a:rPr>
              <a:t>15</a:t>
            </a:r>
          </a:p>
        </p:txBody>
      </p:sp>
      <p:sp>
        <p:nvSpPr>
          <p:cNvPr id="5" name="Rectángulo 4">
            <a:extLst>
              <a:ext uri="{FF2B5EF4-FFF2-40B4-BE49-F238E27FC236}">
                <a16:creationId xmlns:a16="http://schemas.microsoft.com/office/drawing/2014/main" id="{31964AAF-00E9-86BF-A60B-DFE854369791}"/>
              </a:ext>
            </a:extLst>
          </p:cNvPr>
          <p:cNvSpPr/>
          <p:nvPr/>
        </p:nvSpPr>
        <p:spPr>
          <a:xfrm>
            <a:off x="533400" y="1841500"/>
            <a:ext cx="3302000" cy="1498600"/>
          </a:xfrm>
          <a:prstGeom prst="rect">
            <a:avLst/>
          </a:prstGeom>
          <a:solidFill>
            <a:srgbClr val="1269B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6" name="CuadroTexto 5">
            <a:extLst>
              <a:ext uri="{FF2B5EF4-FFF2-40B4-BE49-F238E27FC236}">
                <a16:creationId xmlns:a16="http://schemas.microsoft.com/office/drawing/2014/main" id="{FE682A76-56CE-2958-F09A-F6C17E0A29BF}"/>
              </a:ext>
            </a:extLst>
          </p:cNvPr>
          <p:cNvSpPr txBox="1"/>
          <p:nvPr/>
        </p:nvSpPr>
        <p:spPr>
          <a:xfrm>
            <a:off x="685800" y="1993900"/>
            <a:ext cx="2997200" cy="307777"/>
          </a:xfrm>
          <a:prstGeom prst="rect">
            <a:avLst/>
          </a:prstGeom>
          <a:noFill/>
        </p:spPr>
        <p:txBody>
          <a:bodyPr vert="horz" wrap="square" lIns="0" tIns="0" rIns="0" bIns="0" rtlCol="0">
            <a:spAutoFit/>
          </a:bodyPr>
          <a:lstStyle/>
          <a:p>
            <a:r>
              <a:rPr lang="es-ES" sz="2000" b="1">
                <a:solidFill>
                  <a:srgbClr val="FFFFFF"/>
                </a:solidFill>
                <a:latin typeface="Aptos" panose="020B0004020202020204" pitchFamily="34" charset="0"/>
              </a:rPr>
              <a:t>Presentación</a:t>
            </a:r>
          </a:p>
        </p:txBody>
      </p:sp>
      <p:sp>
        <p:nvSpPr>
          <p:cNvPr id="7" name="CuadroTexto 6">
            <a:extLst>
              <a:ext uri="{FF2B5EF4-FFF2-40B4-BE49-F238E27FC236}">
                <a16:creationId xmlns:a16="http://schemas.microsoft.com/office/drawing/2014/main" id="{BFAA99E2-E0B5-3F16-ED69-714B76FF369F}"/>
              </a:ext>
            </a:extLst>
          </p:cNvPr>
          <p:cNvSpPr txBox="1"/>
          <p:nvPr/>
        </p:nvSpPr>
        <p:spPr>
          <a:xfrm>
            <a:off x="685800" y="2451100"/>
            <a:ext cx="2997200" cy="492443"/>
          </a:xfrm>
          <a:prstGeom prst="rect">
            <a:avLst/>
          </a:prstGeom>
          <a:noFill/>
        </p:spPr>
        <p:txBody>
          <a:bodyPr vert="horz" wrap="square" lIns="0" tIns="0" rIns="0" bIns="0" rtlCol="0">
            <a:spAutoFit/>
          </a:bodyPr>
          <a:lstStyle/>
          <a:p>
            <a:r>
              <a:rPr lang="es-ES" sz="1600">
                <a:solidFill>
                  <a:srgbClr val="FFFFFF"/>
                </a:solidFill>
                <a:latin typeface="Aptos" panose="020B0004020202020204" pitchFamily="34" charset="0"/>
              </a:rPr>
              <a:t>Controladores HTTP</a:t>
            </a:r>
          </a:p>
          <a:p>
            <a:r>
              <a:rPr lang="es-ES" sz="1600">
                <a:solidFill>
                  <a:srgbClr val="FFFFFF"/>
                </a:solidFill>
                <a:latin typeface="Aptos" panose="020B0004020202020204" pitchFamily="34" charset="0"/>
              </a:rPr>
              <a:t>Validación de entrada</a:t>
            </a:r>
          </a:p>
        </p:txBody>
      </p:sp>
      <p:sp>
        <p:nvSpPr>
          <p:cNvPr id="8" name="Rectángulo 7">
            <a:extLst>
              <a:ext uri="{FF2B5EF4-FFF2-40B4-BE49-F238E27FC236}">
                <a16:creationId xmlns:a16="http://schemas.microsoft.com/office/drawing/2014/main" id="{D7DF1D59-5D42-B5D6-3DAD-6A84BCF9C8D1}"/>
              </a:ext>
            </a:extLst>
          </p:cNvPr>
          <p:cNvSpPr/>
          <p:nvPr/>
        </p:nvSpPr>
        <p:spPr>
          <a:xfrm>
            <a:off x="4445000" y="1841500"/>
            <a:ext cx="3302000" cy="1498600"/>
          </a:xfrm>
          <a:prstGeom prst="rect">
            <a:avLst/>
          </a:prstGeom>
          <a:solidFill>
            <a:srgbClr val="0F776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9" name="CuadroTexto 8">
            <a:extLst>
              <a:ext uri="{FF2B5EF4-FFF2-40B4-BE49-F238E27FC236}">
                <a16:creationId xmlns:a16="http://schemas.microsoft.com/office/drawing/2014/main" id="{46095EBE-6D2E-4583-6ACF-47AA6D3C086A}"/>
              </a:ext>
            </a:extLst>
          </p:cNvPr>
          <p:cNvSpPr txBox="1"/>
          <p:nvPr/>
        </p:nvSpPr>
        <p:spPr>
          <a:xfrm>
            <a:off x="4597400" y="1993900"/>
            <a:ext cx="2997200" cy="307777"/>
          </a:xfrm>
          <a:prstGeom prst="rect">
            <a:avLst/>
          </a:prstGeom>
          <a:noFill/>
        </p:spPr>
        <p:txBody>
          <a:bodyPr vert="horz" wrap="square" lIns="0" tIns="0" rIns="0" bIns="0" rtlCol="0">
            <a:spAutoFit/>
          </a:bodyPr>
          <a:lstStyle/>
          <a:p>
            <a:r>
              <a:rPr lang="es-ES" sz="2000" b="1">
                <a:solidFill>
                  <a:srgbClr val="FFFFFF"/>
                </a:solidFill>
                <a:latin typeface="Aptos" panose="020B0004020202020204" pitchFamily="34" charset="0"/>
              </a:rPr>
              <a:t>Aplicación</a:t>
            </a:r>
          </a:p>
        </p:txBody>
      </p:sp>
      <p:sp>
        <p:nvSpPr>
          <p:cNvPr id="10" name="CuadroTexto 9">
            <a:extLst>
              <a:ext uri="{FF2B5EF4-FFF2-40B4-BE49-F238E27FC236}">
                <a16:creationId xmlns:a16="http://schemas.microsoft.com/office/drawing/2014/main" id="{38FFA39C-7C3C-A1C5-A33A-425F5FC7E54D}"/>
              </a:ext>
            </a:extLst>
          </p:cNvPr>
          <p:cNvSpPr txBox="1"/>
          <p:nvPr/>
        </p:nvSpPr>
        <p:spPr>
          <a:xfrm>
            <a:off x="4597400" y="2451100"/>
            <a:ext cx="2997200" cy="492443"/>
          </a:xfrm>
          <a:prstGeom prst="rect">
            <a:avLst/>
          </a:prstGeom>
          <a:noFill/>
        </p:spPr>
        <p:txBody>
          <a:bodyPr vert="horz" wrap="square" lIns="0" tIns="0" rIns="0" bIns="0" rtlCol="0">
            <a:spAutoFit/>
          </a:bodyPr>
          <a:lstStyle/>
          <a:p>
            <a:r>
              <a:rPr lang="es-ES" sz="1600">
                <a:solidFill>
                  <a:srgbClr val="FFFFFF"/>
                </a:solidFill>
                <a:latin typeface="Aptos" panose="020B0004020202020204" pitchFamily="34" charset="0"/>
              </a:rPr>
              <a:t>Casos de uso</a:t>
            </a:r>
          </a:p>
          <a:p>
            <a:r>
              <a:rPr lang="es-ES" sz="1600">
                <a:solidFill>
                  <a:srgbClr val="FFFFFF"/>
                </a:solidFill>
                <a:latin typeface="Aptos" panose="020B0004020202020204" pitchFamily="34" charset="0"/>
              </a:rPr>
              <a:t>Autorización y coordinación</a:t>
            </a:r>
          </a:p>
        </p:txBody>
      </p:sp>
      <p:sp>
        <p:nvSpPr>
          <p:cNvPr id="11" name="Rectángulo 10">
            <a:extLst>
              <a:ext uri="{FF2B5EF4-FFF2-40B4-BE49-F238E27FC236}">
                <a16:creationId xmlns:a16="http://schemas.microsoft.com/office/drawing/2014/main" id="{4BDB2E69-58B1-BD11-8862-05A927116600}"/>
              </a:ext>
            </a:extLst>
          </p:cNvPr>
          <p:cNvSpPr/>
          <p:nvPr/>
        </p:nvSpPr>
        <p:spPr>
          <a:xfrm>
            <a:off x="8356600" y="1841500"/>
            <a:ext cx="3302000" cy="1498600"/>
          </a:xfrm>
          <a:prstGeom prst="rect">
            <a:avLst/>
          </a:prstGeom>
          <a:solidFill>
            <a:srgbClr val="102D4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2" name="CuadroTexto 11">
            <a:extLst>
              <a:ext uri="{FF2B5EF4-FFF2-40B4-BE49-F238E27FC236}">
                <a16:creationId xmlns:a16="http://schemas.microsoft.com/office/drawing/2014/main" id="{F41ED3FB-BD23-59F0-C8DA-283C4AE53EF3}"/>
              </a:ext>
            </a:extLst>
          </p:cNvPr>
          <p:cNvSpPr txBox="1"/>
          <p:nvPr/>
        </p:nvSpPr>
        <p:spPr>
          <a:xfrm>
            <a:off x="8509000" y="1993900"/>
            <a:ext cx="2997200" cy="307777"/>
          </a:xfrm>
          <a:prstGeom prst="rect">
            <a:avLst/>
          </a:prstGeom>
          <a:noFill/>
        </p:spPr>
        <p:txBody>
          <a:bodyPr vert="horz" wrap="square" lIns="0" tIns="0" rIns="0" bIns="0" rtlCol="0">
            <a:spAutoFit/>
          </a:bodyPr>
          <a:lstStyle/>
          <a:p>
            <a:r>
              <a:rPr lang="es-ES" sz="2000" b="1">
                <a:solidFill>
                  <a:srgbClr val="FFFFFF"/>
                </a:solidFill>
                <a:latin typeface="Aptos" panose="020B0004020202020204" pitchFamily="34" charset="0"/>
              </a:rPr>
              <a:t>Dominio</a:t>
            </a:r>
          </a:p>
        </p:txBody>
      </p:sp>
      <p:sp>
        <p:nvSpPr>
          <p:cNvPr id="13" name="CuadroTexto 12">
            <a:extLst>
              <a:ext uri="{FF2B5EF4-FFF2-40B4-BE49-F238E27FC236}">
                <a16:creationId xmlns:a16="http://schemas.microsoft.com/office/drawing/2014/main" id="{A0562959-19A7-324B-78B2-210BFCF8B488}"/>
              </a:ext>
            </a:extLst>
          </p:cNvPr>
          <p:cNvSpPr txBox="1"/>
          <p:nvPr/>
        </p:nvSpPr>
        <p:spPr>
          <a:xfrm>
            <a:off x="8509000" y="2451100"/>
            <a:ext cx="2997200" cy="492443"/>
          </a:xfrm>
          <a:prstGeom prst="rect">
            <a:avLst/>
          </a:prstGeom>
          <a:noFill/>
        </p:spPr>
        <p:txBody>
          <a:bodyPr vert="horz" wrap="square" lIns="0" tIns="0" rIns="0" bIns="0" rtlCol="0">
            <a:spAutoFit/>
          </a:bodyPr>
          <a:lstStyle/>
          <a:p>
            <a:r>
              <a:rPr lang="es-ES" sz="1600">
                <a:solidFill>
                  <a:srgbClr val="FFFFFF"/>
                </a:solidFill>
                <a:latin typeface="Aptos" panose="020B0004020202020204" pitchFamily="34" charset="0"/>
              </a:rPr>
              <a:t>Pedido e ítems</a:t>
            </a:r>
          </a:p>
          <a:p>
            <a:r>
              <a:rPr lang="es-ES" sz="1600">
                <a:solidFill>
                  <a:srgbClr val="FFFFFF"/>
                </a:solidFill>
                <a:latin typeface="Aptos" panose="020B0004020202020204" pitchFamily="34" charset="0"/>
              </a:rPr>
              <a:t>Reglas y contratos</a:t>
            </a:r>
          </a:p>
        </p:txBody>
      </p:sp>
      <p:cxnSp>
        <p:nvCxnSpPr>
          <p:cNvPr id="14" name="Conector recto 13">
            <a:extLst>
              <a:ext uri="{FF2B5EF4-FFF2-40B4-BE49-F238E27FC236}">
                <a16:creationId xmlns:a16="http://schemas.microsoft.com/office/drawing/2014/main" id="{9CAF88C8-F4F5-3021-631C-7CFDAC9DA04D}"/>
              </a:ext>
            </a:extLst>
          </p:cNvPr>
          <p:cNvCxnSpPr/>
          <p:nvPr/>
        </p:nvCxnSpPr>
        <p:spPr>
          <a:xfrm>
            <a:off x="3835400" y="2590800"/>
            <a:ext cx="609600" cy="0"/>
          </a:xfrm>
          <a:prstGeom prst="line">
            <a:avLst/>
          </a:prstGeom>
          <a:ln w="19050">
            <a:solidFill>
              <a:srgbClr val="52677A"/>
            </a:solidFill>
            <a:tailEnd type="arrow"/>
          </a:ln>
        </p:spPr>
        <p:style>
          <a:lnRef idx="2">
            <a:schemeClr val="accent1"/>
          </a:lnRef>
          <a:fillRef idx="0">
            <a:schemeClr val="accent1"/>
          </a:fillRef>
          <a:effectRef idx="1">
            <a:schemeClr val="accent1"/>
          </a:effectRef>
          <a:fontRef idx="minor">
            <a:schemeClr val="tx1"/>
          </a:fontRef>
        </p:style>
      </p:cxnSp>
      <p:cxnSp>
        <p:nvCxnSpPr>
          <p:cNvPr id="15" name="Conector recto 14">
            <a:extLst>
              <a:ext uri="{FF2B5EF4-FFF2-40B4-BE49-F238E27FC236}">
                <a16:creationId xmlns:a16="http://schemas.microsoft.com/office/drawing/2014/main" id="{56F40A68-4AF3-0FA5-32FA-8793CF24C1C5}"/>
              </a:ext>
            </a:extLst>
          </p:cNvPr>
          <p:cNvCxnSpPr/>
          <p:nvPr/>
        </p:nvCxnSpPr>
        <p:spPr>
          <a:xfrm>
            <a:off x="7747000" y="2590800"/>
            <a:ext cx="609600" cy="0"/>
          </a:xfrm>
          <a:prstGeom prst="line">
            <a:avLst/>
          </a:prstGeom>
          <a:ln w="19050">
            <a:solidFill>
              <a:srgbClr val="52677A"/>
            </a:solidFill>
            <a:tailEnd type="arrow"/>
          </a:ln>
        </p:spPr>
        <p:style>
          <a:lnRef idx="2">
            <a:schemeClr val="accent1"/>
          </a:lnRef>
          <a:fillRef idx="0">
            <a:schemeClr val="accent1"/>
          </a:fillRef>
          <a:effectRef idx="1">
            <a:schemeClr val="accent1"/>
          </a:effectRef>
          <a:fontRef idx="minor">
            <a:schemeClr val="tx1"/>
          </a:fontRef>
        </p:style>
      </p:cxnSp>
      <p:sp>
        <p:nvSpPr>
          <p:cNvPr id="16" name="Rectángulo 15">
            <a:extLst>
              <a:ext uri="{FF2B5EF4-FFF2-40B4-BE49-F238E27FC236}">
                <a16:creationId xmlns:a16="http://schemas.microsoft.com/office/drawing/2014/main" id="{268ED127-A939-7CA9-F679-E077AE64A15A}"/>
              </a:ext>
            </a:extLst>
          </p:cNvPr>
          <p:cNvSpPr/>
          <p:nvPr/>
        </p:nvSpPr>
        <p:spPr>
          <a:xfrm>
            <a:off x="4445000" y="4445000"/>
            <a:ext cx="7213600" cy="1371600"/>
          </a:xfrm>
          <a:prstGeom prst="rect">
            <a:avLst/>
          </a:prstGeom>
          <a:solidFill>
            <a:srgbClr val="6C778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7" name="CuadroTexto 16">
            <a:extLst>
              <a:ext uri="{FF2B5EF4-FFF2-40B4-BE49-F238E27FC236}">
                <a16:creationId xmlns:a16="http://schemas.microsoft.com/office/drawing/2014/main" id="{1A21CE24-0878-98B9-0753-45F4A7A096BF}"/>
              </a:ext>
            </a:extLst>
          </p:cNvPr>
          <p:cNvSpPr txBox="1"/>
          <p:nvPr/>
        </p:nvSpPr>
        <p:spPr>
          <a:xfrm>
            <a:off x="4597400" y="4597400"/>
            <a:ext cx="6908800" cy="307777"/>
          </a:xfrm>
          <a:prstGeom prst="rect">
            <a:avLst/>
          </a:prstGeom>
          <a:noFill/>
        </p:spPr>
        <p:txBody>
          <a:bodyPr vert="horz" wrap="square" lIns="0" tIns="0" rIns="0" bIns="0" rtlCol="0">
            <a:spAutoFit/>
          </a:bodyPr>
          <a:lstStyle/>
          <a:p>
            <a:r>
              <a:rPr lang="es-ES" sz="2000" b="1">
                <a:solidFill>
                  <a:srgbClr val="FFFFFF"/>
                </a:solidFill>
                <a:latin typeface="Aptos" panose="020B0004020202020204" pitchFamily="34" charset="0"/>
              </a:rPr>
              <a:t>Infraestructura</a:t>
            </a:r>
          </a:p>
        </p:txBody>
      </p:sp>
      <p:sp>
        <p:nvSpPr>
          <p:cNvPr id="18" name="CuadroTexto 17">
            <a:extLst>
              <a:ext uri="{FF2B5EF4-FFF2-40B4-BE49-F238E27FC236}">
                <a16:creationId xmlns:a16="http://schemas.microsoft.com/office/drawing/2014/main" id="{844BF201-8CFC-DD7B-48BC-B330D9A399F2}"/>
              </a:ext>
            </a:extLst>
          </p:cNvPr>
          <p:cNvSpPr txBox="1"/>
          <p:nvPr/>
        </p:nvSpPr>
        <p:spPr>
          <a:xfrm>
            <a:off x="4597400" y="5054600"/>
            <a:ext cx="6908800" cy="246221"/>
          </a:xfrm>
          <a:prstGeom prst="rect">
            <a:avLst/>
          </a:prstGeom>
          <a:noFill/>
        </p:spPr>
        <p:txBody>
          <a:bodyPr vert="horz" wrap="square" lIns="0" tIns="0" rIns="0" bIns="0" rtlCol="0">
            <a:spAutoFit/>
          </a:bodyPr>
          <a:lstStyle/>
          <a:p>
            <a:r>
              <a:rPr lang="es-ES" sz="1600">
                <a:solidFill>
                  <a:srgbClr val="FFFFFF"/>
                </a:solidFill>
                <a:latin typeface="Aptos" panose="020B0004020202020204" pitchFamily="34" charset="0"/>
              </a:rPr>
              <a:t>PostgreSQL y adaptadores externos</a:t>
            </a:r>
          </a:p>
        </p:txBody>
      </p:sp>
      <p:cxnSp>
        <p:nvCxnSpPr>
          <p:cNvPr id="19" name="Conector recto 18">
            <a:extLst>
              <a:ext uri="{FF2B5EF4-FFF2-40B4-BE49-F238E27FC236}">
                <a16:creationId xmlns:a16="http://schemas.microsoft.com/office/drawing/2014/main" id="{ADDA9330-E754-2180-E323-749D1831B17C}"/>
              </a:ext>
            </a:extLst>
          </p:cNvPr>
          <p:cNvCxnSpPr/>
          <p:nvPr/>
        </p:nvCxnSpPr>
        <p:spPr>
          <a:xfrm flipV="1">
            <a:off x="6159500" y="3340100"/>
            <a:ext cx="0" cy="1104900"/>
          </a:xfrm>
          <a:prstGeom prst="line">
            <a:avLst/>
          </a:prstGeom>
          <a:ln w="19050">
            <a:solidFill>
              <a:srgbClr val="52677A"/>
            </a:solidFill>
            <a:tailEnd type="arrow"/>
          </a:ln>
        </p:spPr>
        <p:style>
          <a:lnRef idx="2">
            <a:schemeClr val="accent1"/>
          </a:lnRef>
          <a:fillRef idx="0">
            <a:schemeClr val="accent1"/>
          </a:fillRef>
          <a:effectRef idx="1">
            <a:schemeClr val="accent1"/>
          </a:effectRef>
          <a:fontRef idx="minor">
            <a:schemeClr val="tx1"/>
          </a:fontRef>
        </p:style>
      </p:cxnSp>
      <p:sp>
        <p:nvSpPr>
          <p:cNvPr id="20" name="CuadroTexto 19">
            <a:extLst>
              <a:ext uri="{FF2B5EF4-FFF2-40B4-BE49-F238E27FC236}">
                <a16:creationId xmlns:a16="http://schemas.microsoft.com/office/drawing/2014/main" id="{D8AAC38D-4A7F-C902-E619-B52BF829F330}"/>
              </a:ext>
            </a:extLst>
          </p:cNvPr>
          <p:cNvSpPr txBox="1"/>
          <p:nvPr/>
        </p:nvSpPr>
        <p:spPr>
          <a:xfrm>
            <a:off x="4381500" y="3695700"/>
            <a:ext cx="2540000" cy="215444"/>
          </a:xfrm>
          <a:prstGeom prst="rect">
            <a:avLst/>
          </a:prstGeom>
          <a:noFill/>
        </p:spPr>
        <p:txBody>
          <a:bodyPr vert="horz" wrap="square" lIns="0" tIns="0" rIns="0" bIns="0" rtlCol="0">
            <a:spAutoFit/>
          </a:bodyPr>
          <a:lstStyle/>
          <a:p>
            <a:r>
              <a:rPr lang="es-ES" sz="1400">
                <a:solidFill>
                  <a:srgbClr val="52677A"/>
                </a:solidFill>
                <a:latin typeface="Aptos" panose="020B0004020202020204" pitchFamily="34" charset="0"/>
              </a:rPr>
              <a:t>Implementa puertos</a:t>
            </a:r>
          </a:p>
        </p:txBody>
      </p:sp>
      <p:cxnSp>
        <p:nvCxnSpPr>
          <p:cNvPr id="21" name="Conector recto 20">
            <a:extLst>
              <a:ext uri="{FF2B5EF4-FFF2-40B4-BE49-F238E27FC236}">
                <a16:creationId xmlns:a16="http://schemas.microsoft.com/office/drawing/2014/main" id="{EEBDEFF8-8C91-12A9-F4F6-B7EE621237B7}"/>
              </a:ext>
            </a:extLst>
          </p:cNvPr>
          <p:cNvCxnSpPr/>
          <p:nvPr/>
        </p:nvCxnSpPr>
        <p:spPr>
          <a:xfrm flipV="1">
            <a:off x="9969500" y="3340100"/>
            <a:ext cx="0" cy="1104900"/>
          </a:xfrm>
          <a:prstGeom prst="line">
            <a:avLst/>
          </a:prstGeom>
          <a:ln w="19050">
            <a:solidFill>
              <a:srgbClr val="52677A"/>
            </a:solidFill>
            <a:tailEnd type="arrow"/>
          </a:ln>
        </p:spPr>
        <p:style>
          <a:lnRef idx="2">
            <a:schemeClr val="accent1"/>
          </a:lnRef>
          <a:fillRef idx="0">
            <a:schemeClr val="accent1"/>
          </a:fillRef>
          <a:effectRef idx="1">
            <a:schemeClr val="accent1"/>
          </a:effectRef>
          <a:fontRef idx="minor">
            <a:schemeClr val="tx1"/>
          </a:fontRef>
        </p:style>
      </p:cxnSp>
      <p:sp>
        <p:nvSpPr>
          <p:cNvPr id="22" name="CuadroTexto 21">
            <a:extLst>
              <a:ext uri="{FF2B5EF4-FFF2-40B4-BE49-F238E27FC236}">
                <a16:creationId xmlns:a16="http://schemas.microsoft.com/office/drawing/2014/main" id="{8D742CCD-C404-30F6-F023-46D7D8E3892F}"/>
              </a:ext>
            </a:extLst>
          </p:cNvPr>
          <p:cNvSpPr txBox="1"/>
          <p:nvPr/>
        </p:nvSpPr>
        <p:spPr>
          <a:xfrm>
            <a:off x="8801100" y="3695700"/>
            <a:ext cx="2857500" cy="215444"/>
          </a:xfrm>
          <a:prstGeom prst="rect">
            <a:avLst/>
          </a:prstGeom>
          <a:noFill/>
        </p:spPr>
        <p:txBody>
          <a:bodyPr vert="horz" wrap="square" lIns="0" tIns="0" rIns="0" bIns="0" rtlCol="0">
            <a:spAutoFit/>
          </a:bodyPr>
          <a:lstStyle/>
          <a:p>
            <a:r>
              <a:rPr lang="es-ES" sz="1400">
                <a:solidFill>
                  <a:srgbClr val="52677A"/>
                </a:solidFill>
                <a:latin typeface="Aptos" panose="020B0004020202020204" pitchFamily="34" charset="0"/>
              </a:rPr>
              <a:t>Implementa repositorios</a:t>
            </a:r>
          </a:p>
        </p:txBody>
      </p:sp>
      <p:sp>
        <p:nvSpPr>
          <p:cNvPr id="23" name="CuadroTexto 22">
            <a:extLst>
              <a:ext uri="{FF2B5EF4-FFF2-40B4-BE49-F238E27FC236}">
                <a16:creationId xmlns:a16="http://schemas.microsoft.com/office/drawing/2014/main" id="{0D2A6A6D-E5ED-E2FF-C372-A5663F235E59}"/>
              </a:ext>
            </a:extLst>
          </p:cNvPr>
          <p:cNvSpPr txBox="1"/>
          <p:nvPr/>
        </p:nvSpPr>
        <p:spPr>
          <a:xfrm>
            <a:off x="533400" y="6019800"/>
            <a:ext cx="11125200" cy="276999"/>
          </a:xfrm>
          <a:prstGeom prst="rect">
            <a:avLst/>
          </a:prstGeom>
          <a:noFill/>
        </p:spPr>
        <p:txBody>
          <a:bodyPr vert="horz" wrap="square" lIns="0" tIns="0" rIns="0" bIns="0" rtlCol="0">
            <a:spAutoFit/>
          </a:bodyPr>
          <a:lstStyle/>
          <a:p>
            <a:r>
              <a:rPr lang="es-ES">
                <a:solidFill>
                  <a:srgbClr val="52677A"/>
                </a:solidFill>
                <a:latin typeface="Aptos" panose="020B0004020202020204" pitchFamily="34" charset="0"/>
              </a:rPr>
              <a:t>Las reglas de negocio permanecen independientes de NestJS y PostgreSQL</a:t>
            </a:r>
          </a:p>
        </p:txBody>
      </p:sp>
    </p:spTree>
    <p:extLst>
      <p:ext uri="{BB962C8B-B14F-4D97-AF65-F5344CB8AC3E}">
        <p14:creationId xmlns:p14="http://schemas.microsoft.com/office/powerpoint/2010/main" val="339405342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9BD801A1-BA84-29BB-47E5-0647C39082E9}"/>
              </a:ext>
            </a:extLst>
          </p:cNvPr>
          <p:cNvSpPr txBox="1"/>
          <p:nvPr/>
        </p:nvSpPr>
        <p:spPr>
          <a:xfrm>
            <a:off x="533400" y="355600"/>
            <a:ext cx="11049000" cy="492443"/>
          </a:xfrm>
          <a:prstGeom prst="rect">
            <a:avLst/>
          </a:prstGeom>
          <a:noFill/>
        </p:spPr>
        <p:txBody>
          <a:bodyPr vert="horz" wrap="square" lIns="0" tIns="0" rIns="0" bIns="0" rtlCol="0">
            <a:spAutoFit/>
          </a:bodyPr>
          <a:lstStyle/>
          <a:p>
            <a:r>
              <a:rPr lang="es-ES" sz="3200" b="1">
                <a:solidFill>
                  <a:srgbClr val="102D4E"/>
                </a:solidFill>
                <a:latin typeface="Aptos" panose="020B0004020202020204" pitchFamily="34" charset="0"/>
              </a:rPr>
              <a:t>Diseño de datos del flujo principal</a:t>
            </a:r>
          </a:p>
        </p:txBody>
      </p:sp>
      <p:sp>
        <p:nvSpPr>
          <p:cNvPr id="3" name="CuadroTexto 2">
            <a:extLst>
              <a:ext uri="{FF2B5EF4-FFF2-40B4-BE49-F238E27FC236}">
                <a16:creationId xmlns:a16="http://schemas.microsoft.com/office/drawing/2014/main" id="{32D9EA81-E248-9280-5C28-30CFA70E4103}"/>
              </a:ext>
            </a:extLst>
          </p:cNvPr>
          <p:cNvSpPr txBox="1"/>
          <p:nvPr/>
        </p:nvSpPr>
        <p:spPr>
          <a:xfrm>
            <a:off x="533400" y="6477000"/>
            <a:ext cx="6350000" cy="153888"/>
          </a:xfrm>
          <a:prstGeom prst="rect">
            <a:avLst/>
          </a:prstGeom>
          <a:noFill/>
        </p:spPr>
        <p:txBody>
          <a:bodyPr vert="horz" wrap="square" lIns="0" tIns="0" rIns="0" bIns="0" rtlCol="0">
            <a:spAutoFit/>
          </a:bodyPr>
          <a:lstStyle/>
          <a:p>
            <a:r>
              <a:rPr lang="es-ES" sz="1000">
                <a:solidFill>
                  <a:srgbClr val="52677A"/>
                </a:solidFill>
                <a:latin typeface="Aptos" panose="020B0004020202020204" pitchFamily="34" charset="0"/>
              </a:rPr>
              <a:t>MAYORISTAPRO  /  SPRINT 01</a:t>
            </a:r>
          </a:p>
        </p:txBody>
      </p:sp>
      <p:sp>
        <p:nvSpPr>
          <p:cNvPr id="4" name="CuadroTexto 3">
            <a:extLst>
              <a:ext uri="{FF2B5EF4-FFF2-40B4-BE49-F238E27FC236}">
                <a16:creationId xmlns:a16="http://schemas.microsoft.com/office/drawing/2014/main" id="{69841EB1-2584-3A10-6174-8D6691A2B4F6}"/>
              </a:ext>
            </a:extLst>
          </p:cNvPr>
          <p:cNvSpPr txBox="1"/>
          <p:nvPr/>
        </p:nvSpPr>
        <p:spPr>
          <a:xfrm>
            <a:off x="11176000" y="6477000"/>
            <a:ext cx="444500" cy="169277"/>
          </a:xfrm>
          <a:prstGeom prst="rect">
            <a:avLst/>
          </a:prstGeom>
          <a:noFill/>
        </p:spPr>
        <p:txBody>
          <a:bodyPr vert="horz" wrap="square" lIns="0" tIns="0" rIns="0" bIns="0" rtlCol="0">
            <a:spAutoFit/>
          </a:bodyPr>
          <a:lstStyle/>
          <a:p>
            <a:r>
              <a:rPr lang="es-ES" sz="1100">
                <a:solidFill>
                  <a:srgbClr val="52677A"/>
                </a:solidFill>
                <a:latin typeface="Aptos" panose="020B0004020202020204" pitchFamily="34" charset="0"/>
              </a:rPr>
              <a:t>16</a:t>
            </a:r>
          </a:p>
        </p:txBody>
      </p:sp>
      <p:graphicFrame>
        <p:nvGraphicFramePr>
          <p:cNvPr id="5" name="Tabla 4">
            <a:extLst>
              <a:ext uri="{FF2B5EF4-FFF2-40B4-BE49-F238E27FC236}">
                <a16:creationId xmlns:a16="http://schemas.microsoft.com/office/drawing/2014/main" id="{2BABAF7C-C6B3-9C28-47F4-DD2AD313F1DD}"/>
              </a:ext>
            </a:extLst>
          </p:cNvPr>
          <p:cNvGraphicFramePr>
            <a:graphicFrameLocks noGrp="1"/>
          </p:cNvGraphicFramePr>
          <p:nvPr>
            <p:extLst>
              <p:ext uri="{D42A27DB-BD31-4B8C-83A1-F6EECF244321}">
                <p14:modId xmlns:p14="http://schemas.microsoft.com/office/powerpoint/2010/main" val="2855790690"/>
              </p:ext>
            </p:extLst>
          </p:nvPr>
        </p:nvGraphicFramePr>
        <p:xfrm>
          <a:off x="533400" y="1435100"/>
          <a:ext cx="11125200" cy="4356100"/>
        </p:xfrm>
        <a:graphic>
          <a:graphicData uri="http://schemas.openxmlformats.org/drawingml/2006/table">
            <a:tbl>
              <a:tblPr firstRow="1" bandRow="1">
                <a:tableStyleId>{5C22544A-7EE6-4342-B048-85BDC9FD1C3A}</a:tableStyleId>
              </a:tblPr>
              <a:tblGrid>
                <a:gridCol w="3683000">
                  <a:extLst>
                    <a:ext uri="{9D8B030D-6E8A-4147-A177-3AD203B41FA5}">
                      <a16:colId xmlns:a16="http://schemas.microsoft.com/office/drawing/2014/main" val="1834304408"/>
                    </a:ext>
                  </a:extLst>
                </a:gridCol>
                <a:gridCol w="7442200">
                  <a:extLst>
                    <a:ext uri="{9D8B030D-6E8A-4147-A177-3AD203B41FA5}">
                      <a16:colId xmlns:a16="http://schemas.microsoft.com/office/drawing/2014/main" val="2756025005"/>
                    </a:ext>
                  </a:extLst>
                </a:gridCol>
              </a:tblGrid>
              <a:tr h="726017">
                <a:tc>
                  <a:txBody>
                    <a:bodyPr/>
                    <a:lstStyle/>
                    <a:p>
                      <a:r>
                        <a:rPr lang="es-ES" sz="2000" b="1">
                          <a:solidFill>
                            <a:srgbClr val="FFFFFF"/>
                          </a:solidFill>
                          <a:latin typeface="Aptos" panose="020B0004020202020204" pitchFamily="34" charset="0"/>
                        </a:rPr>
                        <a:t>Grupo de datos</a:t>
                      </a:r>
                    </a:p>
                  </a:txBody>
                  <a:tcPr marL="152400" marR="127000" marT="127000" marB="101600">
                    <a:solidFill>
                      <a:srgbClr val="102D4E"/>
                    </a:solidFill>
                  </a:tcPr>
                </a:tc>
                <a:tc>
                  <a:txBody>
                    <a:bodyPr/>
                    <a:lstStyle/>
                    <a:p>
                      <a:r>
                        <a:rPr lang="es-ES" sz="2000" b="1">
                          <a:solidFill>
                            <a:srgbClr val="FFFFFF"/>
                          </a:solidFill>
                          <a:latin typeface="Aptos" panose="020B0004020202020204" pitchFamily="34" charset="0"/>
                        </a:rPr>
                        <a:t>Relaciones principales</a:t>
                      </a:r>
                    </a:p>
                  </a:txBody>
                  <a:tcPr marL="152400" marR="127000" marT="127000" marB="101600">
                    <a:solidFill>
                      <a:srgbClr val="102D4E"/>
                    </a:solidFill>
                  </a:tcPr>
                </a:tc>
                <a:extLst>
                  <a:ext uri="{0D108BD9-81ED-4DB2-BD59-A6C34878D82A}">
                    <a16:rowId xmlns:a16="http://schemas.microsoft.com/office/drawing/2014/main" val="2926062734"/>
                  </a:ext>
                </a:extLst>
              </a:tr>
              <a:tr h="726017">
                <a:tc>
                  <a:txBody>
                    <a:bodyPr/>
                    <a:lstStyle/>
                    <a:p>
                      <a:r>
                        <a:rPr lang="es-ES" sz="2000" b="0">
                          <a:solidFill>
                            <a:srgbClr val="203447"/>
                          </a:solidFill>
                          <a:latin typeface="Aptos" panose="020B0004020202020204" pitchFamily="34" charset="0"/>
                        </a:rPr>
                        <a:t>Empresas y usuarios</a:t>
                      </a:r>
                    </a:p>
                  </a:txBody>
                  <a:tcPr marL="152400" marR="127000" marT="127000" marB="101600">
                    <a:solidFill>
                      <a:srgbClr val="EDF4FA"/>
                    </a:solidFill>
                  </a:tcPr>
                </a:tc>
                <a:tc>
                  <a:txBody>
                    <a:bodyPr/>
                    <a:lstStyle/>
                    <a:p>
                      <a:r>
                        <a:rPr lang="es-ES" sz="2000" b="0">
                          <a:solidFill>
                            <a:srgbClr val="203447"/>
                          </a:solidFill>
                          <a:latin typeface="Aptos" panose="020B0004020202020204" pitchFamily="34" charset="0"/>
                        </a:rPr>
                        <a:t>Una empresa agrupa usuarios con roles y permisos.</a:t>
                      </a:r>
                    </a:p>
                  </a:txBody>
                  <a:tcPr marL="152400" marR="127000" marT="127000" marB="101600">
                    <a:solidFill>
                      <a:srgbClr val="EDF4FA"/>
                    </a:solidFill>
                  </a:tcPr>
                </a:tc>
                <a:extLst>
                  <a:ext uri="{0D108BD9-81ED-4DB2-BD59-A6C34878D82A}">
                    <a16:rowId xmlns:a16="http://schemas.microsoft.com/office/drawing/2014/main" val="707962920"/>
                  </a:ext>
                </a:extLst>
              </a:tr>
              <a:tr h="726017">
                <a:tc>
                  <a:txBody>
                    <a:bodyPr/>
                    <a:lstStyle/>
                    <a:p>
                      <a:r>
                        <a:rPr lang="es-ES" sz="2000" b="0">
                          <a:solidFill>
                            <a:srgbClr val="203447"/>
                          </a:solidFill>
                          <a:latin typeface="Aptos" panose="020B0004020202020204" pitchFamily="34" charset="0"/>
                        </a:rPr>
                        <a:t>Proveedores y productos</a:t>
                      </a:r>
                    </a:p>
                  </a:txBody>
                  <a:tcPr marL="152400" marR="127000" marT="127000" marB="101600">
                    <a:solidFill>
                      <a:srgbClr val="FFFFFF"/>
                    </a:solidFill>
                  </a:tcPr>
                </a:tc>
                <a:tc>
                  <a:txBody>
                    <a:bodyPr/>
                    <a:lstStyle/>
                    <a:p>
                      <a:r>
                        <a:rPr lang="es-ES" sz="2000" b="0">
                          <a:solidFill>
                            <a:srgbClr val="203447"/>
                          </a:solidFill>
                          <a:latin typeface="Aptos" panose="020B0004020202020204" pitchFamily="34" charset="0"/>
                        </a:rPr>
                        <a:t>Un proveedor publica varios productos y precios por volumen.</a:t>
                      </a:r>
                    </a:p>
                  </a:txBody>
                  <a:tcPr marL="152400" marR="127000" marT="127000" marB="101600">
                    <a:solidFill>
                      <a:srgbClr val="FFFFFF"/>
                    </a:solidFill>
                  </a:tcPr>
                </a:tc>
                <a:extLst>
                  <a:ext uri="{0D108BD9-81ED-4DB2-BD59-A6C34878D82A}">
                    <a16:rowId xmlns:a16="http://schemas.microsoft.com/office/drawing/2014/main" val="1580137690"/>
                  </a:ext>
                </a:extLst>
              </a:tr>
              <a:tr h="726017">
                <a:tc>
                  <a:txBody>
                    <a:bodyPr/>
                    <a:lstStyle/>
                    <a:p>
                      <a:r>
                        <a:rPr lang="es-ES" sz="2000" b="0">
                          <a:solidFill>
                            <a:srgbClr val="203447"/>
                          </a:solidFill>
                          <a:latin typeface="Aptos" panose="020B0004020202020204" pitchFamily="34" charset="0"/>
                        </a:rPr>
                        <a:t>Cotizaciones y respuestas</a:t>
                      </a:r>
                    </a:p>
                  </a:txBody>
                  <a:tcPr marL="152400" marR="127000" marT="127000" marB="101600">
                    <a:solidFill>
                      <a:srgbClr val="EDF4FA"/>
                    </a:solidFill>
                  </a:tcPr>
                </a:tc>
                <a:tc>
                  <a:txBody>
                    <a:bodyPr/>
                    <a:lstStyle/>
                    <a:p>
                      <a:r>
                        <a:rPr lang="es-ES" sz="2000" b="0">
                          <a:solidFill>
                            <a:srgbClr val="203447"/>
                          </a:solidFill>
                          <a:latin typeface="Aptos" panose="020B0004020202020204" pitchFamily="34" charset="0"/>
                        </a:rPr>
                        <a:t>La oferta aceptada define condiciones y precios del pedido.</a:t>
                      </a:r>
                    </a:p>
                  </a:txBody>
                  <a:tcPr marL="152400" marR="127000" marT="127000" marB="101600">
                    <a:solidFill>
                      <a:srgbClr val="EDF4FA"/>
                    </a:solidFill>
                  </a:tcPr>
                </a:tc>
                <a:extLst>
                  <a:ext uri="{0D108BD9-81ED-4DB2-BD59-A6C34878D82A}">
                    <a16:rowId xmlns:a16="http://schemas.microsoft.com/office/drawing/2014/main" val="2246315679"/>
                  </a:ext>
                </a:extLst>
              </a:tr>
              <a:tr h="726017">
                <a:tc>
                  <a:txBody>
                    <a:bodyPr/>
                    <a:lstStyle/>
                    <a:p>
                      <a:r>
                        <a:rPr lang="es-ES" sz="2000" b="0">
                          <a:solidFill>
                            <a:srgbClr val="203447"/>
                          </a:solidFill>
                          <a:latin typeface="Aptos" panose="020B0004020202020204" pitchFamily="34" charset="0"/>
                        </a:rPr>
                        <a:t>Pedidos e ítems</a:t>
                      </a:r>
                    </a:p>
                  </a:txBody>
                  <a:tcPr marL="152400" marR="127000" marT="127000" marB="101600">
                    <a:solidFill>
                      <a:srgbClr val="FFFFFF"/>
                    </a:solidFill>
                  </a:tcPr>
                </a:tc>
                <a:tc>
                  <a:txBody>
                    <a:bodyPr/>
                    <a:lstStyle/>
                    <a:p>
                      <a:r>
                        <a:rPr lang="es-ES" sz="2000" b="0">
                          <a:solidFill>
                            <a:srgbClr val="203447"/>
                          </a:solidFill>
                          <a:latin typeface="Aptos" panose="020B0004020202020204" pitchFamily="34" charset="0"/>
                        </a:rPr>
                        <a:t>Un pedido conserva sus productos, cantidades y precios.</a:t>
                      </a:r>
                    </a:p>
                  </a:txBody>
                  <a:tcPr marL="152400" marR="127000" marT="127000" marB="101600">
                    <a:solidFill>
                      <a:srgbClr val="FFFFFF"/>
                    </a:solidFill>
                  </a:tcPr>
                </a:tc>
                <a:extLst>
                  <a:ext uri="{0D108BD9-81ED-4DB2-BD59-A6C34878D82A}">
                    <a16:rowId xmlns:a16="http://schemas.microsoft.com/office/drawing/2014/main" val="2803736350"/>
                  </a:ext>
                </a:extLst>
              </a:tr>
              <a:tr h="726017">
                <a:tc>
                  <a:txBody>
                    <a:bodyPr/>
                    <a:lstStyle/>
                    <a:p>
                      <a:r>
                        <a:rPr lang="es-ES" sz="2000" b="0">
                          <a:solidFill>
                            <a:srgbClr val="203447"/>
                          </a:solidFill>
                          <a:latin typeface="Aptos" panose="020B0004020202020204" pitchFamily="34" charset="0"/>
                        </a:rPr>
                        <a:t>Reservas de stock</a:t>
                      </a:r>
                    </a:p>
                  </a:txBody>
                  <a:tcPr marL="152400" marR="127000" marT="127000" marB="101600">
                    <a:solidFill>
                      <a:srgbClr val="EDF4FA"/>
                    </a:solidFill>
                  </a:tcPr>
                </a:tc>
                <a:tc>
                  <a:txBody>
                    <a:bodyPr/>
                    <a:lstStyle/>
                    <a:p>
                      <a:r>
                        <a:rPr lang="es-ES" sz="2000" b="0">
                          <a:solidFill>
                            <a:srgbClr val="203447"/>
                          </a:solidFill>
                          <a:latin typeface="Aptos" panose="020B0004020202020204" pitchFamily="34" charset="0"/>
                        </a:rPr>
                        <a:t>Cada reserva relaciona un pedido con un producto.</a:t>
                      </a:r>
                    </a:p>
                  </a:txBody>
                  <a:tcPr marL="152400" marR="127000" marT="127000" marB="101600">
                    <a:solidFill>
                      <a:srgbClr val="EDF4FA"/>
                    </a:solidFill>
                  </a:tcPr>
                </a:tc>
                <a:extLst>
                  <a:ext uri="{0D108BD9-81ED-4DB2-BD59-A6C34878D82A}">
                    <a16:rowId xmlns:a16="http://schemas.microsoft.com/office/drawing/2014/main" val="2504750401"/>
                  </a:ext>
                </a:extLst>
              </a:tr>
            </a:tbl>
          </a:graphicData>
        </a:graphic>
      </p:graphicFrame>
      <p:sp>
        <p:nvSpPr>
          <p:cNvPr id="6" name="CuadroTexto 5">
            <a:extLst>
              <a:ext uri="{FF2B5EF4-FFF2-40B4-BE49-F238E27FC236}">
                <a16:creationId xmlns:a16="http://schemas.microsoft.com/office/drawing/2014/main" id="{38F73761-FBC4-37BC-6B74-CF595D11E0DC}"/>
              </a:ext>
            </a:extLst>
          </p:cNvPr>
          <p:cNvSpPr txBox="1"/>
          <p:nvPr/>
        </p:nvSpPr>
        <p:spPr>
          <a:xfrm>
            <a:off x="533400" y="5994400"/>
            <a:ext cx="11125200" cy="276999"/>
          </a:xfrm>
          <a:prstGeom prst="rect">
            <a:avLst/>
          </a:prstGeom>
          <a:noFill/>
        </p:spPr>
        <p:txBody>
          <a:bodyPr vert="horz" wrap="square" lIns="0" tIns="0" rIns="0" bIns="0" rtlCol="0">
            <a:spAutoFit/>
          </a:bodyPr>
          <a:lstStyle/>
          <a:p>
            <a:r>
              <a:rPr lang="es-ES">
                <a:solidFill>
                  <a:srgbClr val="52677A"/>
                </a:solidFill>
                <a:latin typeface="Aptos" panose="020B0004020202020204" pitchFamily="34" charset="0"/>
              </a:rPr>
              <a:t>PostgreSQL: relaciones, restricciones y transacciones para proteger la integridad</a:t>
            </a:r>
          </a:p>
        </p:txBody>
      </p:sp>
    </p:spTree>
    <p:extLst>
      <p:ext uri="{BB962C8B-B14F-4D97-AF65-F5344CB8AC3E}">
        <p14:creationId xmlns:p14="http://schemas.microsoft.com/office/powerpoint/2010/main" val="284369765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29DA84DD-60C5-D56A-637B-7957325E4A0C}"/>
              </a:ext>
            </a:extLst>
          </p:cNvPr>
          <p:cNvSpPr txBox="1"/>
          <p:nvPr/>
        </p:nvSpPr>
        <p:spPr>
          <a:xfrm>
            <a:off x="533400" y="355600"/>
            <a:ext cx="11049000" cy="492443"/>
          </a:xfrm>
          <a:prstGeom prst="rect">
            <a:avLst/>
          </a:prstGeom>
          <a:noFill/>
        </p:spPr>
        <p:txBody>
          <a:bodyPr vert="horz" wrap="square" lIns="0" tIns="0" rIns="0" bIns="0" rtlCol="0">
            <a:spAutoFit/>
          </a:bodyPr>
          <a:lstStyle/>
          <a:p>
            <a:r>
              <a:rPr lang="es-ES" sz="3200" b="1">
                <a:solidFill>
                  <a:srgbClr val="102D4E"/>
                </a:solidFill>
                <a:latin typeface="Aptos" panose="020B0004020202020204" pitchFamily="34" charset="0"/>
              </a:rPr>
              <a:t>Creación de pedido y reserva de stock</a:t>
            </a:r>
          </a:p>
        </p:txBody>
      </p:sp>
      <p:sp>
        <p:nvSpPr>
          <p:cNvPr id="3" name="CuadroTexto 2">
            <a:extLst>
              <a:ext uri="{FF2B5EF4-FFF2-40B4-BE49-F238E27FC236}">
                <a16:creationId xmlns:a16="http://schemas.microsoft.com/office/drawing/2014/main" id="{73E0667E-F70A-4792-7F17-9A6A583432C0}"/>
              </a:ext>
            </a:extLst>
          </p:cNvPr>
          <p:cNvSpPr txBox="1"/>
          <p:nvPr/>
        </p:nvSpPr>
        <p:spPr>
          <a:xfrm>
            <a:off x="533400" y="6477000"/>
            <a:ext cx="6350000" cy="153888"/>
          </a:xfrm>
          <a:prstGeom prst="rect">
            <a:avLst/>
          </a:prstGeom>
          <a:noFill/>
        </p:spPr>
        <p:txBody>
          <a:bodyPr vert="horz" wrap="square" lIns="0" tIns="0" rIns="0" bIns="0" rtlCol="0">
            <a:spAutoFit/>
          </a:bodyPr>
          <a:lstStyle/>
          <a:p>
            <a:r>
              <a:rPr lang="es-ES" sz="1000">
                <a:solidFill>
                  <a:srgbClr val="52677A"/>
                </a:solidFill>
                <a:latin typeface="Aptos" panose="020B0004020202020204" pitchFamily="34" charset="0"/>
              </a:rPr>
              <a:t>MAYORISTAPRO  /  SPRINT 01</a:t>
            </a:r>
          </a:p>
        </p:txBody>
      </p:sp>
      <p:sp>
        <p:nvSpPr>
          <p:cNvPr id="4" name="CuadroTexto 3">
            <a:extLst>
              <a:ext uri="{FF2B5EF4-FFF2-40B4-BE49-F238E27FC236}">
                <a16:creationId xmlns:a16="http://schemas.microsoft.com/office/drawing/2014/main" id="{223C5A51-2B9C-6731-EE01-C5CA9B830463}"/>
              </a:ext>
            </a:extLst>
          </p:cNvPr>
          <p:cNvSpPr txBox="1"/>
          <p:nvPr/>
        </p:nvSpPr>
        <p:spPr>
          <a:xfrm>
            <a:off x="11176000" y="6477000"/>
            <a:ext cx="444500" cy="169277"/>
          </a:xfrm>
          <a:prstGeom prst="rect">
            <a:avLst/>
          </a:prstGeom>
          <a:noFill/>
        </p:spPr>
        <p:txBody>
          <a:bodyPr vert="horz" wrap="square" lIns="0" tIns="0" rIns="0" bIns="0" rtlCol="0">
            <a:spAutoFit/>
          </a:bodyPr>
          <a:lstStyle/>
          <a:p>
            <a:r>
              <a:rPr lang="es-ES" sz="1100">
                <a:solidFill>
                  <a:srgbClr val="52677A"/>
                </a:solidFill>
                <a:latin typeface="Aptos" panose="020B0004020202020204" pitchFamily="34" charset="0"/>
              </a:rPr>
              <a:t>17</a:t>
            </a:r>
          </a:p>
        </p:txBody>
      </p:sp>
      <p:graphicFrame>
        <p:nvGraphicFramePr>
          <p:cNvPr id="5" name="Tabla 4">
            <a:extLst>
              <a:ext uri="{FF2B5EF4-FFF2-40B4-BE49-F238E27FC236}">
                <a16:creationId xmlns:a16="http://schemas.microsoft.com/office/drawing/2014/main" id="{B624D790-C4F2-9D21-58C4-BC2DE7C7F3FB}"/>
              </a:ext>
            </a:extLst>
          </p:cNvPr>
          <p:cNvGraphicFramePr>
            <a:graphicFrameLocks noGrp="1"/>
          </p:cNvGraphicFramePr>
          <p:nvPr>
            <p:extLst>
              <p:ext uri="{D42A27DB-BD31-4B8C-83A1-F6EECF244321}">
                <p14:modId xmlns:p14="http://schemas.microsoft.com/office/powerpoint/2010/main" val="2864163170"/>
              </p:ext>
            </p:extLst>
          </p:nvPr>
        </p:nvGraphicFramePr>
        <p:xfrm>
          <a:off x="533400" y="1498600"/>
          <a:ext cx="11125200" cy="3619500"/>
        </p:xfrm>
        <a:graphic>
          <a:graphicData uri="http://schemas.openxmlformats.org/drawingml/2006/table">
            <a:tbl>
              <a:tblPr firstRow="1" bandRow="1">
                <a:tableStyleId>{5C22544A-7EE6-4342-B048-85BDC9FD1C3A}</a:tableStyleId>
              </a:tblPr>
              <a:tblGrid>
                <a:gridCol w="3111500">
                  <a:extLst>
                    <a:ext uri="{9D8B030D-6E8A-4147-A177-3AD203B41FA5}">
                      <a16:colId xmlns:a16="http://schemas.microsoft.com/office/drawing/2014/main" val="2564855583"/>
                    </a:ext>
                  </a:extLst>
                </a:gridCol>
                <a:gridCol w="8013700">
                  <a:extLst>
                    <a:ext uri="{9D8B030D-6E8A-4147-A177-3AD203B41FA5}">
                      <a16:colId xmlns:a16="http://schemas.microsoft.com/office/drawing/2014/main" val="2396393099"/>
                    </a:ext>
                  </a:extLst>
                </a:gridCol>
              </a:tblGrid>
              <a:tr h="723900">
                <a:tc>
                  <a:txBody>
                    <a:bodyPr/>
                    <a:lstStyle/>
                    <a:p>
                      <a:r>
                        <a:rPr lang="es-ES" sz="2100" b="1">
                          <a:solidFill>
                            <a:srgbClr val="FFFFFF"/>
                          </a:solidFill>
                          <a:latin typeface="Aptos" panose="020B0004020202020204" pitchFamily="34" charset="0"/>
                        </a:rPr>
                        <a:t>Paso</a:t>
                      </a:r>
                    </a:p>
                  </a:txBody>
                  <a:tcPr marL="152400" marR="127000" marT="127000" marB="101600">
                    <a:solidFill>
                      <a:srgbClr val="102D4E"/>
                    </a:solidFill>
                  </a:tcPr>
                </a:tc>
                <a:tc>
                  <a:txBody>
                    <a:bodyPr/>
                    <a:lstStyle/>
                    <a:p>
                      <a:r>
                        <a:rPr lang="es-ES" sz="2100" b="1">
                          <a:solidFill>
                            <a:srgbClr val="FFFFFF"/>
                          </a:solidFill>
                          <a:latin typeface="Aptos" panose="020B0004020202020204" pitchFamily="34" charset="0"/>
                        </a:rPr>
                        <a:t>Responsabilidad</a:t>
                      </a:r>
                    </a:p>
                  </a:txBody>
                  <a:tcPr marL="152400" marR="127000" marT="127000" marB="101600">
                    <a:solidFill>
                      <a:srgbClr val="102D4E"/>
                    </a:solidFill>
                  </a:tcPr>
                </a:tc>
                <a:extLst>
                  <a:ext uri="{0D108BD9-81ED-4DB2-BD59-A6C34878D82A}">
                    <a16:rowId xmlns:a16="http://schemas.microsoft.com/office/drawing/2014/main" val="1183793464"/>
                  </a:ext>
                </a:extLst>
              </a:tr>
              <a:tr h="723900">
                <a:tc>
                  <a:txBody>
                    <a:bodyPr/>
                    <a:lstStyle/>
                    <a:p>
                      <a:r>
                        <a:rPr lang="es-ES" sz="2100" b="0">
                          <a:solidFill>
                            <a:srgbClr val="203447"/>
                          </a:solidFill>
                          <a:latin typeface="Aptos" panose="020B0004020202020204" pitchFamily="34" charset="0"/>
                        </a:rPr>
                        <a:t>1. Autorizar</a:t>
                      </a:r>
                    </a:p>
                  </a:txBody>
                  <a:tcPr marL="152400" marR="127000" marT="127000" marB="101600">
                    <a:solidFill>
                      <a:srgbClr val="EDF4FA"/>
                    </a:solidFill>
                  </a:tcPr>
                </a:tc>
                <a:tc>
                  <a:txBody>
                    <a:bodyPr/>
                    <a:lstStyle/>
                    <a:p>
                      <a:r>
                        <a:rPr lang="es-ES" sz="2100" b="0">
                          <a:solidFill>
                            <a:srgbClr val="203447"/>
                          </a:solidFill>
                          <a:latin typeface="Aptos" panose="020B0004020202020204" pitchFamily="34" charset="0"/>
                        </a:rPr>
                        <a:t>Validar comprador y oferta aceptada vigente.</a:t>
                      </a:r>
                    </a:p>
                  </a:txBody>
                  <a:tcPr marL="152400" marR="127000" marT="127000" marB="101600">
                    <a:solidFill>
                      <a:srgbClr val="EDF4FA"/>
                    </a:solidFill>
                  </a:tcPr>
                </a:tc>
                <a:extLst>
                  <a:ext uri="{0D108BD9-81ED-4DB2-BD59-A6C34878D82A}">
                    <a16:rowId xmlns:a16="http://schemas.microsoft.com/office/drawing/2014/main" val="2604447047"/>
                  </a:ext>
                </a:extLst>
              </a:tr>
              <a:tr h="723900">
                <a:tc>
                  <a:txBody>
                    <a:bodyPr/>
                    <a:lstStyle/>
                    <a:p>
                      <a:r>
                        <a:rPr lang="es-ES" sz="2100" b="0">
                          <a:solidFill>
                            <a:srgbClr val="203447"/>
                          </a:solidFill>
                          <a:latin typeface="Aptos" panose="020B0004020202020204" pitchFamily="34" charset="0"/>
                        </a:rPr>
                        <a:t>2. Iniciar transacción</a:t>
                      </a:r>
                    </a:p>
                  </a:txBody>
                  <a:tcPr marL="152400" marR="127000" marT="127000" marB="101600">
                    <a:solidFill>
                      <a:srgbClr val="FFFFFF"/>
                    </a:solidFill>
                  </a:tcPr>
                </a:tc>
                <a:tc>
                  <a:txBody>
                    <a:bodyPr/>
                    <a:lstStyle/>
                    <a:p>
                      <a:r>
                        <a:rPr lang="es-ES" sz="2100" b="0">
                          <a:solidFill>
                            <a:srgbClr val="203447"/>
                          </a:solidFill>
                          <a:latin typeface="Aptos" panose="020B0004020202020204" pitchFamily="34" charset="0"/>
                        </a:rPr>
                        <a:t>Revalidar condiciones y bloquear los productos.</a:t>
                      </a:r>
                    </a:p>
                  </a:txBody>
                  <a:tcPr marL="152400" marR="127000" marT="127000" marB="101600">
                    <a:solidFill>
                      <a:srgbClr val="FFFFFF"/>
                    </a:solidFill>
                  </a:tcPr>
                </a:tc>
                <a:extLst>
                  <a:ext uri="{0D108BD9-81ED-4DB2-BD59-A6C34878D82A}">
                    <a16:rowId xmlns:a16="http://schemas.microsoft.com/office/drawing/2014/main" val="3548772047"/>
                  </a:ext>
                </a:extLst>
              </a:tr>
              <a:tr h="723900">
                <a:tc>
                  <a:txBody>
                    <a:bodyPr/>
                    <a:lstStyle/>
                    <a:p>
                      <a:r>
                        <a:rPr lang="es-ES" sz="2100" b="0">
                          <a:solidFill>
                            <a:srgbClr val="203447"/>
                          </a:solidFill>
                          <a:latin typeface="Aptos" panose="020B0004020202020204" pitchFamily="34" charset="0"/>
                        </a:rPr>
                        <a:t>3. Guardar</a:t>
                      </a:r>
                    </a:p>
                  </a:txBody>
                  <a:tcPr marL="152400" marR="127000" marT="127000" marB="101600">
                    <a:solidFill>
                      <a:srgbClr val="EDF4FA"/>
                    </a:solidFill>
                  </a:tcPr>
                </a:tc>
                <a:tc>
                  <a:txBody>
                    <a:bodyPr/>
                    <a:lstStyle/>
                    <a:p>
                      <a:r>
                        <a:rPr lang="es-ES" sz="2100" b="0">
                          <a:solidFill>
                            <a:srgbClr val="203447"/>
                          </a:solidFill>
                          <a:latin typeface="Aptos" panose="020B0004020202020204" pitchFamily="34" charset="0"/>
                        </a:rPr>
                        <a:t>Crear pedido, ítems, reserva y descontar stock disponible.</a:t>
                      </a:r>
                    </a:p>
                  </a:txBody>
                  <a:tcPr marL="152400" marR="127000" marT="127000" marB="101600">
                    <a:solidFill>
                      <a:srgbClr val="EDF4FA"/>
                    </a:solidFill>
                  </a:tcPr>
                </a:tc>
                <a:extLst>
                  <a:ext uri="{0D108BD9-81ED-4DB2-BD59-A6C34878D82A}">
                    <a16:rowId xmlns:a16="http://schemas.microsoft.com/office/drawing/2014/main" val="1673237713"/>
                  </a:ext>
                </a:extLst>
              </a:tr>
              <a:tr h="723900">
                <a:tc>
                  <a:txBody>
                    <a:bodyPr/>
                    <a:lstStyle/>
                    <a:p>
                      <a:r>
                        <a:rPr lang="es-ES" sz="2100" b="0">
                          <a:solidFill>
                            <a:srgbClr val="203447"/>
                          </a:solidFill>
                          <a:latin typeface="Aptos" panose="020B0004020202020204" pitchFamily="34" charset="0"/>
                        </a:rPr>
                        <a:t>4. Confirmar o revertir</a:t>
                      </a:r>
                    </a:p>
                  </a:txBody>
                  <a:tcPr marL="152400" marR="127000" marT="127000" marB="101600">
                    <a:solidFill>
                      <a:srgbClr val="FFFFFF"/>
                    </a:solidFill>
                  </a:tcPr>
                </a:tc>
                <a:tc>
                  <a:txBody>
                    <a:bodyPr/>
                    <a:lstStyle/>
                    <a:p>
                      <a:r>
                        <a:rPr lang="es-ES" sz="2100" b="0">
                          <a:solidFill>
                            <a:srgbClr val="203447"/>
                          </a:solidFill>
                          <a:latin typeface="Aptos" panose="020B0004020202020204" pitchFamily="34" charset="0"/>
                        </a:rPr>
                        <a:t>COMMIT completo o ROLLBACK ante fallo.</a:t>
                      </a:r>
                    </a:p>
                  </a:txBody>
                  <a:tcPr marL="152400" marR="127000" marT="127000" marB="101600">
                    <a:solidFill>
                      <a:srgbClr val="FFFFFF"/>
                    </a:solidFill>
                  </a:tcPr>
                </a:tc>
                <a:extLst>
                  <a:ext uri="{0D108BD9-81ED-4DB2-BD59-A6C34878D82A}">
                    <a16:rowId xmlns:a16="http://schemas.microsoft.com/office/drawing/2014/main" val="3377146172"/>
                  </a:ext>
                </a:extLst>
              </a:tr>
            </a:tbl>
          </a:graphicData>
        </a:graphic>
      </p:graphicFrame>
      <p:sp>
        <p:nvSpPr>
          <p:cNvPr id="6" name="CuadroTexto 5">
            <a:extLst>
              <a:ext uri="{FF2B5EF4-FFF2-40B4-BE49-F238E27FC236}">
                <a16:creationId xmlns:a16="http://schemas.microsoft.com/office/drawing/2014/main" id="{A7EAE0B6-A9AE-74E0-AF73-7E6B1CA78302}"/>
              </a:ext>
            </a:extLst>
          </p:cNvPr>
          <p:cNvSpPr txBox="1"/>
          <p:nvPr/>
        </p:nvSpPr>
        <p:spPr>
          <a:xfrm>
            <a:off x="533400" y="5562600"/>
            <a:ext cx="11125200" cy="369332"/>
          </a:xfrm>
          <a:prstGeom prst="rect">
            <a:avLst/>
          </a:prstGeom>
          <a:noFill/>
        </p:spPr>
        <p:txBody>
          <a:bodyPr vert="horz" wrap="square" lIns="0" tIns="0" rIns="0" bIns="0" rtlCol="0">
            <a:spAutoFit/>
          </a:bodyPr>
          <a:lstStyle/>
          <a:p>
            <a:r>
              <a:rPr lang="es-ES" sz="2400" b="1">
                <a:solidFill>
                  <a:srgbClr val="1269B0"/>
                </a:solidFill>
                <a:latin typeface="Aptos" panose="020B0004020202020204" pitchFamily="34" charset="0"/>
              </a:rPr>
              <a:t>La llamada a la pasarela ocurre después de guardar el pedido</a:t>
            </a:r>
          </a:p>
        </p:txBody>
      </p:sp>
    </p:spTree>
    <p:extLst>
      <p:ext uri="{BB962C8B-B14F-4D97-AF65-F5344CB8AC3E}">
        <p14:creationId xmlns:p14="http://schemas.microsoft.com/office/powerpoint/2010/main" val="92527453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165DA240-C6AB-0A3C-3964-9F57ABF7D550}"/>
              </a:ext>
            </a:extLst>
          </p:cNvPr>
          <p:cNvSpPr txBox="1"/>
          <p:nvPr/>
        </p:nvSpPr>
        <p:spPr>
          <a:xfrm>
            <a:off x="533400" y="355600"/>
            <a:ext cx="11049000" cy="492443"/>
          </a:xfrm>
          <a:prstGeom prst="rect">
            <a:avLst/>
          </a:prstGeom>
          <a:noFill/>
        </p:spPr>
        <p:txBody>
          <a:bodyPr vert="horz" wrap="square" lIns="0" tIns="0" rIns="0" bIns="0" rtlCol="0">
            <a:spAutoFit/>
          </a:bodyPr>
          <a:lstStyle/>
          <a:p>
            <a:r>
              <a:rPr lang="es-ES" sz="3200" b="1">
                <a:solidFill>
                  <a:srgbClr val="102D4E"/>
                </a:solidFill>
                <a:latin typeface="Aptos" panose="020B0004020202020204" pitchFamily="34" charset="0"/>
              </a:rPr>
              <a:t>Siguiente etapa: implementación</a:t>
            </a:r>
          </a:p>
        </p:txBody>
      </p:sp>
      <p:sp>
        <p:nvSpPr>
          <p:cNvPr id="3" name="CuadroTexto 2">
            <a:extLst>
              <a:ext uri="{FF2B5EF4-FFF2-40B4-BE49-F238E27FC236}">
                <a16:creationId xmlns:a16="http://schemas.microsoft.com/office/drawing/2014/main" id="{B4F0FCDF-2155-65B8-1B9D-1337FDC6F05C}"/>
              </a:ext>
            </a:extLst>
          </p:cNvPr>
          <p:cNvSpPr txBox="1"/>
          <p:nvPr/>
        </p:nvSpPr>
        <p:spPr>
          <a:xfrm>
            <a:off x="533400" y="6477000"/>
            <a:ext cx="6350000" cy="153888"/>
          </a:xfrm>
          <a:prstGeom prst="rect">
            <a:avLst/>
          </a:prstGeom>
          <a:noFill/>
        </p:spPr>
        <p:txBody>
          <a:bodyPr vert="horz" wrap="square" lIns="0" tIns="0" rIns="0" bIns="0" rtlCol="0">
            <a:spAutoFit/>
          </a:bodyPr>
          <a:lstStyle/>
          <a:p>
            <a:r>
              <a:rPr lang="es-ES" sz="1000">
                <a:solidFill>
                  <a:srgbClr val="52677A"/>
                </a:solidFill>
                <a:latin typeface="Aptos" panose="020B0004020202020204" pitchFamily="34" charset="0"/>
              </a:rPr>
              <a:t>MAYORISTAPRO  /  SPRINT 01</a:t>
            </a:r>
          </a:p>
        </p:txBody>
      </p:sp>
      <p:sp>
        <p:nvSpPr>
          <p:cNvPr id="4" name="CuadroTexto 3">
            <a:extLst>
              <a:ext uri="{FF2B5EF4-FFF2-40B4-BE49-F238E27FC236}">
                <a16:creationId xmlns:a16="http://schemas.microsoft.com/office/drawing/2014/main" id="{958ECA6B-0824-9339-4E4A-B98465BAD2F8}"/>
              </a:ext>
            </a:extLst>
          </p:cNvPr>
          <p:cNvSpPr txBox="1"/>
          <p:nvPr/>
        </p:nvSpPr>
        <p:spPr>
          <a:xfrm>
            <a:off x="11176000" y="6477000"/>
            <a:ext cx="444500" cy="169277"/>
          </a:xfrm>
          <a:prstGeom prst="rect">
            <a:avLst/>
          </a:prstGeom>
          <a:noFill/>
        </p:spPr>
        <p:txBody>
          <a:bodyPr vert="horz" wrap="square" lIns="0" tIns="0" rIns="0" bIns="0" rtlCol="0">
            <a:spAutoFit/>
          </a:bodyPr>
          <a:lstStyle/>
          <a:p>
            <a:r>
              <a:rPr lang="es-ES" sz="1100">
                <a:solidFill>
                  <a:srgbClr val="52677A"/>
                </a:solidFill>
                <a:latin typeface="Aptos" panose="020B0004020202020204" pitchFamily="34" charset="0"/>
              </a:rPr>
              <a:t>18</a:t>
            </a:r>
          </a:p>
        </p:txBody>
      </p:sp>
      <p:sp>
        <p:nvSpPr>
          <p:cNvPr id="5" name="CuadroTexto 4">
            <a:extLst>
              <a:ext uri="{FF2B5EF4-FFF2-40B4-BE49-F238E27FC236}">
                <a16:creationId xmlns:a16="http://schemas.microsoft.com/office/drawing/2014/main" id="{7A234498-7FEA-8C50-94FC-0CD1124EA1DE}"/>
              </a:ext>
            </a:extLst>
          </p:cNvPr>
          <p:cNvSpPr txBox="1"/>
          <p:nvPr/>
        </p:nvSpPr>
        <p:spPr>
          <a:xfrm>
            <a:off x="533400" y="1473200"/>
            <a:ext cx="5334000" cy="430887"/>
          </a:xfrm>
          <a:prstGeom prst="rect">
            <a:avLst/>
          </a:prstGeom>
          <a:noFill/>
        </p:spPr>
        <p:txBody>
          <a:bodyPr vert="horz" wrap="square" lIns="0" tIns="0" rIns="0" bIns="0" rtlCol="0">
            <a:spAutoFit/>
          </a:bodyPr>
          <a:lstStyle/>
          <a:p>
            <a:r>
              <a:rPr lang="es-ES" sz="2800" b="1">
                <a:solidFill>
                  <a:srgbClr val="1269B0"/>
                </a:solidFill>
                <a:latin typeface="Aptos" panose="020B0004020202020204" pitchFamily="34" charset="0"/>
              </a:rPr>
              <a:t>Sprint 01</a:t>
            </a:r>
          </a:p>
        </p:txBody>
      </p:sp>
      <p:sp>
        <p:nvSpPr>
          <p:cNvPr id="6" name="CuadroTexto 5">
            <a:extLst>
              <a:ext uri="{FF2B5EF4-FFF2-40B4-BE49-F238E27FC236}">
                <a16:creationId xmlns:a16="http://schemas.microsoft.com/office/drawing/2014/main" id="{A7505D9F-0239-6200-A03B-FF97227A1E14}"/>
              </a:ext>
            </a:extLst>
          </p:cNvPr>
          <p:cNvSpPr txBox="1"/>
          <p:nvPr/>
        </p:nvSpPr>
        <p:spPr>
          <a:xfrm>
            <a:off x="533400" y="2286000"/>
            <a:ext cx="5080000" cy="2477601"/>
          </a:xfrm>
          <a:prstGeom prst="rect">
            <a:avLst/>
          </a:prstGeom>
          <a:noFill/>
        </p:spPr>
        <p:txBody>
          <a:bodyPr vert="horz" wrap="square" lIns="0" tIns="0" rIns="0" bIns="0" rtlCol="0">
            <a:spAutoFit/>
          </a:bodyPr>
          <a:lstStyle/>
          <a:p>
            <a:r>
              <a:rPr lang="es-ES" sz="2300">
                <a:solidFill>
                  <a:srgbClr val="203447"/>
                </a:solidFill>
                <a:latin typeface="Aptos" panose="020B0004020202020204" pitchFamily="34" charset="0"/>
              </a:rPr>
              <a:t>Análisis y alcance propuesto</a:t>
            </a:r>
          </a:p>
          <a:p>
            <a:endParaRPr lang="es-ES" sz="2300">
              <a:solidFill>
                <a:srgbClr val="203447"/>
              </a:solidFill>
              <a:latin typeface="Aptos" panose="020B0004020202020204" pitchFamily="34" charset="0"/>
            </a:endParaRPr>
          </a:p>
          <a:p>
            <a:r>
              <a:rPr lang="es-ES" sz="2300">
                <a:solidFill>
                  <a:srgbClr val="203447"/>
                </a:solidFill>
                <a:latin typeface="Aptos" panose="020B0004020202020204" pitchFamily="34" charset="0"/>
              </a:rPr>
              <a:t>Arquitectura y diagramas C4</a:t>
            </a:r>
          </a:p>
          <a:p>
            <a:endParaRPr lang="es-ES" sz="2300">
              <a:solidFill>
                <a:srgbClr val="203447"/>
              </a:solidFill>
              <a:latin typeface="Aptos" panose="020B0004020202020204" pitchFamily="34" charset="0"/>
            </a:endParaRPr>
          </a:p>
          <a:p>
            <a:r>
              <a:rPr lang="es-ES" sz="2300">
                <a:solidFill>
                  <a:srgbClr val="203447"/>
                </a:solidFill>
                <a:latin typeface="Aptos" panose="020B0004020202020204" pitchFamily="34" charset="0"/>
              </a:rPr>
              <a:t>Diseño de datos y módulos</a:t>
            </a:r>
          </a:p>
          <a:p>
            <a:endParaRPr lang="es-ES" sz="2300">
              <a:solidFill>
                <a:srgbClr val="203447"/>
              </a:solidFill>
              <a:latin typeface="Aptos" panose="020B0004020202020204" pitchFamily="34" charset="0"/>
            </a:endParaRPr>
          </a:p>
          <a:p>
            <a:r>
              <a:rPr lang="es-ES" sz="2300">
                <a:solidFill>
                  <a:srgbClr val="203447"/>
                </a:solidFill>
                <a:latin typeface="Aptos" panose="020B0004020202020204" pitchFamily="34" charset="0"/>
              </a:rPr>
              <a:t>Plan de medición de calidad</a:t>
            </a:r>
          </a:p>
        </p:txBody>
      </p:sp>
      <p:sp>
        <p:nvSpPr>
          <p:cNvPr id="7" name="CuadroTexto 6">
            <a:extLst>
              <a:ext uri="{FF2B5EF4-FFF2-40B4-BE49-F238E27FC236}">
                <a16:creationId xmlns:a16="http://schemas.microsoft.com/office/drawing/2014/main" id="{36DA2D51-0D43-99AB-5EA2-1B36E7B5F7D6}"/>
              </a:ext>
            </a:extLst>
          </p:cNvPr>
          <p:cNvSpPr txBox="1"/>
          <p:nvPr/>
        </p:nvSpPr>
        <p:spPr>
          <a:xfrm>
            <a:off x="6604000" y="1473200"/>
            <a:ext cx="5054600" cy="430887"/>
          </a:xfrm>
          <a:prstGeom prst="rect">
            <a:avLst/>
          </a:prstGeom>
          <a:noFill/>
        </p:spPr>
        <p:txBody>
          <a:bodyPr vert="horz" wrap="square" lIns="0" tIns="0" rIns="0" bIns="0" rtlCol="0">
            <a:spAutoFit/>
          </a:bodyPr>
          <a:lstStyle/>
          <a:p>
            <a:r>
              <a:rPr lang="es-ES" sz="2800" b="1">
                <a:solidFill>
                  <a:srgbClr val="0F776F"/>
                </a:solidFill>
                <a:latin typeface="Aptos" panose="020B0004020202020204" pitchFamily="34" charset="0"/>
              </a:rPr>
              <a:t>Sprint 02 y siguientes</a:t>
            </a:r>
          </a:p>
        </p:txBody>
      </p:sp>
      <p:sp>
        <p:nvSpPr>
          <p:cNvPr id="8" name="CuadroTexto 7">
            <a:extLst>
              <a:ext uri="{FF2B5EF4-FFF2-40B4-BE49-F238E27FC236}">
                <a16:creationId xmlns:a16="http://schemas.microsoft.com/office/drawing/2014/main" id="{F1DFF02C-AC9F-1B0D-5450-50D269681119}"/>
              </a:ext>
            </a:extLst>
          </p:cNvPr>
          <p:cNvSpPr txBox="1"/>
          <p:nvPr/>
        </p:nvSpPr>
        <p:spPr>
          <a:xfrm>
            <a:off x="6604000" y="2286000"/>
            <a:ext cx="5054600" cy="2477601"/>
          </a:xfrm>
          <a:prstGeom prst="rect">
            <a:avLst/>
          </a:prstGeom>
          <a:noFill/>
        </p:spPr>
        <p:txBody>
          <a:bodyPr vert="horz" wrap="square" lIns="0" tIns="0" rIns="0" bIns="0" rtlCol="0">
            <a:spAutoFit/>
          </a:bodyPr>
          <a:lstStyle/>
          <a:p>
            <a:r>
              <a:rPr lang="es-ES" sz="2300">
                <a:solidFill>
                  <a:srgbClr val="203447"/>
                </a:solidFill>
                <a:latin typeface="Aptos" panose="020B0004020202020204" pitchFamily="34" charset="0"/>
              </a:rPr>
              <a:t>Validar el MVP e implementar el núcleo</a:t>
            </a:r>
          </a:p>
          <a:p>
            <a:endParaRPr lang="es-ES" sz="2300">
              <a:solidFill>
                <a:srgbClr val="203447"/>
              </a:solidFill>
              <a:latin typeface="Aptos" panose="020B0004020202020204" pitchFamily="34" charset="0"/>
            </a:endParaRPr>
          </a:p>
          <a:p>
            <a:r>
              <a:rPr lang="es-ES" sz="2300">
                <a:solidFill>
                  <a:srgbClr val="203447"/>
                </a:solidFill>
                <a:latin typeface="Aptos" panose="020B0004020202020204" pitchFamily="34" charset="0"/>
              </a:rPr>
              <a:t>Documentar la API con Swagger</a:t>
            </a:r>
          </a:p>
          <a:p>
            <a:endParaRPr lang="es-ES" sz="2300">
              <a:solidFill>
                <a:srgbClr val="203447"/>
              </a:solidFill>
              <a:latin typeface="Aptos" panose="020B0004020202020204" pitchFamily="34" charset="0"/>
            </a:endParaRPr>
          </a:p>
          <a:p>
            <a:r>
              <a:rPr lang="es-ES" sz="2300">
                <a:solidFill>
                  <a:srgbClr val="203447"/>
                </a:solidFill>
                <a:latin typeface="Aptos" panose="020B0004020202020204" pitchFamily="34" charset="0"/>
              </a:rPr>
              <a:t>Desplegar el entorno de pruebas</a:t>
            </a:r>
          </a:p>
          <a:p>
            <a:endParaRPr lang="es-ES" sz="2300">
              <a:solidFill>
                <a:srgbClr val="203447"/>
              </a:solidFill>
              <a:latin typeface="Aptos" panose="020B0004020202020204" pitchFamily="34" charset="0"/>
            </a:endParaRPr>
          </a:p>
          <a:p>
            <a:r>
              <a:rPr lang="es-ES" sz="2300">
                <a:solidFill>
                  <a:srgbClr val="203447"/>
                </a:solidFill>
                <a:latin typeface="Aptos" panose="020B0004020202020204" pitchFamily="34" charset="0"/>
              </a:rPr>
              <a:t>Ejecutar y registrar mediciones</a:t>
            </a:r>
          </a:p>
        </p:txBody>
      </p:sp>
    </p:spTree>
    <p:extLst>
      <p:ext uri="{BB962C8B-B14F-4D97-AF65-F5344CB8AC3E}">
        <p14:creationId xmlns:p14="http://schemas.microsoft.com/office/powerpoint/2010/main" val="389305261"/>
      </p:ext>
    </p:extLst>
  </p:cSld>
  <p:clrMapOvr>
    <a:masterClrMapping/>
  </p:clrMapOvr>
</p:sld>
</file>

<file path=ppt/theme/theme1.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2832</Words>
  <Application>Microsoft Office PowerPoint</Application>
  <PresentationFormat>Personalizado</PresentationFormat>
  <Paragraphs>363</Paragraphs>
  <Slides>18</Slides>
  <Notes>18</Notes>
  <HiddenSlides>0</HiddenSlides>
  <MMClips>0</MMClips>
  <ScaleCrop>false</ScaleCrop>
  <HeadingPairs>
    <vt:vector size="6" baseType="variant">
      <vt:variant>
        <vt:lpstr>Fuentes usadas</vt:lpstr>
      </vt:variant>
      <vt:variant>
        <vt:i4>3</vt:i4>
      </vt:variant>
      <vt:variant>
        <vt:lpstr>Tema</vt:lpstr>
      </vt:variant>
      <vt:variant>
        <vt:i4>1</vt:i4>
      </vt:variant>
      <vt:variant>
        <vt:lpstr>Títulos de diapositiva</vt:lpstr>
      </vt:variant>
      <vt:variant>
        <vt:i4>18</vt:i4>
      </vt:variant>
    </vt:vector>
  </HeadingPairs>
  <TitlesOfParts>
    <vt:vector size="22" baseType="lpstr">
      <vt:lpstr>Aptos</vt:lpstr>
      <vt:lpstr>Aptos Display</vt:lpstr>
      <vt:lpstr>Arial</vt:lpstr>
      <vt:lpstr>Tema de Office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User</dc:creator>
  <cp:lastModifiedBy>User</cp:lastModifiedBy>
  <cp:revision>1</cp:revision>
  <dcterms:created xsi:type="dcterms:W3CDTF">2026-10-30T13:40:37Z</dcterms:created>
  <dcterms:modified xsi:type="dcterms:W3CDTF">2026-10-30T13:40:37Z</dcterms:modified>
</cp:coreProperties>
</file>