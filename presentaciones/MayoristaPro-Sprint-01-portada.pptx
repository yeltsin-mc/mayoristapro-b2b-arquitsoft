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08D197-ECB9-45D2-9A83-E0B1BD35195C}" type="datetimeFigureOut">
              <a:rPr lang="es-ES" smtClean="0"/>
              <a:t>30/10/2026</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EAA014-8555-4C6F-8C2F-E93F1E345AD9}" type="slidenum">
              <a:rPr lang="es-ES" smtClean="0"/>
              <a:t>‹Nº›</a:t>
            </a:fld>
            <a:endParaRPr lang="es-ES"/>
          </a:p>
        </p:txBody>
      </p:sp>
    </p:spTree>
    <p:extLst>
      <p:ext uri="{BB962C8B-B14F-4D97-AF65-F5344CB8AC3E}">
        <p14:creationId xmlns:p14="http://schemas.microsoft.com/office/powerpoint/2010/main" val="19286753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Presentar el proyecto como una propuesta de plataforma mayorista para empresas en Ayacucho. Esta entrega corresponde al diseño del Sprint 01. Las funcionalidades y metas aún requieren implementación y validación.</a:t>
            </a:r>
          </a:p>
          <a:p>
            <a:endParaRPr lang="es-ES"/>
          </a:p>
          <a:p>
            <a:r>
              <a:rPr lang="es-ES"/>
              <a:t>Fuente: README.md</a:t>
            </a:r>
          </a:p>
          <a:p>
            <a:r>
              <a:rPr lang="es-ES"/>
              <a:t>Escudo: Universidad Nacional de San Cristóbal de Huamanga. Archivo original sin alteraciones, escalado proporcionalmente. Fuente: https://commons.wikimedia.org/wiki/File:Escudo_de_la_UNSCH.png . Licencia CC BY-SA 4.0: https://creativecommons.org/licenses/by-sa/4.0/ . Referencia institucional: https://enlinea.unsch.edu.pe/identidad/</a:t>
            </a:r>
          </a:p>
        </p:txBody>
      </p:sp>
      <p:sp>
        <p:nvSpPr>
          <p:cNvPr id="4" name="Marcador de número de diapositiva 3"/>
          <p:cNvSpPr>
            <a:spLocks noGrp="1"/>
          </p:cNvSpPr>
          <p:nvPr>
            <p:ph type="sldNum" sz="quarter" idx="5"/>
          </p:nvPr>
        </p:nvSpPr>
        <p:spPr/>
        <p:txBody>
          <a:bodyPr/>
          <a:lstStyle/>
          <a:p>
            <a:fld id="{9FEAA014-8555-4C6F-8C2F-E93F1E345AD9}" type="slidenum">
              <a:rPr lang="es-ES" smtClean="0"/>
              <a:t>1</a:t>
            </a:fld>
            <a:endParaRPr lang="es-ES"/>
          </a:p>
        </p:txBody>
      </p:sp>
    </p:spTree>
    <p:extLst>
      <p:ext uri="{BB962C8B-B14F-4D97-AF65-F5344CB8AC3E}">
        <p14:creationId xmlns:p14="http://schemas.microsoft.com/office/powerpoint/2010/main" val="42913862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Explicar las necesidades que motivan la propuesta: encontrar proveedores y reunir precios, mínimos y condiciones para decidir una compra. Ejemplo: una librería necesita útiles de varios tipos y busca una oferta que pueda atender su pedido. Estos supuestos requieren validación con negocios locales. No presentar estadísticas de mercado que el proyecto no ha medido.</a:t>
            </a:r>
          </a:p>
          <a:p>
            <a:endParaRPr lang="es-ES"/>
          </a:p>
          <a:p>
            <a:r>
              <a:rPr lang="es-ES"/>
              <a:t>Fuente: README.md</a:t>
            </a:r>
          </a:p>
        </p:txBody>
      </p:sp>
      <p:sp>
        <p:nvSpPr>
          <p:cNvPr id="4" name="Marcador de número de diapositiva 3"/>
          <p:cNvSpPr>
            <a:spLocks noGrp="1"/>
          </p:cNvSpPr>
          <p:nvPr>
            <p:ph type="sldNum" sz="quarter" idx="5"/>
          </p:nvPr>
        </p:nvSpPr>
        <p:spPr/>
        <p:txBody>
          <a:bodyPr/>
          <a:lstStyle/>
          <a:p>
            <a:fld id="{9FEAA014-8555-4C6F-8C2F-E93F1E345AD9}" type="slidenum">
              <a:rPr lang="es-ES" smtClean="0"/>
              <a:t>2</a:t>
            </a:fld>
            <a:endParaRPr lang="es-ES"/>
          </a:p>
        </p:txBody>
      </p:sp>
    </p:spTree>
    <p:extLst>
      <p:ext uri="{BB962C8B-B14F-4D97-AF65-F5344CB8AC3E}">
        <p14:creationId xmlns:p14="http://schemas.microsoft.com/office/powerpoint/2010/main" val="40398797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Describir una plataforma web entre empresas. El comprador reúne su solicitud y acepta condiciones; el proveedor responde y atiende el pedido. El sistema conserva los precios acordados y reserva existencias al crear el pedido. La plataforma no ofrece transporte propio ni custodia fondos.</a:t>
            </a:r>
          </a:p>
          <a:p>
            <a:endParaRPr lang="es-ES"/>
          </a:p>
          <a:p>
            <a:r>
              <a:rPr lang="es-ES"/>
              <a:t>Fuente: README.md</a:t>
            </a:r>
          </a:p>
        </p:txBody>
      </p:sp>
      <p:sp>
        <p:nvSpPr>
          <p:cNvPr id="4" name="Marcador de número de diapositiva 3"/>
          <p:cNvSpPr>
            <a:spLocks noGrp="1"/>
          </p:cNvSpPr>
          <p:nvPr>
            <p:ph type="sldNum" sz="quarter" idx="5"/>
          </p:nvPr>
        </p:nvSpPr>
        <p:spPr/>
        <p:txBody>
          <a:bodyPr/>
          <a:lstStyle/>
          <a:p>
            <a:fld id="{9FEAA014-8555-4C6F-8C2F-E93F1E345AD9}" type="slidenum">
              <a:rPr lang="es-ES" smtClean="0"/>
              <a:t>3</a:t>
            </a:fld>
            <a:endParaRPr lang="es-ES"/>
          </a:p>
        </p:txBody>
      </p:sp>
    </p:spTree>
    <p:extLst>
      <p:ext uri="{BB962C8B-B14F-4D97-AF65-F5344CB8AC3E}">
        <p14:creationId xmlns:p14="http://schemas.microsoft.com/office/powerpoint/2010/main" val="11867971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Distinguir personas de sistemas externos. El proveedor es una empresa que puede tener varios usuarios autorizados. Comprador y proveedor comparten acceso a su pedido, pero no a información privada de otras empresas. El administrador verifica y supervisa.</a:t>
            </a:r>
          </a:p>
          <a:p>
            <a:endParaRPr lang="es-ES"/>
          </a:p>
          <a:p>
            <a:r>
              <a:rPr lang="es-ES"/>
              <a:t>Fuente: docs/01-analisis-de-sistema/01-actores.md</a:t>
            </a:r>
          </a:p>
        </p:txBody>
      </p:sp>
      <p:sp>
        <p:nvSpPr>
          <p:cNvPr id="4" name="Marcador de número de diapositiva 3"/>
          <p:cNvSpPr>
            <a:spLocks noGrp="1"/>
          </p:cNvSpPr>
          <p:nvPr>
            <p:ph type="sldNum" sz="quarter" idx="5"/>
          </p:nvPr>
        </p:nvSpPr>
        <p:spPr/>
        <p:txBody>
          <a:bodyPr/>
          <a:lstStyle/>
          <a:p>
            <a:fld id="{9FEAA014-8555-4C6F-8C2F-E93F1E345AD9}" type="slidenum">
              <a:rPr lang="es-ES" smtClean="0"/>
              <a:t>4</a:t>
            </a:fld>
            <a:endParaRPr lang="es-ES"/>
          </a:p>
        </p:txBody>
      </p:sp>
    </p:spTree>
    <p:extLst>
      <p:ext uri="{BB962C8B-B14F-4D97-AF65-F5344CB8AC3E}">
        <p14:creationId xmlns:p14="http://schemas.microsoft.com/office/powerpoint/2010/main" val="37157799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MVP significa producto mínimo viable. El núcleo propuesto conserva el proceso de compra y reduce integraciones iniciales. La modalidad de pagos y la inclusión de IA deben validarse con la docente según la rúbrica. La primera versión puede abarcar varios sprints. No prometer fecha o costo sin estimar horas y recursos.</a:t>
            </a:r>
          </a:p>
          <a:p>
            <a:endParaRPr lang="es-ES"/>
          </a:p>
          <a:p>
            <a:r>
              <a:rPr lang="es-ES"/>
              <a:t>Fuente: README.md</a:t>
            </a:r>
          </a:p>
        </p:txBody>
      </p:sp>
      <p:sp>
        <p:nvSpPr>
          <p:cNvPr id="4" name="Marcador de número de diapositiva 3"/>
          <p:cNvSpPr>
            <a:spLocks noGrp="1"/>
          </p:cNvSpPr>
          <p:nvPr>
            <p:ph type="sldNum" sz="quarter" idx="5"/>
          </p:nvPr>
        </p:nvSpPr>
        <p:spPr/>
        <p:txBody>
          <a:bodyPr/>
          <a:lstStyle/>
          <a:p>
            <a:fld id="{9FEAA014-8555-4C6F-8C2F-E93F1E345AD9}" type="slidenum">
              <a:rPr lang="es-ES" smtClean="0"/>
              <a:t>5</a:t>
            </a:fld>
            <a:endParaRPr lang="es-ES"/>
          </a:p>
        </p:txBody>
      </p:sp>
    </p:spTree>
    <p:extLst>
      <p:ext uri="{BB962C8B-B14F-4D97-AF65-F5344CB8AC3E}">
        <p14:creationId xmlns:p14="http://schemas.microsoft.com/office/powerpoint/2010/main" val="5185707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Explicar que las decisiones corresponden a perspectivas diferentes y se combinan. Cliente-servidor separa navegador y API. El monolito modular reúne los módulos comerciales en un backend desplegable. Clean Architecture separa reglas y tecnología dentro de cada módulo. El procesamiento asíncrono se propone para tareas posteriores si entran en el alcance. Se evita dividir todo el negocio en microservicios por el esfuerzo operativo adicional.</a:t>
            </a:r>
          </a:p>
          <a:p>
            <a:endParaRPr lang="es-ES"/>
          </a:p>
          <a:p>
            <a:r>
              <a:rPr lang="es-ES"/>
              <a:t>Fuente: docs/02-arquitectura-software/estilo-arquitectonico.md; docs/02-arquitectura-software/enfoque-arquitectonico.md</a:t>
            </a:r>
          </a:p>
        </p:txBody>
      </p:sp>
      <p:sp>
        <p:nvSpPr>
          <p:cNvPr id="4" name="Marcador de número de diapositiva 3"/>
          <p:cNvSpPr>
            <a:spLocks noGrp="1"/>
          </p:cNvSpPr>
          <p:nvPr>
            <p:ph type="sldNum" sz="quarter" idx="5"/>
          </p:nvPr>
        </p:nvSpPr>
        <p:spPr/>
        <p:txBody>
          <a:bodyPr/>
          <a:lstStyle/>
          <a:p>
            <a:fld id="{9FEAA014-8555-4C6F-8C2F-E93F1E345AD9}" type="slidenum">
              <a:rPr lang="es-ES" smtClean="0"/>
              <a:t>6</a:t>
            </a:fld>
            <a:endParaRPr lang="es-ES"/>
          </a:p>
        </p:txBody>
      </p:sp>
    </p:spTree>
    <p:extLst>
      <p:ext uri="{BB962C8B-B14F-4D97-AF65-F5344CB8AC3E}">
        <p14:creationId xmlns:p14="http://schemas.microsoft.com/office/powerpoint/2010/main" val="33476121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Recorrer el ejemplo: el controlador recibe HTTP, el caso de uso autoriza y coordina, el dominio valida cantidades y estados y los adaptadores ejecutan persistencia e integraciones. Las flechas muestran dependencias del código: infraestructura implementa puertos internos. La composición de NestJS conecta las implementaciones. El dominio no importa el ORM ni SDK de pagos.</a:t>
            </a:r>
          </a:p>
          <a:p>
            <a:endParaRPr lang="es-ES"/>
          </a:p>
          <a:p>
            <a:r>
              <a:rPr lang="es-ES"/>
              <a:t>Fuente: docs/02-arquitectura-software/enfoque-arquitectonico.md</a:t>
            </a:r>
          </a:p>
        </p:txBody>
      </p:sp>
      <p:sp>
        <p:nvSpPr>
          <p:cNvPr id="4" name="Marcador de número de diapositiva 3"/>
          <p:cNvSpPr>
            <a:spLocks noGrp="1"/>
          </p:cNvSpPr>
          <p:nvPr>
            <p:ph type="sldNum" sz="quarter" idx="5"/>
          </p:nvPr>
        </p:nvSpPr>
        <p:spPr/>
        <p:txBody>
          <a:bodyPr/>
          <a:lstStyle/>
          <a:p>
            <a:fld id="{9FEAA014-8555-4C6F-8C2F-E93F1E345AD9}" type="slidenum">
              <a:rPr lang="es-ES" smtClean="0"/>
              <a:t>7</a:t>
            </a:fld>
            <a:endParaRPr lang="es-ES"/>
          </a:p>
        </p:txBody>
      </p:sp>
    </p:spTree>
    <p:extLst>
      <p:ext uri="{BB962C8B-B14F-4D97-AF65-F5344CB8AC3E}">
        <p14:creationId xmlns:p14="http://schemas.microsoft.com/office/powerpoint/2010/main" val="4204914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Esta vista trata MayoristaPro como un único sistema. Identificar primero sus tres actores y después las integraciones de la visión general. El proceso Python de recomendación es propio, por lo que aparece dentro del sistema en el nivel 2. Los diagramas completos están en los anexos.</a:t>
            </a:r>
          </a:p>
          <a:p>
            <a:endParaRPr lang="es-ES"/>
          </a:p>
          <a:p>
            <a:r>
              <a:rPr lang="es-ES"/>
              <a:t>Fuente: docs/04-modelo-c4/Nivel1-Diagrama-de-Contexto.md</a:t>
            </a:r>
          </a:p>
        </p:txBody>
      </p:sp>
      <p:sp>
        <p:nvSpPr>
          <p:cNvPr id="4" name="Marcador de número de diapositiva 3"/>
          <p:cNvSpPr>
            <a:spLocks noGrp="1"/>
          </p:cNvSpPr>
          <p:nvPr>
            <p:ph type="sldNum" sz="quarter" idx="5"/>
          </p:nvPr>
        </p:nvSpPr>
        <p:spPr/>
        <p:txBody>
          <a:bodyPr/>
          <a:lstStyle/>
          <a:p>
            <a:fld id="{9FEAA014-8555-4C6F-8C2F-E93F1E345AD9}" type="slidenum">
              <a:rPr lang="es-ES" smtClean="0"/>
              <a:t>8</a:t>
            </a:fld>
            <a:endParaRPr lang="es-ES"/>
          </a:p>
        </p:txBody>
      </p:sp>
    </p:spTree>
    <p:extLst>
      <p:ext uri="{BB962C8B-B14F-4D97-AF65-F5344CB8AC3E}">
        <p14:creationId xmlns:p14="http://schemas.microsoft.com/office/powerpoint/2010/main" val="28744509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En C4 un contenedor es una aplicación o almacén de datos. La base inicial propuesta es Angular, la API NestJS y PostgreSQL. La visión completa añade Redis, S3, Python y SQS con workers. Su incorporación depende del alcance validado. No se expone PostgreSQL ni Python directamente al navegador.</a:t>
            </a:r>
          </a:p>
          <a:p>
            <a:endParaRPr lang="es-ES"/>
          </a:p>
          <a:p>
            <a:r>
              <a:rPr lang="es-ES"/>
              <a:t>Fuente: docs/04-modelo-c4/Nivel2-Diagrama-de-Contenedores.md; README.md</a:t>
            </a:r>
          </a:p>
        </p:txBody>
      </p:sp>
      <p:sp>
        <p:nvSpPr>
          <p:cNvPr id="4" name="Marcador de número de diapositiva 3"/>
          <p:cNvSpPr>
            <a:spLocks noGrp="1"/>
          </p:cNvSpPr>
          <p:nvPr>
            <p:ph type="sldNum" sz="quarter" idx="5"/>
          </p:nvPr>
        </p:nvSpPr>
        <p:spPr/>
        <p:txBody>
          <a:bodyPr/>
          <a:lstStyle/>
          <a:p>
            <a:fld id="{9FEAA014-8555-4C6F-8C2F-E93F1E345AD9}" type="slidenum">
              <a:rPr lang="es-ES" smtClean="0"/>
              <a:t>9</a:t>
            </a:fld>
            <a:endParaRPr lang="es-ES"/>
          </a:p>
        </p:txBody>
      </p:sp>
    </p:spTree>
    <p:extLst>
      <p:ext uri="{BB962C8B-B14F-4D97-AF65-F5344CB8AC3E}">
        <p14:creationId xmlns:p14="http://schemas.microsoft.com/office/powerpoint/2010/main" val="17982228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Abrir la API comercial del nivel anterior. Cada caja representa un módulo lógico del mismo backend. Pedidos obtiene la oferta de Cotizaciones y reserva stock mediante Productos. Pagos coordina la pasarela cuando esa integración forma parte de la entrega. Las colaboraciones usan contratos públicos, sin leer tablas privadas de otros módulos.</a:t>
            </a:r>
          </a:p>
          <a:p>
            <a:endParaRPr lang="es-ES"/>
          </a:p>
          <a:p>
            <a:r>
              <a:rPr lang="es-ES"/>
              <a:t>Fuente: docs/04-modelo-c4/Nivel3-Diagrama-de-Componentes.md</a:t>
            </a:r>
          </a:p>
        </p:txBody>
      </p:sp>
      <p:sp>
        <p:nvSpPr>
          <p:cNvPr id="4" name="Marcador de número de diapositiva 3"/>
          <p:cNvSpPr>
            <a:spLocks noGrp="1"/>
          </p:cNvSpPr>
          <p:nvPr>
            <p:ph type="sldNum" sz="quarter" idx="5"/>
          </p:nvPr>
        </p:nvSpPr>
        <p:spPr/>
        <p:txBody>
          <a:bodyPr/>
          <a:lstStyle/>
          <a:p>
            <a:fld id="{9FEAA014-8555-4C6F-8C2F-E93F1E345AD9}" type="slidenum">
              <a:rPr lang="es-ES" smtClean="0"/>
              <a:t>10</a:t>
            </a:fld>
            <a:endParaRPr lang="es-ES"/>
          </a:p>
        </p:txBody>
      </p:sp>
    </p:spTree>
    <p:extLst>
      <p:ext uri="{BB962C8B-B14F-4D97-AF65-F5344CB8AC3E}">
        <p14:creationId xmlns:p14="http://schemas.microsoft.com/office/powerpoint/2010/main" val="27881932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Vista resumida de clases con objetos editables. El controlador usa CrearPedidoUseCase, que coordina puertos y crea Pedido. Pedido contiene al menos un ItemPedido. PostgresOrderRepository implementa OrderRepository. El diseño completo añade unidad de trabajo, stock, cotizaciones y confirmación de pago. Las firmas definitivas corresponden a la implementación.</a:t>
            </a:r>
          </a:p>
          <a:p>
            <a:endParaRPr lang="es-ES"/>
          </a:p>
          <a:p>
            <a:r>
              <a:rPr lang="es-ES"/>
              <a:t>Fuente: docs/04-modelo-c4/Nivel4-Diagrama-de-Codigo.md</a:t>
            </a:r>
          </a:p>
        </p:txBody>
      </p:sp>
      <p:sp>
        <p:nvSpPr>
          <p:cNvPr id="4" name="Marcador de número de diapositiva 3"/>
          <p:cNvSpPr>
            <a:spLocks noGrp="1"/>
          </p:cNvSpPr>
          <p:nvPr>
            <p:ph type="sldNum" sz="quarter" idx="5"/>
          </p:nvPr>
        </p:nvSpPr>
        <p:spPr/>
        <p:txBody>
          <a:bodyPr/>
          <a:lstStyle/>
          <a:p>
            <a:fld id="{9FEAA014-8555-4C6F-8C2F-E93F1E345AD9}" type="slidenum">
              <a:rPr lang="es-ES" smtClean="0"/>
              <a:t>11</a:t>
            </a:fld>
            <a:endParaRPr lang="es-ES"/>
          </a:p>
        </p:txBody>
      </p:sp>
    </p:spTree>
    <p:extLst>
      <p:ext uri="{BB962C8B-B14F-4D97-AF65-F5344CB8AC3E}">
        <p14:creationId xmlns:p14="http://schemas.microsoft.com/office/powerpoint/2010/main" val="37912463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Modelo resumido del flujo, con relaciones y entidades editables. Cada empresa agrupa usuarios. El proveedor publica productos. Una cotización tiene respuestas y una oferta aceptada origina como máximo un pedido. Los ítems conservan precios históricos y las reservas vinculan pedido y producto. El esquema completo incluye destinatarios, detalles de cotización, pagos y auditoría. Cada pedido corresponde a un comprador y un proveedor.</a:t>
            </a:r>
          </a:p>
          <a:p>
            <a:endParaRPr lang="es-ES"/>
          </a:p>
          <a:p>
            <a:r>
              <a:rPr lang="es-ES"/>
              <a:t>Fuente: docs/03-diseno-de-software/esquema-base-de-datos.md</a:t>
            </a:r>
          </a:p>
        </p:txBody>
      </p:sp>
      <p:sp>
        <p:nvSpPr>
          <p:cNvPr id="4" name="Marcador de número de diapositiva 3"/>
          <p:cNvSpPr>
            <a:spLocks noGrp="1"/>
          </p:cNvSpPr>
          <p:nvPr>
            <p:ph type="sldNum" sz="quarter" idx="5"/>
          </p:nvPr>
        </p:nvSpPr>
        <p:spPr/>
        <p:txBody>
          <a:bodyPr/>
          <a:lstStyle/>
          <a:p>
            <a:fld id="{9FEAA014-8555-4C6F-8C2F-E93F1E345AD9}" type="slidenum">
              <a:rPr lang="es-ES" smtClean="0"/>
              <a:t>12</a:t>
            </a:fld>
            <a:endParaRPr lang="es-ES"/>
          </a:p>
        </p:txBody>
      </p:sp>
    </p:spTree>
    <p:extLst>
      <p:ext uri="{BB962C8B-B14F-4D97-AF65-F5344CB8AC3E}">
        <p14:creationId xmlns:p14="http://schemas.microsoft.com/office/powerpoint/2010/main" val="22422963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Explicar la regla crítica: pedido, ítems, reserva y descuento de stock disponible pertenecen a una misma transacción y conexión. Ante fallo se revierte todo. Bloquear productos de forma ordenada y validar condiciones evita sobreventa. El pago externo sucede después del commit y necesita referencias persistidas, idempotencia y reconciliación. Un timeout de pago conserva incertidumbre y no autoriza liberar automáticamente la reserva.</a:t>
            </a:r>
          </a:p>
          <a:p>
            <a:endParaRPr lang="es-ES"/>
          </a:p>
          <a:p>
            <a:r>
              <a:rPr lang="es-ES"/>
              <a:t>Fuente: docs/03-diseno-de-software/esquema-base-de-datos.md; docs/04-modelo-c4/Nivel4-Diagrama-de-Codigo.md</a:t>
            </a:r>
          </a:p>
        </p:txBody>
      </p:sp>
      <p:sp>
        <p:nvSpPr>
          <p:cNvPr id="4" name="Marcador de número de diapositiva 3"/>
          <p:cNvSpPr>
            <a:spLocks noGrp="1"/>
          </p:cNvSpPr>
          <p:nvPr>
            <p:ph type="sldNum" sz="quarter" idx="5"/>
          </p:nvPr>
        </p:nvSpPr>
        <p:spPr/>
        <p:txBody>
          <a:bodyPr/>
          <a:lstStyle/>
          <a:p>
            <a:fld id="{9FEAA014-8555-4C6F-8C2F-E93F1E345AD9}" type="slidenum">
              <a:rPr lang="es-ES" smtClean="0"/>
              <a:t>13</a:t>
            </a:fld>
            <a:endParaRPr lang="es-ES"/>
          </a:p>
        </p:txBody>
      </p:sp>
    </p:spTree>
    <p:extLst>
      <p:ext uri="{BB962C8B-B14F-4D97-AF65-F5344CB8AC3E}">
        <p14:creationId xmlns:p14="http://schemas.microsoft.com/office/powerpoint/2010/main" val="26900006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Todas las cifras son metas propuestas, no resultados. p95 significa que al menos 95% de solicitudes medidas cumple el límite. Los dos mil usuarios son usuarios virtuales activos con pausas, no dos mil solicitudes por segundo. La disponibilidad requiere observación mensual. Para seguridad, la aprobación se limita a la matriz de casos ejecutada.</a:t>
            </a:r>
          </a:p>
          <a:p>
            <a:endParaRPr lang="es-ES"/>
          </a:p>
          <a:p>
            <a:r>
              <a:rPr lang="es-ES"/>
              <a:t>Fuente: docs/01-analisis-de-sistema/04-atributos-de-calidad.md; docs/01-analisis-de-sistema/08-escenarios-atributos-calidad.md</a:t>
            </a:r>
          </a:p>
        </p:txBody>
      </p:sp>
      <p:sp>
        <p:nvSpPr>
          <p:cNvPr id="4" name="Marcador de número de diapositiva 3"/>
          <p:cNvSpPr>
            <a:spLocks noGrp="1"/>
          </p:cNvSpPr>
          <p:nvPr>
            <p:ph type="sldNum" sz="quarter" idx="5"/>
          </p:nvPr>
        </p:nvSpPr>
        <p:spPr/>
        <p:txBody>
          <a:bodyPr/>
          <a:lstStyle/>
          <a:p>
            <a:fld id="{9FEAA014-8555-4C6F-8C2F-E93F1E345AD9}" type="slidenum">
              <a:rPr lang="es-ES" smtClean="0"/>
              <a:t>14</a:t>
            </a:fld>
            <a:endParaRPr lang="es-ES"/>
          </a:p>
        </p:txBody>
      </p:sp>
    </p:spTree>
    <p:extLst>
      <p:ext uri="{BB962C8B-B14F-4D97-AF65-F5344CB8AC3E}">
        <p14:creationId xmlns:p14="http://schemas.microsoft.com/office/powerpoint/2010/main" val="17504352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Describir el procedimiento y las herramientas. k6 se ejecuta separado del backend. El perfil propone mesetas de cinco minutos en 500, mil y dos mil usuarios, con subidas de dos minutos y pausas de dos segundos. Se evalúa por endpoint y meseta, separando calentamiento. CloudWatch correlaciona recursos y latencia. La prueba de stock usa quinientos compradores distintos, una creación por comprador y cien unidades iniciales. Las respuestas de negocio esperadas se contabilizan aparte de los errores técnicos. Disponibilidad se observa un mes. Guardar versión, configuración, scripts, métricas y consultas. Los casos de desarrollo comienzan antes del despliegue.</a:t>
            </a:r>
          </a:p>
          <a:p>
            <a:endParaRPr lang="es-ES"/>
          </a:p>
          <a:p>
            <a:r>
              <a:rPr lang="es-ES"/>
              <a:t>Fuente: docs/01-analisis-de-sistema/09-plan-de-medicion-calidad.md</a:t>
            </a:r>
          </a:p>
        </p:txBody>
      </p:sp>
      <p:sp>
        <p:nvSpPr>
          <p:cNvPr id="4" name="Marcador de número de diapositiva 3"/>
          <p:cNvSpPr>
            <a:spLocks noGrp="1"/>
          </p:cNvSpPr>
          <p:nvPr>
            <p:ph type="sldNum" sz="quarter" idx="5"/>
          </p:nvPr>
        </p:nvSpPr>
        <p:spPr/>
        <p:txBody>
          <a:bodyPr/>
          <a:lstStyle/>
          <a:p>
            <a:fld id="{9FEAA014-8555-4C6F-8C2F-E93F1E345AD9}" type="slidenum">
              <a:rPr lang="es-ES" smtClean="0"/>
              <a:t>15</a:t>
            </a:fld>
            <a:endParaRPr lang="es-ES"/>
          </a:p>
        </p:txBody>
      </p:sp>
    </p:spTree>
    <p:extLst>
      <p:ext uri="{BB962C8B-B14F-4D97-AF65-F5344CB8AC3E}">
        <p14:creationId xmlns:p14="http://schemas.microsoft.com/office/powerpoint/2010/main" val="10933012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Cerrar conectando la documentación con el trabajo posterior. El Sprint 01 entrega análisis, decisiones y diseño. A continuación se valida el alcance del MVP y se implementa el núcleo con sus pruebas. Swagger/OpenAPI pertenece al Sprint 02. La evaluación real de capacidad requiere desplegar el software y conservar evidencias. El presupuesto y las horas disponibles todavía requieren estimación. No prometer todas las integraciones de la visión general en una sola entrega.</a:t>
            </a:r>
          </a:p>
          <a:p>
            <a:endParaRPr lang="es-ES"/>
          </a:p>
          <a:p>
            <a:r>
              <a:rPr lang="es-ES"/>
              <a:t>Fuente: README.md</a:t>
            </a:r>
          </a:p>
        </p:txBody>
      </p:sp>
      <p:sp>
        <p:nvSpPr>
          <p:cNvPr id="4" name="Marcador de número de diapositiva 3"/>
          <p:cNvSpPr>
            <a:spLocks noGrp="1"/>
          </p:cNvSpPr>
          <p:nvPr>
            <p:ph type="sldNum" sz="quarter" idx="5"/>
          </p:nvPr>
        </p:nvSpPr>
        <p:spPr/>
        <p:txBody>
          <a:bodyPr/>
          <a:lstStyle/>
          <a:p>
            <a:fld id="{9FEAA014-8555-4C6F-8C2F-E93F1E345AD9}" type="slidenum">
              <a:rPr lang="es-ES" smtClean="0"/>
              <a:t>16</a:t>
            </a:fld>
            <a:endParaRPr lang="es-ES"/>
          </a:p>
        </p:txBody>
      </p:sp>
    </p:spTree>
    <p:extLst>
      <p:ext uri="{BB962C8B-B14F-4D97-AF65-F5344CB8AC3E}">
        <p14:creationId xmlns:p14="http://schemas.microsoft.com/office/powerpoint/2010/main" val="32503896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Diagrama completo de consulta. Corresponde a la visión general del diseño y no obliga a desplegar todos los componentes en el MVP. Consultar este anexo ante preguntas sobre detalles y ampliar en PowerPoint para leer sus etiquetas.</a:t>
            </a:r>
          </a:p>
          <a:p>
            <a:endParaRPr lang="es-ES"/>
          </a:p>
          <a:p>
            <a:r>
              <a:rPr lang="es-ES"/>
              <a:t>Fuente: img/nivel1-contexto.png</a:t>
            </a:r>
          </a:p>
        </p:txBody>
      </p:sp>
      <p:sp>
        <p:nvSpPr>
          <p:cNvPr id="4" name="Marcador de número de diapositiva 3"/>
          <p:cNvSpPr>
            <a:spLocks noGrp="1"/>
          </p:cNvSpPr>
          <p:nvPr>
            <p:ph type="sldNum" sz="quarter" idx="5"/>
          </p:nvPr>
        </p:nvSpPr>
        <p:spPr/>
        <p:txBody>
          <a:bodyPr/>
          <a:lstStyle/>
          <a:p>
            <a:fld id="{9FEAA014-8555-4C6F-8C2F-E93F1E345AD9}" type="slidenum">
              <a:rPr lang="es-ES" smtClean="0"/>
              <a:t>17</a:t>
            </a:fld>
            <a:endParaRPr lang="es-ES"/>
          </a:p>
        </p:txBody>
      </p:sp>
    </p:spTree>
    <p:extLst>
      <p:ext uri="{BB962C8B-B14F-4D97-AF65-F5344CB8AC3E}">
        <p14:creationId xmlns:p14="http://schemas.microsoft.com/office/powerpoint/2010/main" val="41430151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Diagrama completo de consulta. Corresponde a la visión general del diseño y no obliga a desplegar todos los componentes en el MVP. Consultar este anexo ante preguntas sobre detalles y ampliar en PowerPoint para leer sus etiquetas.</a:t>
            </a:r>
          </a:p>
          <a:p>
            <a:endParaRPr lang="es-ES"/>
          </a:p>
          <a:p>
            <a:r>
              <a:rPr lang="es-ES"/>
              <a:t>Fuente: img/nivel2-contenedores.png</a:t>
            </a:r>
          </a:p>
        </p:txBody>
      </p:sp>
      <p:sp>
        <p:nvSpPr>
          <p:cNvPr id="4" name="Marcador de número de diapositiva 3"/>
          <p:cNvSpPr>
            <a:spLocks noGrp="1"/>
          </p:cNvSpPr>
          <p:nvPr>
            <p:ph type="sldNum" sz="quarter" idx="5"/>
          </p:nvPr>
        </p:nvSpPr>
        <p:spPr/>
        <p:txBody>
          <a:bodyPr/>
          <a:lstStyle/>
          <a:p>
            <a:fld id="{9FEAA014-8555-4C6F-8C2F-E93F1E345AD9}" type="slidenum">
              <a:rPr lang="es-ES" smtClean="0"/>
              <a:t>18</a:t>
            </a:fld>
            <a:endParaRPr lang="es-ES"/>
          </a:p>
        </p:txBody>
      </p:sp>
    </p:spTree>
    <p:extLst>
      <p:ext uri="{BB962C8B-B14F-4D97-AF65-F5344CB8AC3E}">
        <p14:creationId xmlns:p14="http://schemas.microsoft.com/office/powerpoint/2010/main" val="6801462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Diagrama completo de consulta. Corresponde a la visión general del diseño y no obliga a desplegar todos los componentes en el MVP. Consultar este anexo ante preguntas sobre detalles y ampliar en PowerPoint para leer sus etiquetas.</a:t>
            </a:r>
          </a:p>
          <a:p>
            <a:endParaRPr lang="es-ES"/>
          </a:p>
          <a:p>
            <a:r>
              <a:rPr lang="es-ES"/>
              <a:t>Fuente: img/nivel3-componentes.png</a:t>
            </a:r>
          </a:p>
        </p:txBody>
      </p:sp>
      <p:sp>
        <p:nvSpPr>
          <p:cNvPr id="4" name="Marcador de número de diapositiva 3"/>
          <p:cNvSpPr>
            <a:spLocks noGrp="1"/>
          </p:cNvSpPr>
          <p:nvPr>
            <p:ph type="sldNum" sz="quarter" idx="5"/>
          </p:nvPr>
        </p:nvSpPr>
        <p:spPr/>
        <p:txBody>
          <a:bodyPr/>
          <a:lstStyle/>
          <a:p>
            <a:fld id="{9FEAA014-8555-4C6F-8C2F-E93F1E345AD9}" type="slidenum">
              <a:rPr lang="es-ES" smtClean="0"/>
              <a:t>19</a:t>
            </a:fld>
            <a:endParaRPr lang="es-ES"/>
          </a:p>
        </p:txBody>
      </p:sp>
    </p:spTree>
    <p:extLst>
      <p:ext uri="{BB962C8B-B14F-4D97-AF65-F5344CB8AC3E}">
        <p14:creationId xmlns:p14="http://schemas.microsoft.com/office/powerpoint/2010/main" val="10455482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Diagrama completo de consulta. Corresponde a la visión general del diseño y no obliga a desplegar todos los componentes en el MVP. Consultar este anexo ante preguntas sobre detalles y ampliar en PowerPoint para leer sus etiquetas.</a:t>
            </a:r>
          </a:p>
          <a:p>
            <a:endParaRPr lang="es-ES"/>
          </a:p>
          <a:p>
            <a:r>
              <a:rPr lang="es-ES"/>
              <a:t>Fuente: img/nivel4-clases.png</a:t>
            </a:r>
          </a:p>
        </p:txBody>
      </p:sp>
      <p:sp>
        <p:nvSpPr>
          <p:cNvPr id="4" name="Marcador de número de diapositiva 3"/>
          <p:cNvSpPr>
            <a:spLocks noGrp="1"/>
          </p:cNvSpPr>
          <p:nvPr>
            <p:ph type="sldNum" sz="quarter" idx="5"/>
          </p:nvPr>
        </p:nvSpPr>
        <p:spPr/>
        <p:txBody>
          <a:bodyPr/>
          <a:lstStyle/>
          <a:p>
            <a:fld id="{9FEAA014-8555-4C6F-8C2F-E93F1E345AD9}" type="slidenum">
              <a:rPr lang="es-ES" smtClean="0"/>
              <a:t>20</a:t>
            </a:fld>
            <a:endParaRPr lang="es-ES"/>
          </a:p>
        </p:txBody>
      </p:sp>
    </p:spTree>
    <p:extLst>
      <p:ext uri="{BB962C8B-B14F-4D97-AF65-F5344CB8AC3E}">
        <p14:creationId xmlns:p14="http://schemas.microsoft.com/office/powerpoint/2010/main" val="42103010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Diagrama completo de consulta. Corresponde a la visión general del diseño y no obliga a desplegar todos los componentes en el MVP. Consultar este anexo ante preguntas sobre detalles y ampliar en PowerPoint para leer sus etiquetas.</a:t>
            </a:r>
          </a:p>
          <a:p>
            <a:endParaRPr lang="es-ES"/>
          </a:p>
          <a:p>
            <a:r>
              <a:rPr lang="es-ES"/>
              <a:t>Fuente: img/nivel4-secuencia.png</a:t>
            </a:r>
          </a:p>
        </p:txBody>
      </p:sp>
      <p:sp>
        <p:nvSpPr>
          <p:cNvPr id="4" name="Marcador de número de diapositiva 3"/>
          <p:cNvSpPr>
            <a:spLocks noGrp="1"/>
          </p:cNvSpPr>
          <p:nvPr>
            <p:ph type="sldNum" sz="quarter" idx="5"/>
          </p:nvPr>
        </p:nvSpPr>
        <p:spPr/>
        <p:txBody>
          <a:bodyPr/>
          <a:lstStyle/>
          <a:p>
            <a:fld id="{9FEAA014-8555-4C6F-8C2F-E93F1E345AD9}" type="slidenum">
              <a:rPr lang="es-ES" smtClean="0"/>
              <a:t>21</a:t>
            </a:fld>
            <a:endParaRPr lang="es-ES"/>
          </a:p>
        </p:txBody>
      </p:sp>
    </p:spTree>
    <p:extLst>
      <p:ext uri="{BB962C8B-B14F-4D97-AF65-F5344CB8AC3E}">
        <p14:creationId xmlns:p14="http://schemas.microsoft.com/office/powerpoint/2010/main" val="15281322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A5A87EA-B617-391D-9CFB-15E85E4056F4}"/>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37F73587-E4BA-6FD2-9DC7-85840A5B17D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0FE28F2D-A353-EBAC-DBA0-C665B91241B5}"/>
              </a:ext>
            </a:extLst>
          </p:cNvPr>
          <p:cNvSpPr>
            <a:spLocks noGrp="1"/>
          </p:cNvSpPr>
          <p:nvPr>
            <p:ph type="dt" sz="half" idx="10"/>
          </p:nvPr>
        </p:nvSpPr>
        <p:spPr/>
        <p:txBody>
          <a:bodyPr/>
          <a:lstStyle/>
          <a:p>
            <a:fld id="{B7ED229A-9891-4E0B-A1E2-A9120262978C}" type="datetimeFigureOut">
              <a:rPr lang="es-ES" smtClean="0"/>
              <a:t>30/10/2026</a:t>
            </a:fld>
            <a:endParaRPr lang="es-ES"/>
          </a:p>
        </p:txBody>
      </p:sp>
      <p:sp>
        <p:nvSpPr>
          <p:cNvPr id="5" name="Marcador de pie de página 4">
            <a:extLst>
              <a:ext uri="{FF2B5EF4-FFF2-40B4-BE49-F238E27FC236}">
                <a16:creationId xmlns:a16="http://schemas.microsoft.com/office/drawing/2014/main" id="{EBCD25AB-6AC1-7AE2-598B-A9A9EB21A207}"/>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F8BEE22C-EE7A-CB70-1D9B-A0392D863897}"/>
              </a:ext>
            </a:extLst>
          </p:cNvPr>
          <p:cNvSpPr>
            <a:spLocks noGrp="1"/>
          </p:cNvSpPr>
          <p:nvPr>
            <p:ph type="sldNum" sz="quarter" idx="12"/>
          </p:nvPr>
        </p:nvSpPr>
        <p:spPr/>
        <p:txBody>
          <a:bodyPr/>
          <a:lstStyle/>
          <a:p>
            <a:fld id="{FD9028EB-C4D7-47E2-A40A-A794CB6594C4}" type="slidenum">
              <a:rPr lang="es-ES" smtClean="0"/>
              <a:t>‹Nº›</a:t>
            </a:fld>
            <a:endParaRPr lang="es-ES"/>
          </a:p>
        </p:txBody>
      </p:sp>
    </p:spTree>
    <p:extLst>
      <p:ext uri="{BB962C8B-B14F-4D97-AF65-F5344CB8AC3E}">
        <p14:creationId xmlns:p14="http://schemas.microsoft.com/office/powerpoint/2010/main" val="41295142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4E5E7C4-2E11-EA27-B867-F97D18A8CCC5}"/>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753F116E-FA8E-97BB-D6A5-777E10428E69}"/>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573E97F2-06A1-007D-7477-96B6E42BF9CC}"/>
              </a:ext>
            </a:extLst>
          </p:cNvPr>
          <p:cNvSpPr>
            <a:spLocks noGrp="1"/>
          </p:cNvSpPr>
          <p:nvPr>
            <p:ph type="dt" sz="half" idx="10"/>
          </p:nvPr>
        </p:nvSpPr>
        <p:spPr/>
        <p:txBody>
          <a:bodyPr/>
          <a:lstStyle/>
          <a:p>
            <a:fld id="{B7ED229A-9891-4E0B-A1E2-A9120262978C}" type="datetimeFigureOut">
              <a:rPr lang="es-ES" smtClean="0"/>
              <a:t>30/10/2026</a:t>
            </a:fld>
            <a:endParaRPr lang="es-ES"/>
          </a:p>
        </p:txBody>
      </p:sp>
      <p:sp>
        <p:nvSpPr>
          <p:cNvPr id="5" name="Marcador de pie de página 4">
            <a:extLst>
              <a:ext uri="{FF2B5EF4-FFF2-40B4-BE49-F238E27FC236}">
                <a16:creationId xmlns:a16="http://schemas.microsoft.com/office/drawing/2014/main" id="{EBA536B1-AE2A-852E-2F9D-AC9E29B67A07}"/>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D5A8A5A1-2EF1-075A-462A-555C35D0460E}"/>
              </a:ext>
            </a:extLst>
          </p:cNvPr>
          <p:cNvSpPr>
            <a:spLocks noGrp="1"/>
          </p:cNvSpPr>
          <p:nvPr>
            <p:ph type="sldNum" sz="quarter" idx="12"/>
          </p:nvPr>
        </p:nvSpPr>
        <p:spPr/>
        <p:txBody>
          <a:bodyPr/>
          <a:lstStyle/>
          <a:p>
            <a:fld id="{FD9028EB-C4D7-47E2-A40A-A794CB6594C4}" type="slidenum">
              <a:rPr lang="es-ES" smtClean="0"/>
              <a:t>‹Nº›</a:t>
            </a:fld>
            <a:endParaRPr lang="es-ES"/>
          </a:p>
        </p:txBody>
      </p:sp>
    </p:spTree>
    <p:extLst>
      <p:ext uri="{BB962C8B-B14F-4D97-AF65-F5344CB8AC3E}">
        <p14:creationId xmlns:p14="http://schemas.microsoft.com/office/powerpoint/2010/main" val="15585071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EF7E9D2-EB87-4AF8-FD31-E61455B775B6}"/>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2B70C84E-73AA-53AE-8E4B-6F99C858097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B7F8BA8A-C2F8-6150-F5C6-3D9278891FF8}"/>
              </a:ext>
            </a:extLst>
          </p:cNvPr>
          <p:cNvSpPr>
            <a:spLocks noGrp="1"/>
          </p:cNvSpPr>
          <p:nvPr>
            <p:ph type="dt" sz="half" idx="10"/>
          </p:nvPr>
        </p:nvSpPr>
        <p:spPr/>
        <p:txBody>
          <a:bodyPr/>
          <a:lstStyle/>
          <a:p>
            <a:fld id="{B7ED229A-9891-4E0B-A1E2-A9120262978C}" type="datetimeFigureOut">
              <a:rPr lang="es-ES" smtClean="0"/>
              <a:t>30/10/2026</a:t>
            </a:fld>
            <a:endParaRPr lang="es-ES"/>
          </a:p>
        </p:txBody>
      </p:sp>
      <p:sp>
        <p:nvSpPr>
          <p:cNvPr id="5" name="Marcador de pie de página 4">
            <a:extLst>
              <a:ext uri="{FF2B5EF4-FFF2-40B4-BE49-F238E27FC236}">
                <a16:creationId xmlns:a16="http://schemas.microsoft.com/office/drawing/2014/main" id="{6FA4A671-1DBC-328A-FD77-F48EB5715189}"/>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E11D3046-B651-D057-4717-7BA6A1E34329}"/>
              </a:ext>
            </a:extLst>
          </p:cNvPr>
          <p:cNvSpPr>
            <a:spLocks noGrp="1"/>
          </p:cNvSpPr>
          <p:nvPr>
            <p:ph type="sldNum" sz="quarter" idx="12"/>
          </p:nvPr>
        </p:nvSpPr>
        <p:spPr/>
        <p:txBody>
          <a:bodyPr/>
          <a:lstStyle/>
          <a:p>
            <a:fld id="{FD9028EB-C4D7-47E2-A40A-A794CB6594C4}" type="slidenum">
              <a:rPr lang="es-ES" smtClean="0"/>
              <a:t>‹Nº›</a:t>
            </a:fld>
            <a:endParaRPr lang="es-ES"/>
          </a:p>
        </p:txBody>
      </p:sp>
    </p:spTree>
    <p:extLst>
      <p:ext uri="{BB962C8B-B14F-4D97-AF65-F5344CB8AC3E}">
        <p14:creationId xmlns:p14="http://schemas.microsoft.com/office/powerpoint/2010/main" val="23516704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CEAA250-283E-7DF5-D00F-7FDCF93ED53F}"/>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57DDDED2-0978-D867-32B4-0B93FF44F9E0}"/>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D5DA6D89-6159-8625-B84D-FE31E81DE2C9}"/>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593C45AE-D86A-9548-E86F-F72CDC9060BB}"/>
              </a:ext>
            </a:extLst>
          </p:cNvPr>
          <p:cNvSpPr>
            <a:spLocks noGrp="1"/>
          </p:cNvSpPr>
          <p:nvPr>
            <p:ph type="dt" sz="half" idx="10"/>
          </p:nvPr>
        </p:nvSpPr>
        <p:spPr/>
        <p:txBody>
          <a:bodyPr/>
          <a:lstStyle/>
          <a:p>
            <a:fld id="{B7ED229A-9891-4E0B-A1E2-A9120262978C}" type="datetimeFigureOut">
              <a:rPr lang="es-ES" smtClean="0"/>
              <a:t>30/10/2026</a:t>
            </a:fld>
            <a:endParaRPr lang="es-ES"/>
          </a:p>
        </p:txBody>
      </p:sp>
      <p:sp>
        <p:nvSpPr>
          <p:cNvPr id="6" name="Marcador de pie de página 5">
            <a:extLst>
              <a:ext uri="{FF2B5EF4-FFF2-40B4-BE49-F238E27FC236}">
                <a16:creationId xmlns:a16="http://schemas.microsoft.com/office/drawing/2014/main" id="{E6D75065-5AD0-856B-0683-613A2BA56AD1}"/>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02E4293B-F563-3CBF-3D46-1C1170D28D88}"/>
              </a:ext>
            </a:extLst>
          </p:cNvPr>
          <p:cNvSpPr>
            <a:spLocks noGrp="1"/>
          </p:cNvSpPr>
          <p:nvPr>
            <p:ph type="sldNum" sz="quarter" idx="12"/>
          </p:nvPr>
        </p:nvSpPr>
        <p:spPr/>
        <p:txBody>
          <a:bodyPr/>
          <a:lstStyle/>
          <a:p>
            <a:fld id="{FD9028EB-C4D7-47E2-A40A-A794CB6594C4}" type="slidenum">
              <a:rPr lang="es-ES" smtClean="0"/>
              <a:t>‹Nº›</a:t>
            </a:fld>
            <a:endParaRPr lang="es-ES"/>
          </a:p>
        </p:txBody>
      </p:sp>
    </p:spTree>
    <p:extLst>
      <p:ext uri="{BB962C8B-B14F-4D97-AF65-F5344CB8AC3E}">
        <p14:creationId xmlns:p14="http://schemas.microsoft.com/office/powerpoint/2010/main" val="22993745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19B234-4F44-6BD4-6592-BAFB6C014721}"/>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4F3E158C-305B-2FC2-1981-6CBE93D4D3B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A9273B04-074B-6C06-C1C0-EC633B98A04F}"/>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492D0D03-A3DB-7FD3-8B23-CF080E9A70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0BD2A2DC-BC84-E187-0720-2E101DCB190A}"/>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6BD5D63A-88FC-C299-4BA1-029288100054}"/>
              </a:ext>
            </a:extLst>
          </p:cNvPr>
          <p:cNvSpPr>
            <a:spLocks noGrp="1"/>
          </p:cNvSpPr>
          <p:nvPr>
            <p:ph type="dt" sz="half" idx="10"/>
          </p:nvPr>
        </p:nvSpPr>
        <p:spPr/>
        <p:txBody>
          <a:bodyPr/>
          <a:lstStyle/>
          <a:p>
            <a:fld id="{B7ED229A-9891-4E0B-A1E2-A9120262978C}" type="datetimeFigureOut">
              <a:rPr lang="es-ES" smtClean="0"/>
              <a:t>30/10/2026</a:t>
            </a:fld>
            <a:endParaRPr lang="es-ES"/>
          </a:p>
        </p:txBody>
      </p:sp>
      <p:sp>
        <p:nvSpPr>
          <p:cNvPr id="8" name="Marcador de pie de página 7">
            <a:extLst>
              <a:ext uri="{FF2B5EF4-FFF2-40B4-BE49-F238E27FC236}">
                <a16:creationId xmlns:a16="http://schemas.microsoft.com/office/drawing/2014/main" id="{B316370E-9693-9D98-6345-83ED54D5D1C6}"/>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3BDB0BBC-7B04-B3B8-7D8F-07343C24E3E5}"/>
              </a:ext>
            </a:extLst>
          </p:cNvPr>
          <p:cNvSpPr>
            <a:spLocks noGrp="1"/>
          </p:cNvSpPr>
          <p:nvPr>
            <p:ph type="sldNum" sz="quarter" idx="12"/>
          </p:nvPr>
        </p:nvSpPr>
        <p:spPr/>
        <p:txBody>
          <a:bodyPr/>
          <a:lstStyle/>
          <a:p>
            <a:fld id="{FD9028EB-C4D7-47E2-A40A-A794CB6594C4}" type="slidenum">
              <a:rPr lang="es-ES" smtClean="0"/>
              <a:t>‹Nº›</a:t>
            </a:fld>
            <a:endParaRPr lang="es-ES"/>
          </a:p>
        </p:txBody>
      </p:sp>
    </p:spTree>
    <p:extLst>
      <p:ext uri="{BB962C8B-B14F-4D97-AF65-F5344CB8AC3E}">
        <p14:creationId xmlns:p14="http://schemas.microsoft.com/office/powerpoint/2010/main" val="33863963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9C3F90D-10E6-AF46-5314-871FEB7BF92A}"/>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8EB1B873-DF24-BC47-A821-17ED8BF561B2}"/>
              </a:ext>
            </a:extLst>
          </p:cNvPr>
          <p:cNvSpPr>
            <a:spLocks noGrp="1"/>
          </p:cNvSpPr>
          <p:nvPr>
            <p:ph type="dt" sz="half" idx="10"/>
          </p:nvPr>
        </p:nvSpPr>
        <p:spPr/>
        <p:txBody>
          <a:bodyPr/>
          <a:lstStyle/>
          <a:p>
            <a:fld id="{B7ED229A-9891-4E0B-A1E2-A9120262978C}" type="datetimeFigureOut">
              <a:rPr lang="es-ES" smtClean="0"/>
              <a:t>30/10/2026</a:t>
            </a:fld>
            <a:endParaRPr lang="es-ES"/>
          </a:p>
        </p:txBody>
      </p:sp>
      <p:sp>
        <p:nvSpPr>
          <p:cNvPr id="4" name="Marcador de pie de página 3">
            <a:extLst>
              <a:ext uri="{FF2B5EF4-FFF2-40B4-BE49-F238E27FC236}">
                <a16:creationId xmlns:a16="http://schemas.microsoft.com/office/drawing/2014/main" id="{A8FEF15C-1D70-05C4-4237-592BBAD6F2D6}"/>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7C2DE9F3-A018-2976-D0F4-A1B430B63444}"/>
              </a:ext>
            </a:extLst>
          </p:cNvPr>
          <p:cNvSpPr>
            <a:spLocks noGrp="1"/>
          </p:cNvSpPr>
          <p:nvPr>
            <p:ph type="sldNum" sz="quarter" idx="12"/>
          </p:nvPr>
        </p:nvSpPr>
        <p:spPr/>
        <p:txBody>
          <a:bodyPr/>
          <a:lstStyle/>
          <a:p>
            <a:fld id="{FD9028EB-C4D7-47E2-A40A-A794CB6594C4}" type="slidenum">
              <a:rPr lang="es-ES" smtClean="0"/>
              <a:t>‹Nº›</a:t>
            </a:fld>
            <a:endParaRPr lang="es-ES"/>
          </a:p>
        </p:txBody>
      </p:sp>
    </p:spTree>
    <p:extLst>
      <p:ext uri="{BB962C8B-B14F-4D97-AF65-F5344CB8AC3E}">
        <p14:creationId xmlns:p14="http://schemas.microsoft.com/office/powerpoint/2010/main" val="26433351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9C556FA4-54AC-F7CF-9495-03DBF824F229}"/>
              </a:ext>
            </a:extLst>
          </p:cNvPr>
          <p:cNvSpPr>
            <a:spLocks noGrp="1"/>
          </p:cNvSpPr>
          <p:nvPr>
            <p:ph type="dt" sz="half" idx="10"/>
          </p:nvPr>
        </p:nvSpPr>
        <p:spPr/>
        <p:txBody>
          <a:bodyPr/>
          <a:lstStyle/>
          <a:p>
            <a:fld id="{B7ED229A-9891-4E0B-A1E2-A9120262978C}" type="datetimeFigureOut">
              <a:rPr lang="es-ES" smtClean="0"/>
              <a:t>30/10/2026</a:t>
            </a:fld>
            <a:endParaRPr lang="es-ES"/>
          </a:p>
        </p:txBody>
      </p:sp>
      <p:sp>
        <p:nvSpPr>
          <p:cNvPr id="3" name="Marcador de pie de página 2">
            <a:extLst>
              <a:ext uri="{FF2B5EF4-FFF2-40B4-BE49-F238E27FC236}">
                <a16:creationId xmlns:a16="http://schemas.microsoft.com/office/drawing/2014/main" id="{858B2C0D-3649-B839-2371-C436BBD80FA4}"/>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4C9490EB-3B71-4734-C80D-1F7E7DDE72DB}"/>
              </a:ext>
            </a:extLst>
          </p:cNvPr>
          <p:cNvSpPr>
            <a:spLocks noGrp="1"/>
          </p:cNvSpPr>
          <p:nvPr>
            <p:ph type="sldNum" sz="quarter" idx="12"/>
          </p:nvPr>
        </p:nvSpPr>
        <p:spPr/>
        <p:txBody>
          <a:bodyPr/>
          <a:lstStyle/>
          <a:p>
            <a:fld id="{FD9028EB-C4D7-47E2-A40A-A794CB6594C4}" type="slidenum">
              <a:rPr lang="es-ES" smtClean="0"/>
              <a:t>‹Nº›</a:t>
            </a:fld>
            <a:endParaRPr lang="es-ES"/>
          </a:p>
        </p:txBody>
      </p:sp>
    </p:spTree>
    <p:extLst>
      <p:ext uri="{BB962C8B-B14F-4D97-AF65-F5344CB8AC3E}">
        <p14:creationId xmlns:p14="http://schemas.microsoft.com/office/powerpoint/2010/main" val="21167453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1BB10FD-0C4B-A209-4544-BC061E15C33D}"/>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EA16D9BB-EEEE-CE4B-C186-BC9043D9CEF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90A91D69-9027-917A-E9EB-E08F96AB13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2691F82-9588-36D9-F98E-A70BA9745EA3}"/>
              </a:ext>
            </a:extLst>
          </p:cNvPr>
          <p:cNvSpPr>
            <a:spLocks noGrp="1"/>
          </p:cNvSpPr>
          <p:nvPr>
            <p:ph type="dt" sz="half" idx="10"/>
          </p:nvPr>
        </p:nvSpPr>
        <p:spPr/>
        <p:txBody>
          <a:bodyPr/>
          <a:lstStyle/>
          <a:p>
            <a:fld id="{B7ED229A-9891-4E0B-A1E2-A9120262978C}" type="datetimeFigureOut">
              <a:rPr lang="es-ES" smtClean="0"/>
              <a:t>30/10/2026</a:t>
            </a:fld>
            <a:endParaRPr lang="es-ES"/>
          </a:p>
        </p:txBody>
      </p:sp>
      <p:sp>
        <p:nvSpPr>
          <p:cNvPr id="6" name="Marcador de pie de página 5">
            <a:extLst>
              <a:ext uri="{FF2B5EF4-FFF2-40B4-BE49-F238E27FC236}">
                <a16:creationId xmlns:a16="http://schemas.microsoft.com/office/drawing/2014/main" id="{71EC14F1-9D21-56F6-D4D4-5801675A2E69}"/>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1FBB5FCC-D56F-4846-6051-7A1E536364A7}"/>
              </a:ext>
            </a:extLst>
          </p:cNvPr>
          <p:cNvSpPr>
            <a:spLocks noGrp="1"/>
          </p:cNvSpPr>
          <p:nvPr>
            <p:ph type="sldNum" sz="quarter" idx="12"/>
          </p:nvPr>
        </p:nvSpPr>
        <p:spPr/>
        <p:txBody>
          <a:bodyPr/>
          <a:lstStyle/>
          <a:p>
            <a:fld id="{FD9028EB-C4D7-47E2-A40A-A794CB6594C4}" type="slidenum">
              <a:rPr lang="es-ES" smtClean="0"/>
              <a:t>‹Nº›</a:t>
            </a:fld>
            <a:endParaRPr lang="es-ES"/>
          </a:p>
        </p:txBody>
      </p:sp>
    </p:spTree>
    <p:extLst>
      <p:ext uri="{BB962C8B-B14F-4D97-AF65-F5344CB8AC3E}">
        <p14:creationId xmlns:p14="http://schemas.microsoft.com/office/powerpoint/2010/main" val="14139388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92229D6-CD79-E12B-C50D-BD3E9B9573A3}"/>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77E7BAEC-A1A2-C125-8FAC-D62511521FF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6133F834-5EE2-BE6E-8A2A-3B06CD57EC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F10F7253-AFCB-B2A0-7A74-209C4B627AD1}"/>
              </a:ext>
            </a:extLst>
          </p:cNvPr>
          <p:cNvSpPr>
            <a:spLocks noGrp="1"/>
          </p:cNvSpPr>
          <p:nvPr>
            <p:ph type="dt" sz="half" idx="10"/>
          </p:nvPr>
        </p:nvSpPr>
        <p:spPr/>
        <p:txBody>
          <a:bodyPr/>
          <a:lstStyle/>
          <a:p>
            <a:fld id="{B7ED229A-9891-4E0B-A1E2-A9120262978C}" type="datetimeFigureOut">
              <a:rPr lang="es-ES" smtClean="0"/>
              <a:t>30/10/2026</a:t>
            </a:fld>
            <a:endParaRPr lang="es-ES"/>
          </a:p>
        </p:txBody>
      </p:sp>
      <p:sp>
        <p:nvSpPr>
          <p:cNvPr id="6" name="Marcador de pie de página 5">
            <a:extLst>
              <a:ext uri="{FF2B5EF4-FFF2-40B4-BE49-F238E27FC236}">
                <a16:creationId xmlns:a16="http://schemas.microsoft.com/office/drawing/2014/main" id="{913DC23F-7417-F41A-AA77-97ABC7CBC036}"/>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04F01DB3-E832-240E-8846-6E5E2F3D9254}"/>
              </a:ext>
            </a:extLst>
          </p:cNvPr>
          <p:cNvSpPr>
            <a:spLocks noGrp="1"/>
          </p:cNvSpPr>
          <p:nvPr>
            <p:ph type="sldNum" sz="quarter" idx="12"/>
          </p:nvPr>
        </p:nvSpPr>
        <p:spPr/>
        <p:txBody>
          <a:bodyPr/>
          <a:lstStyle/>
          <a:p>
            <a:fld id="{FD9028EB-C4D7-47E2-A40A-A794CB6594C4}" type="slidenum">
              <a:rPr lang="es-ES" smtClean="0"/>
              <a:t>‹Nº›</a:t>
            </a:fld>
            <a:endParaRPr lang="es-ES"/>
          </a:p>
        </p:txBody>
      </p:sp>
    </p:spTree>
    <p:extLst>
      <p:ext uri="{BB962C8B-B14F-4D97-AF65-F5344CB8AC3E}">
        <p14:creationId xmlns:p14="http://schemas.microsoft.com/office/powerpoint/2010/main" val="5176284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8BE876C-7AC9-F077-F5E4-E080A81B106F}"/>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8542F856-BE66-3994-E800-2BB250DF8679}"/>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F7E58DB6-1047-3B6D-2C54-6EA9086763C7}"/>
              </a:ext>
            </a:extLst>
          </p:cNvPr>
          <p:cNvSpPr>
            <a:spLocks noGrp="1"/>
          </p:cNvSpPr>
          <p:nvPr>
            <p:ph type="dt" sz="half" idx="10"/>
          </p:nvPr>
        </p:nvSpPr>
        <p:spPr/>
        <p:txBody>
          <a:bodyPr/>
          <a:lstStyle/>
          <a:p>
            <a:fld id="{B7ED229A-9891-4E0B-A1E2-A9120262978C}" type="datetimeFigureOut">
              <a:rPr lang="es-ES" smtClean="0"/>
              <a:t>30/10/2026</a:t>
            </a:fld>
            <a:endParaRPr lang="es-ES"/>
          </a:p>
        </p:txBody>
      </p:sp>
      <p:sp>
        <p:nvSpPr>
          <p:cNvPr id="5" name="Marcador de pie de página 4">
            <a:extLst>
              <a:ext uri="{FF2B5EF4-FFF2-40B4-BE49-F238E27FC236}">
                <a16:creationId xmlns:a16="http://schemas.microsoft.com/office/drawing/2014/main" id="{720BE7F0-917C-E07C-75FF-B7B554B75439}"/>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E781570D-3D8E-0830-D72E-1482E567CB8B}"/>
              </a:ext>
            </a:extLst>
          </p:cNvPr>
          <p:cNvSpPr>
            <a:spLocks noGrp="1"/>
          </p:cNvSpPr>
          <p:nvPr>
            <p:ph type="sldNum" sz="quarter" idx="12"/>
          </p:nvPr>
        </p:nvSpPr>
        <p:spPr/>
        <p:txBody>
          <a:bodyPr/>
          <a:lstStyle/>
          <a:p>
            <a:fld id="{FD9028EB-C4D7-47E2-A40A-A794CB6594C4}" type="slidenum">
              <a:rPr lang="es-ES" smtClean="0"/>
              <a:t>‹Nº›</a:t>
            </a:fld>
            <a:endParaRPr lang="es-ES"/>
          </a:p>
        </p:txBody>
      </p:sp>
    </p:spTree>
    <p:extLst>
      <p:ext uri="{BB962C8B-B14F-4D97-AF65-F5344CB8AC3E}">
        <p14:creationId xmlns:p14="http://schemas.microsoft.com/office/powerpoint/2010/main" val="8395897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B9B52301-94B6-CCE7-8A7E-61A48BD19D04}"/>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0B7A248E-535A-FC54-A995-47E2E87086D8}"/>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00EDCE0C-E57E-091A-18F3-644789D98E38}"/>
              </a:ext>
            </a:extLst>
          </p:cNvPr>
          <p:cNvSpPr>
            <a:spLocks noGrp="1"/>
          </p:cNvSpPr>
          <p:nvPr>
            <p:ph type="dt" sz="half" idx="10"/>
          </p:nvPr>
        </p:nvSpPr>
        <p:spPr/>
        <p:txBody>
          <a:bodyPr/>
          <a:lstStyle/>
          <a:p>
            <a:fld id="{B7ED229A-9891-4E0B-A1E2-A9120262978C}" type="datetimeFigureOut">
              <a:rPr lang="es-ES" smtClean="0"/>
              <a:t>30/10/2026</a:t>
            </a:fld>
            <a:endParaRPr lang="es-ES"/>
          </a:p>
        </p:txBody>
      </p:sp>
      <p:sp>
        <p:nvSpPr>
          <p:cNvPr id="5" name="Marcador de pie de página 4">
            <a:extLst>
              <a:ext uri="{FF2B5EF4-FFF2-40B4-BE49-F238E27FC236}">
                <a16:creationId xmlns:a16="http://schemas.microsoft.com/office/drawing/2014/main" id="{E9A1213A-9CF3-9DDD-8BF0-82C12ACAADE3}"/>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E29F579F-B27B-78ED-8B1B-2C14F046B13D}"/>
              </a:ext>
            </a:extLst>
          </p:cNvPr>
          <p:cNvSpPr>
            <a:spLocks noGrp="1"/>
          </p:cNvSpPr>
          <p:nvPr>
            <p:ph type="sldNum" sz="quarter" idx="12"/>
          </p:nvPr>
        </p:nvSpPr>
        <p:spPr/>
        <p:txBody>
          <a:bodyPr/>
          <a:lstStyle/>
          <a:p>
            <a:fld id="{FD9028EB-C4D7-47E2-A40A-A794CB6594C4}" type="slidenum">
              <a:rPr lang="es-ES" smtClean="0"/>
              <a:t>‹Nº›</a:t>
            </a:fld>
            <a:endParaRPr lang="es-ES"/>
          </a:p>
        </p:txBody>
      </p:sp>
    </p:spTree>
    <p:extLst>
      <p:ext uri="{BB962C8B-B14F-4D97-AF65-F5344CB8AC3E}">
        <p14:creationId xmlns:p14="http://schemas.microsoft.com/office/powerpoint/2010/main" val="10125311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4C476B7E-321B-E719-459B-947497D15C9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D4ABFAA5-B778-2F70-340C-D374292052B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B20D501A-337C-6BB9-1D78-9CB46F99EE1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7ED229A-9891-4E0B-A1E2-A9120262978C}" type="datetimeFigureOut">
              <a:rPr lang="es-ES" smtClean="0"/>
              <a:t>30/10/2026</a:t>
            </a:fld>
            <a:endParaRPr lang="es-ES"/>
          </a:p>
        </p:txBody>
      </p:sp>
      <p:sp>
        <p:nvSpPr>
          <p:cNvPr id="5" name="Marcador de pie de página 4">
            <a:extLst>
              <a:ext uri="{FF2B5EF4-FFF2-40B4-BE49-F238E27FC236}">
                <a16:creationId xmlns:a16="http://schemas.microsoft.com/office/drawing/2014/main" id="{845910E1-3C4B-525B-A11C-7F6CE1294E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ES"/>
          </a:p>
        </p:txBody>
      </p:sp>
      <p:sp>
        <p:nvSpPr>
          <p:cNvPr id="6" name="Marcador de número de diapositiva 5">
            <a:extLst>
              <a:ext uri="{FF2B5EF4-FFF2-40B4-BE49-F238E27FC236}">
                <a16:creationId xmlns:a16="http://schemas.microsoft.com/office/drawing/2014/main" id="{4B39BFE9-5842-737E-D6C5-1B206B936C7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D9028EB-C4D7-47E2-A40A-A794CB6594C4}" type="slidenum">
              <a:rPr lang="es-ES" smtClean="0"/>
              <a:t>‹Nº›</a:t>
            </a:fld>
            <a:endParaRPr lang="es-ES"/>
          </a:p>
        </p:txBody>
      </p:sp>
    </p:spTree>
    <p:extLst>
      <p:ext uri="{BB962C8B-B14F-4D97-AF65-F5344CB8AC3E}">
        <p14:creationId xmlns:p14="http://schemas.microsoft.com/office/powerpoint/2010/main" val="38938754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8F4"/>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67165020-3486-8980-F07B-E0ACD9502322}"/>
              </a:ext>
            </a:extLst>
          </p:cNvPr>
          <p:cNvSpPr txBox="1"/>
          <p:nvPr/>
        </p:nvSpPr>
        <p:spPr>
          <a:xfrm>
            <a:off x="698500" y="317500"/>
            <a:ext cx="10795000" cy="353943"/>
          </a:xfrm>
          <a:prstGeom prst="rect">
            <a:avLst/>
          </a:prstGeom>
          <a:noFill/>
        </p:spPr>
        <p:txBody>
          <a:bodyPr vert="horz" wrap="square" lIns="0" tIns="0" rIns="0" bIns="0" rtlCol="0">
            <a:spAutoFit/>
          </a:bodyPr>
          <a:lstStyle/>
          <a:p>
            <a:pPr algn="ctr"/>
            <a:r>
              <a:rPr lang="es-ES" sz="2300" b="1">
                <a:solidFill>
                  <a:srgbClr val="74283D"/>
                </a:solidFill>
                <a:latin typeface="Aptos" panose="020B0004020202020204" pitchFamily="34" charset="0"/>
              </a:rPr>
              <a:t>UNIVERSIDAD NACIONAL DE SAN CRISTÓBAL DE HUAMANGA</a:t>
            </a:r>
          </a:p>
        </p:txBody>
      </p:sp>
      <p:sp>
        <p:nvSpPr>
          <p:cNvPr id="10" name="CuadroTexto 9">
            <a:extLst>
              <a:ext uri="{FF2B5EF4-FFF2-40B4-BE49-F238E27FC236}">
                <a16:creationId xmlns:a16="http://schemas.microsoft.com/office/drawing/2014/main" id="{8959409A-CC2A-3890-90CC-B9F5E985D447}"/>
              </a:ext>
            </a:extLst>
          </p:cNvPr>
          <p:cNvSpPr txBox="1"/>
          <p:nvPr/>
        </p:nvSpPr>
        <p:spPr>
          <a:xfrm>
            <a:off x="698500" y="850900"/>
            <a:ext cx="10795000" cy="276999"/>
          </a:xfrm>
          <a:prstGeom prst="rect">
            <a:avLst/>
          </a:prstGeom>
          <a:noFill/>
        </p:spPr>
        <p:txBody>
          <a:bodyPr vert="horz" wrap="square" lIns="0" tIns="0" rIns="0" bIns="0" rtlCol="0">
            <a:spAutoFit/>
          </a:bodyPr>
          <a:lstStyle/>
          <a:p>
            <a:pPr algn="ctr"/>
            <a:r>
              <a:rPr lang="es-ES">
                <a:solidFill>
                  <a:srgbClr val="52677A"/>
                </a:solidFill>
                <a:latin typeface="Aptos" panose="020B0004020202020204" pitchFamily="34" charset="0"/>
              </a:rPr>
              <a:t>Escuela Profesional de Ingeniería de Sistemas</a:t>
            </a:r>
          </a:p>
        </p:txBody>
      </p:sp>
      <p:pic>
        <p:nvPicPr>
          <p:cNvPr id="12" name="Imagen 11">
            <a:extLst>
              <a:ext uri="{FF2B5EF4-FFF2-40B4-BE49-F238E27FC236}">
                <a16:creationId xmlns:a16="http://schemas.microsoft.com/office/drawing/2014/main" id="{DE4A6DD6-4F5E-A404-FEF4-79BCAB0D6A7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327650" y="1333500"/>
            <a:ext cx="1536700" cy="2057400"/>
          </a:xfrm>
          <a:prstGeom prst="rect">
            <a:avLst/>
          </a:prstGeom>
        </p:spPr>
      </p:pic>
      <p:sp>
        <p:nvSpPr>
          <p:cNvPr id="13" name="CuadroTexto 12">
            <a:extLst>
              <a:ext uri="{FF2B5EF4-FFF2-40B4-BE49-F238E27FC236}">
                <a16:creationId xmlns:a16="http://schemas.microsoft.com/office/drawing/2014/main" id="{56974022-4066-717F-9DBC-8818B5F33149}"/>
              </a:ext>
            </a:extLst>
          </p:cNvPr>
          <p:cNvSpPr txBox="1"/>
          <p:nvPr/>
        </p:nvSpPr>
        <p:spPr>
          <a:xfrm>
            <a:off x="698500" y="3619500"/>
            <a:ext cx="10795000" cy="738664"/>
          </a:xfrm>
          <a:prstGeom prst="rect">
            <a:avLst/>
          </a:prstGeom>
          <a:noFill/>
        </p:spPr>
        <p:txBody>
          <a:bodyPr vert="horz" wrap="square" lIns="0" tIns="0" rIns="0" bIns="0" rtlCol="0">
            <a:spAutoFit/>
          </a:bodyPr>
          <a:lstStyle/>
          <a:p>
            <a:pPr algn="ctr"/>
            <a:r>
              <a:rPr lang="es-ES" sz="4800" b="1">
                <a:solidFill>
                  <a:srgbClr val="74283D"/>
                </a:solidFill>
                <a:latin typeface="Aptos" panose="020B0004020202020204" pitchFamily="34" charset="0"/>
              </a:rPr>
              <a:t>MayoristaPro B2B</a:t>
            </a:r>
          </a:p>
        </p:txBody>
      </p:sp>
      <p:sp>
        <p:nvSpPr>
          <p:cNvPr id="14" name="CuadroTexto 13">
            <a:extLst>
              <a:ext uri="{FF2B5EF4-FFF2-40B4-BE49-F238E27FC236}">
                <a16:creationId xmlns:a16="http://schemas.microsoft.com/office/drawing/2014/main" id="{EA6620A6-04CE-EF40-0D66-EB418B2251FE}"/>
              </a:ext>
            </a:extLst>
          </p:cNvPr>
          <p:cNvSpPr txBox="1"/>
          <p:nvPr/>
        </p:nvSpPr>
        <p:spPr>
          <a:xfrm>
            <a:off x="698500" y="4470400"/>
            <a:ext cx="10795000" cy="338554"/>
          </a:xfrm>
          <a:prstGeom prst="rect">
            <a:avLst/>
          </a:prstGeom>
          <a:noFill/>
        </p:spPr>
        <p:txBody>
          <a:bodyPr vert="horz" wrap="square" lIns="0" tIns="0" rIns="0" bIns="0" rtlCol="0">
            <a:spAutoFit/>
          </a:bodyPr>
          <a:lstStyle/>
          <a:p>
            <a:pPr algn="ctr"/>
            <a:r>
              <a:rPr lang="es-ES" sz="2200">
                <a:solidFill>
                  <a:srgbClr val="203447"/>
                </a:solidFill>
                <a:latin typeface="Aptos" panose="020B0004020202020204" pitchFamily="34" charset="0"/>
              </a:rPr>
              <a:t>Plataforma de comercialización mayorista en Ayacucho</a:t>
            </a:r>
          </a:p>
        </p:txBody>
      </p:sp>
      <p:sp>
        <p:nvSpPr>
          <p:cNvPr id="15" name="CuadroTexto 14">
            <a:extLst>
              <a:ext uri="{FF2B5EF4-FFF2-40B4-BE49-F238E27FC236}">
                <a16:creationId xmlns:a16="http://schemas.microsoft.com/office/drawing/2014/main" id="{A92B6196-5158-95F7-5DA2-ADAA06E48B86}"/>
              </a:ext>
            </a:extLst>
          </p:cNvPr>
          <p:cNvSpPr txBox="1"/>
          <p:nvPr/>
        </p:nvSpPr>
        <p:spPr>
          <a:xfrm>
            <a:off x="698500" y="5041900"/>
            <a:ext cx="10795000" cy="338554"/>
          </a:xfrm>
          <a:prstGeom prst="rect">
            <a:avLst/>
          </a:prstGeom>
          <a:noFill/>
        </p:spPr>
        <p:txBody>
          <a:bodyPr vert="horz" wrap="square" lIns="0" tIns="0" rIns="0" bIns="0" rtlCol="0">
            <a:spAutoFit/>
          </a:bodyPr>
          <a:lstStyle/>
          <a:p>
            <a:pPr algn="ctr"/>
            <a:r>
              <a:rPr lang="es-ES" sz="2200" b="1">
                <a:solidFill>
                  <a:srgbClr val="74283D"/>
                </a:solidFill>
                <a:latin typeface="Aptos" panose="020B0004020202020204" pitchFamily="34" charset="0"/>
              </a:rPr>
              <a:t>Arquitectura de Software</a:t>
            </a:r>
          </a:p>
        </p:txBody>
      </p:sp>
      <p:sp>
        <p:nvSpPr>
          <p:cNvPr id="16" name="CuadroTexto 15">
            <a:extLst>
              <a:ext uri="{FF2B5EF4-FFF2-40B4-BE49-F238E27FC236}">
                <a16:creationId xmlns:a16="http://schemas.microsoft.com/office/drawing/2014/main" id="{24D31923-785D-07E5-3602-DD2140AEE5AF}"/>
              </a:ext>
            </a:extLst>
          </p:cNvPr>
          <p:cNvSpPr txBox="1"/>
          <p:nvPr/>
        </p:nvSpPr>
        <p:spPr>
          <a:xfrm>
            <a:off x="698500" y="5575300"/>
            <a:ext cx="10795000" cy="307777"/>
          </a:xfrm>
          <a:prstGeom prst="rect">
            <a:avLst/>
          </a:prstGeom>
          <a:noFill/>
        </p:spPr>
        <p:txBody>
          <a:bodyPr vert="horz" wrap="square" lIns="0" tIns="0" rIns="0" bIns="0" rtlCol="0">
            <a:spAutoFit/>
          </a:bodyPr>
          <a:lstStyle/>
          <a:p>
            <a:pPr algn="ctr"/>
            <a:r>
              <a:rPr lang="es-ES" sz="2000">
                <a:solidFill>
                  <a:srgbClr val="203447"/>
                </a:solidFill>
                <a:latin typeface="Aptos" panose="020B0004020202020204" pitchFamily="34" charset="0"/>
              </a:rPr>
              <a:t>Yeltsin Wilber Muñoz Corichahua</a:t>
            </a:r>
          </a:p>
        </p:txBody>
      </p:sp>
      <p:sp>
        <p:nvSpPr>
          <p:cNvPr id="17" name="CuadroTexto 16">
            <a:extLst>
              <a:ext uri="{FF2B5EF4-FFF2-40B4-BE49-F238E27FC236}">
                <a16:creationId xmlns:a16="http://schemas.microsoft.com/office/drawing/2014/main" id="{91D96088-66F3-A489-65C7-F394745B8B8B}"/>
              </a:ext>
            </a:extLst>
          </p:cNvPr>
          <p:cNvSpPr txBox="1"/>
          <p:nvPr/>
        </p:nvSpPr>
        <p:spPr>
          <a:xfrm>
            <a:off x="698500" y="5981700"/>
            <a:ext cx="10795000" cy="276999"/>
          </a:xfrm>
          <a:prstGeom prst="rect">
            <a:avLst/>
          </a:prstGeom>
          <a:noFill/>
        </p:spPr>
        <p:txBody>
          <a:bodyPr vert="horz" wrap="square" lIns="0" tIns="0" rIns="0" bIns="0" rtlCol="0">
            <a:spAutoFit/>
          </a:bodyPr>
          <a:lstStyle/>
          <a:p>
            <a:pPr algn="ctr"/>
            <a:r>
              <a:rPr lang="es-ES">
                <a:solidFill>
                  <a:srgbClr val="52677A"/>
                </a:solidFill>
                <a:latin typeface="Aptos" panose="020B0004020202020204" pitchFamily="34" charset="0"/>
              </a:rPr>
              <a:t>Docente: Ing. Lizbeth Jaico Quispe</a:t>
            </a:r>
          </a:p>
        </p:txBody>
      </p:sp>
      <p:sp>
        <p:nvSpPr>
          <p:cNvPr id="18" name="CuadroTexto 17">
            <a:extLst>
              <a:ext uri="{FF2B5EF4-FFF2-40B4-BE49-F238E27FC236}">
                <a16:creationId xmlns:a16="http://schemas.microsoft.com/office/drawing/2014/main" id="{3C3C6F6A-A3CD-D7A7-646D-EEF57CEE95C9}"/>
              </a:ext>
            </a:extLst>
          </p:cNvPr>
          <p:cNvSpPr txBox="1"/>
          <p:nvPr/>
        </p:nvSpPr>
        <p:spPr>
          <a:xfrm>
            <a:off x="698500" y="6477000"/>
            <a:ext cx="10795000" cy="230832"/>
          </a:xfrm>
          <a:prstGeom prst="rect">
            <a:avLst/>
          </a:prstGeom>
          <a:noFill/>
        </p:spPr>
        <p:txBody>
          <a:bodyPr vert="horz" wrap="square" lIns="0" tIns="0" rIns="0" bIns="0" rtlCol="0">
            <a:spAutoFit/>
          </a:bodyPr>
          <a:lstStyle/>
          <a:p>
            <a:pPr algn="ctr"/>
            <a:r>
              <a:rPr lang="es-ES" sz="1500">
                <a:solidFill>
                  <a:srgbClr val="52677A"/>
                </a:solidFill>
                <a:latin typeface="Aptos" panose="020B0004020202020204" pitchFamily="34" charset="0"/>
              </a:rPr>
              <a:t>Ayacucho, Perú  /  2026</a:t>
            </a:r>
          </a:p>
        </p:txBody>
      </p:sp>
    </p:spTree>
    <p:extLst>
      <p:ext uri="{BB962C8B-B14F-4D97-AF65-F5344CB8AC3E}">
        <p14:creationId xmlns:p14="http://schemas.microsoft.com/office/powerpoint/2010/main" val="40218527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CC58B0F4-61B1-9A56-1DAF-674064BC0AE9}"/>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El problema de abastecimiento</a:t>
            </a:r>
          </a:p>
        </p:txBody>
      </p:sp>
      <p:sp>
        <p:nvSpPr>
          <p:cNvPr id="3" name="CuadroTexto 2">
            <a:extLst>
              <a:ext uri="{FF2B5EF4-FFF2-40B4-BE49-F238E27FC236}">
                <a16:creationId xmlns:a16="http://schemas.microsoft.com/office/drawing/2014/main" id="{D6BB6EC3-543C-952B-64B1-7316E831611C}"/>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FDDC0DEF-FA3A-EE23-4096-C10C06364B8C}"/>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2</a:t>
            </a:r>
          </a:p>
        </p:txBody>
      </p:sp>
      <p:sp>
        <p:nvSpPr>
          <p:cNvPr id="5" name="CuadroTexto 4">
            <a:extLst>
              <a:ext uri="{FF2B5EF4-FFF2-40B4-BE49-F238E27FC236}">
                <a16:creationId xmlns:a16="http://schemas.microsoft.com/office/drawing/2014/main" id="{2AB0EEB2-0308-5B06-05A6-E7E25425E19E}"/>
              </a:ext>
            </a:extLst>
          </p:cNvPr>
          <p:cNvSpPr txBox="1"/>
          <p:nvPr/>
        </p:nvSpPr>
        <p:spPr>
          <a:xfrm>
            <a:off x="533400" y="1422400"/>
            <a:ext cx="10795000" cy="384721"/>
          </a:xfrm>
          <a:prstGeom prst="rect">
            <a:avLst/>
          </a:prstGeom>
          <a:noFill/>
        </p:spPr>
        <p:txBody>
          <a:bodyPr vert="horz" wrap="square" lIns="0" tIns="0" rIns="0" bIns="0" rtlCol="0">
            <a:spAutoFit/>
          </a:bodyPr>
          <a:lstStyle/>
          <a:p>
            <a:r>
              <a:rPr lang="es-ES" sz="2500" b="1">
                <a:solidFill>
                  <a:srgbClr val="1269B0"/>
                </a:solidFill>
                <a:latin typeface="Aptos" panose="020B0004020202020204" pitchFamily="34" charset="0"/>
              </a:rPr>
              <a:t>Negocios compradores de Ayacucho</a:t>
            </a:r>
          </a:p>
        </p:txBody>
      </p:sp>
      <p:sp>
        <p:nvSpPr>
          <p:cNvPr id="6" name="CuadroTexto 5">
            <a:extLst>
              <a:ext uri="{FF2B5EF4-FFF2-40B4-BE49-F238E27FC236}">
                <a16:creationId xmlns:a16="http://schemas.microsoft.com/office/drawing/2014/main" id="{00083EAE-56E7-F9FF-58C7-253652B5096B}"/>
              </a:ext>
            </a:extLst>
          </p:cNvPr>
          <p:cNvSpPr txBox="1"/>
          <p:nvPr/>
        </p:nvSpPr>
        <p:spPr>
          <a:xfrm>
            <a:off x="533400" y="2286000"/>
            <a:ext cx="10795000" cy="1923604"/>
          </a:xfrm>
          <a:prstGeom prst="rect">
            <a:avLst/>
          </a:prstGeom>
          <a:noFill/>
        </p:spPr>
        <p:txBody>
          <a:bodyPr vert="horz" wrap="square" lIns="0" tIns="0" rIns="0" bIns="0" rtlCol="0">
            <a:spAutoFit/>
          </a:bodyPr>
          <a:lstStyle/>
          <a:p>
            <a:r>
              <a:rPr lang="es-ES" sz="2500">
                <a:solidFill>
                  <a:srgbClr val="203447"/>
                </a:solidFill>
                <a:latin typeface="Aptos" panose="020B0004020202020204" pitchFamily="34" charset="0"/>
              </a:rPr>
              <a:t>Encontrar proveedores mayoristas adecuados.</a:t>
            </a:r>
          </a:p>
          <a:p>
            <a:endParaRPr lang="es-ES" sz="2500">
              <a:solidFill>
                <a:srgbClr val="203447"/>
              </a:solidFill>
              <a:latin typeface="Aptos" panose="020B0004020202020204" pitchFamily="34" charset="0"/>
            </a:endParaRPr>
          </a:p>
          <a:p>
            <a:r>
              <a:rPr lang="es-ES" sz="2500">
                <a:solidFill>
                  <a:srgbClr val="203447"/>
                </a:solidFill>
                <a:latin typeface="Aptos" panose="020B0004020202020204" pitchFamily="34" charset="0"/>
              </a:rPr>
              <a:t>Comparar precios por volumen y condiciones de entrega.</a:t>
            </a:r>
          </a:p>
          <a:p>
            <a:endParaRPr lang="es-ES" sz="2500">
              <a:solidFill>
                <a:srgbClr val="203447"/>
              </a:solidFill>
              <a:latin typeface="Aptos" panose="020B0004020202020204" pitchFamily="34" charset="0"/>
            </a:endParaRPr>
          </a:p>
          <a:p>
            <a:r>
              <a:rPr lang="es-ES" sz="2500">
                <a:solidFill>
                  <a:srgbClr val="203447"/>
                </a:solidFill>
                <a:latin typeface="Aptos" panose="020B0004020202020204" pitchFamily="34" charset="0"/>
              </a:rPr>
              <a:t>Consultar disponibilidad y dar seguimiento a los pedidos.</a:t>
            </a:r>
          </a:p>
        </p:txBody>
      </p:sp>
      <p:sp>
        <p:nvSpPr>
          <p:cNvPr id="7" name="CuadroTexto 6">
            <a:extLst>
              <a:ext uri="{FF2B5EF4-FFF2-40B4-BE49-F238E27FC236}">
                <a16:creationId xmlns:a16="http://schemas.microsoft.com/office/drawing/2014/main" id="{6D1EB6CF-B694-F047-E198-9CAE7C2F2502}"/>
              </a:ext>
            </a:extLst>
          </p:cNvPr>
          <p:cNvSpPr txBox="1"/>
          <p:nvPr/>
        </p:nvSpPr>
        <p:spPr>
          <a:xfrm>
            <a:off x="533400" y="5829300"/>
            <a:ext cx="11049000" cy="261610"/>
          </a:xfrm>
          <a:prstGeom prst="rect">
            <a:avLst/>
          </a:prstGeom>
          <a:noFill/>
        </p:spPr>
        <p:txBody>
          <a:bodyPr vert="horz" wrap="square" lIns="0" tIns="0" rIns="0" bIns="0" rtlCol="0">
            <a:spAutoFit/>
          </a:bodyPr>
          <a:lstStyle/>
          <a:p>
            <a:r>
              <a:rPr lang="es-ES" sz="1700">
                <a:solidFill>
                  <a:srgbClr val="52677A"/>
                </a:solidFill>
                <a:latin typeface="Aptos" panose="020B0004020202020204" pitchFamily="34" charset="0"/>
              </a:rPr>
              <a:t>Necesidades planteadas para validar con negocios locales</a:t>
            </a:r>
          </a:p>
        </p:txBody>
      </p:sp>
    </p:spTree>
    <p:extLst>
      <p:ext uri="{BB962C8B-B14F-4D97-AF65-F5344CB8AC3E}">
        <p14:creationId xmlns:p14="http://schemas.microsoft.com/office/powerpoint/2010/main" val="19557423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BA6D731B-94B0-818F-0AF3-60BA58A93FAA}"/>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La propuesta de MayoristaPro</a:t>
            </a:r>
          </a:p>
        </p:txBody>
      </p:sp>
      <p:sp>
        <p:nvSpPr>
          <p:cNvPr id="3" name="CuadroTexto 2">
            <a:extLst>
              <a:ext uri="{FF2B5EF4-FFF2-40B4-BE49-F238E27FC236}">
                <a16:creationId xmlns:a16="http://schemas.microsoft.com/office/drawing/2014/main" id="{C30D9AB2-6EDF-BBB7-AF70-D278EDAD787E}"/>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35CFF9DD-921C-CF6F-7C89-2A7BFDFB6198}"/>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3</a:t>
            </a:r>
          </a:p>
        </p:txBody>
      </p:sp>
      <p:sp>
        <p:nvSpPr>
          <p:cNvPr id="5" name="CuadroTexto 4">
            <a:extLst>
              <a:ext uri="{FF2B5EF4-FFF2-40B4-BE49-F238E27FC236}">
                <a16:creationId xmlns:a16="http://schemas.microsoft.com/office/drawing/2014/main" id="{29EDEC55-66BD-3D70-B576-8B5065A5D213}"/>
              </a:ext>
            </a:extLst>
          </p:cNvPr>
          <p:cNvSpPr txBox="1"/>
          <p:nvPr/>
        </p:nvSpPr>
        <p:spPr>
          <a:xfrm>
            <a:off x="533400" y="1422400"/>
            <a:ext cx="11049000" cy="384721"/>
          </a:xfrm>
          <a:prstGeom prst="rect">
            <a:avLst/>
          </a:prstGeom>
          <a:noFill/>
        </p:spPr>
        <p:txBody>
          <a:bodyPr vert="horz" wrap="square" lIns="0" tIns="0" rIns="0" bIns="0" rtlCol="0">
            <a:spAutoFit/>
          </a:bodyPr>
          <a:lstStyle/>
          <a:p>
            <a:r>
              <a:rPr lang="es-ES" sz="2500" b="1">
                <a:solidFill>
                  <a:srgbClr val="1269B0"/>
                </a:solidFill>
                <a:latin typeface="Aptos" panose="020B0004020202020204" pitchFamily="34" charset="0"/>
              </a:rPr>
              <a:t>Un proceso compartido entre comprador y proveedor</a:t>
            </a:r>
          </a:p>
        </p:txBody>
      </p:sp>
      <p:sp>
        <p:nvSpPr>
          <p:cNvPr id="6" name="Rectángulo 5">
            <a:extLst>
              <a:ext uri="{FF2B5EF4-FFF2-40B4-BE49-F238E27FC236}">
                <a16:creationId xmlns:a16="http://schemas.microsoft.com/office/drawing/2014/main" id="{FA4DAE4F-9A42-4175-D062-35195CDE70ED}"/>
              </a:ext>
            </a:extLst>
          </p:cNvPr>
          <p:cNvSpPr/>
          <p:nvPr/>
        </p:nvSpPr>
        <p:spPr>
          <a:xfrm>
            <a:off x="533400" y="2794000"/>
            <a:ext cx="1981200" cy="1587500"/>
          </a:xfrm>
          <a:prstGeom prst="rect">
            <a:avLst/>
          </a:prstGeom>
          <a:solidFill>
            <a:srgbClr val="1269B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CuadroTexto 6">
            <a:extLst>
              <a:ext uri="{FF2B5EF4-FFF2-40B4-BE49-F238E27FC236}">
                <a16:creationId xmlns:a16="http://schemas.microsoft.com/office/drawing/2014/main" id="{547E9767-F6DD-D520-8C6F-F77D7E1FEEC9}"/>
              </a:ext>
            </a:extLst>
          </p:cNvPr>
          <p:cNvSpPr txBox="1"/>
          <p:nvPr/>
        </p:nvSpPr>
        <p:spPr>
          <a:xfrm>
            <a:off x="685800" y="2946400"/>
            <a:ext cx="1676400" cy="323165"/>
          </a:xfrm>
          <a:prstGeom prst="rect">
            <a:avLst/>
          </a:prstGeom>
          <a:noFill/>
        </p:spPr>
        <p:txBody>
          <a:bodyPr vert="horz" wrap="square" lIns="0" tIns="0" rIns="0" bIns="0" rtlCol="0">
            <a:spAutoFit/>
          </a:bodyPr>
          <a:lstStyle/>
          <a:p>
            <a:r>
              <a:rPr lang="es-ES" sz="2100" b="1">
                <a:solidFill>
                  <a:srgbClr val="FFFFFF"/>
                </a:solidFill>
                <a:latin typeface="Aptos" panose="020B0004020202020204" pitchFamily="34" charset="0"/>
              </a:rPr>
              <a:t>Catálogo</a:t>
            </a:r>
          </a:p>
        </p:txBody>
      </p:sp>
      <p:sp>
        <p:nvSpPr>
          <p:cNvPr id="8" name="CuadroTexto 7">
            <a:extLst>
              <a:ext uri="{FF2B5EF4-FFF2-40B4-BE49-F238E27FC236}">
                <a16:creationId xmlns:a16="http://schemas.microsoft.com/office/drawing/2014/main" id="{44F496D4-441C-2754-E587-68E110D53009}"/>
              </a:ext>
            </a:extLst>
          </p:cNvPr>
          <p:cNvSpPr txBox="1"/>
          <p:nvPr/>
        </p:nvSpPr>
        <p:spPr>
          <a:xfrm>
            <a:off x="685800" y="3403600"/>
            <a:ext cx="1676400" cy="246221"/>
          </a:xfrm>
          <a:prstGeom prst="rect">
            <a:avLst/>
          </a:prstGeom>
          <a:noFill/>
        </p:spPr>
        <p:txBody>
          <a:bodyPr vert="horz" wrap="square" lIns="0" tIns="0" rIns="0" bIns="0" rtlCol="0">
            <a:spAutoFit/>
          </a:bodyPr>
          <a:lstStyle/>
          <a:p>
            <a:r>
              <a:rPr lang="es-ES" sz="1600">
                <a:solidFill>
                  <a:srgbClr val="FFFFFF"/>
                </a:solidFill>
                <a:latin typeface="Aptos" panose="020B0004020202020204" pitchFamily="34" charset="0"/>
              </a:rPr>
              <a:t>Buscar productos</a:t>
            </a:r>
          </a:p>
        </p:txBody>
      </p:sp>
      <p:cxnSp>
        <p:nvCxnSpPr>
          <p:cNvPr id="9" name="Conector recto 8">
            <a:extLst>
              <a:ext uri="{FF2B5EF4-FFF2-40B4-BE49-F238E27FC236}">
                <a16:creationId xmlns:a16="http://schemas.microsoft.com/office/drawing/2014/main" id="{65000DF6-FD73-2C1E-799C-43319303A36B}"/>
              </a:ext>
            </a:extLst>
          </p:cNvPr>
          <p:cNvCxnSpPr/>
          <p:nvPr/>
        </p:nvCxnSpPr>
        <p:spPr>
          <a:xfrm>
            <a:off x="2514600" y="3581400"/>
            <a:ext cx="304800" cy="0"/>
          </a:xfrm>
          <a:prstGeom prst="line">
            <a:avLst/>
          </a:prstGeom>
          <a:ln w="19050">
            <a:solidFill>
              <a:srgbClr val="52677A"/>
            </a:solidFill>
            <a:tailEnd type="arrow"/>
          </a:ln>
        </p:spPr>
        <p:style>
          <a:lnRef idx="2">
            <a:schemeClr val="accent1"/>
          </a:lnRef>
          <a:fillRef idx="0">
            <a:schemeClr val="accent1"/>
          </a:fillRef>
          <a:effectRef idx="1">
            <a:schemeClr val="accent1"/>
          </a:effectRef>
          <a:fontRef idx="minor">
            <a:schemeClr val="tx1"/>
          </a:fontRef>
        </p:style>
      </p:cxnSp>
      <p:sp>
        <p:nvSpPr>
          <p:cNvPr id="10" name="Rectángulo 9">
            <a:extLst>
              <a:ext uri="{FF2B5EF4-FFF2-40B4-BE49-F238E27FC236}">
                <a16:creationId xmlns:a16="http://schemas.microsoft.com/office/drawing/2014/main" id="{2AC3F0FF-1EEB-4733-2C82-7F23BEF79EC7}"/>
              </a:ext>
            </a:extLst>
          </p:cNvPr>
          <p:cNvSpPr/>
          <p:nvPr/>
        </p:nvSpPr>
        <p:spPr>
          <a:xfrm>
            <a:off x="2819400" y="2794000"/>
            <a:ext cx="1981200" cy="1587500"/>
          </a:xfrm>
          <a:prstGeom prst="rect">
            <a:avLst/>
          </a:prstGeom>
          <a:solidFill>
            <a:srgbClr val="1269B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CuadroTexto 10">
            <a:extLst>
              <a:ext uri="{FF2B5EF4-FFF2-40B4-BE49-F238E27FC236}">
                <a16:creationId xmlns:a16="http://schemas.microsoft.com/office/drawing/2014/main" id="{ADD5CBB7-F619-10F0-B38A-93BFDE1306AF}"/>
              </a:ext>
            </a:extLst>
          </p:cNvPr>
          <p:cNvSpPr txBox="1"/>
          <p:nvPr/>
        </p:nvSpPr>
        <p:spPr>
          <a:xfrm>
            <a:off x="2971800" y="2946400"/>
            <a:ext cx="1676400" cy="323165"/>
          </a:xfrm>
          <a:prstGeom prst="rect">
            <a:avLst/>
          </a:prstGeom>
          <a:noFill/>
        </p:spPr>
        <p:txBody>
          <a:bodyPr vert="horz" wrap="square" lIns="0" tIns="0" rIns="0" bIns="0" rtlCol="0">
            <a:spAutoFit/>
          </a:bodyPr>
          <a:lstStyle/>
          <a:p>
            <a:r>
              <a:rPr lang="es-ES" sz="2100" b="1">
                <a:solidFill>
                  <a:srgbClr val="FFFFFF"/>
                </a:solidFill>
                <a:latin typeface="Aptos" panose="020B0004020202020204" pitchFamily="34" charset="0"/>
              </a:rPr>
              <a:t>Cotización</a:t>
            </a:r>
          </a:p>
        </p:txBody>
      </p:sp>
      <p:sp>
        <p:nvSpPr>
          <p:cNvPr id="12" name="CuadroTexto 11">
            <a:extLst>
              <a:ext uri="{FF2B5EF4-FFF2-40B4-BE49-F238E27FC236}">
                <a16:creationId xmlns:a16="http://schemas.microsoft.com/office/drawing/2014/main" id="{A5D193EF-1315-82B4-32CB-F5F2A4EA18DB}"/>
              </a:ext>
            </a:extLst>
          </p:cNvPr>
          <p:cNvSpPr txBox="1"/>
          <p:nvPr/>
        </p:nvSpPr>
        <p:spPr>
          <a:xfrm>
            <a:off x="2971800" y="3403600"/>
            <a:ext cx="1676400" cy="246221"/>
          </a:xfrm>
          <a:prstGeom prst="rect">
            <a:avLst/>
          </a:prstGeom>
          <a:noFill/>
        </p:spPr>
        <p:txBody>
          <a:bodyPr vert="horz" wrap="square" lIns="0" tIns="0" rIns="0" bIns="0" rtlCol="0">
            <a:spAutoFit/>
          </a:bodyPr>
          <a:lstStyle/>
          <a:p>
            <a:r>
              <a:rPr lang="es-ES" sz="1600">
                <a:solidFill>
                  <a:srgbClr val="FFFFFF"/>
                </a:solidFill>
                <a:latin typeface="Aptos" panose="020B0004020202020204" pitchFamily="34" charset="0"/>
              </a:rPr>
              <a:t>Solicitar precios</a:t>
            </a:r>
          </a:p>
        </p:txBody>
      </p:sp>
      <p:cxnSp>
        <p:nvCxnSpPr>
          <p:cNvPr id="13" name="Conector recto 12">
            <a:extLst>
              <a:ext uri="{FF2B5EF4-FFF2-40B4-BE49-F238E27FC236}">
                <a16:creationId xmlns:a16="http://schemas.microsoft.com/office/drawing/2014/main" id="{89E11233-91D4-0772-6EDD-ADF0EB2379B0}"/>
              </a:ext>
            </a:extLst>
          </p:cNvPr>
          <p:cNvCxnSpPr/>
          <p:nvPr/>
        </p:nvCxnSpPr>
        <p:spPr>
          <a:xfrm>
            <a:off x="4800600" y="3581400"/>
            <a:ext cx="304800" cy="0"/>
          </a:xfrm>
          <a:prstGeom prst="line">
            <a:avLst/>
          </a:prstGeom>
          <a:ln w="19050">
            <a:solidFill>
              <a:srgbClr val="52677A"/>
            </a:solidFill>
            <a:tailEnd type="arrow"/>
          </a:ln>
        </p:spPr>
        <p:style>
          <a:lnRef idx="2">
            <a:schemeClr val="accent1"/>
          </a:lnRef>
          <a:fillRef idx="0">
            <a:schemeClr val="accent1"/>
          </a:fillRef>
          <a:effectRef idx="1">
            <a:schemeClr val="accent1"/>
          </a:effectRef>
          <a:fontRef idx="minor">
            <a:schemeClr val="tx1"/>
          </a:fontRef>
        </p:style>
      </p:cxnSp>
      <p:sp>
        <p:nvSpPr>
          <p:cNvPr id="14" name="Rectángulo 13">
            <a:extLst>
              <a:ext uri="{FF2B5EF4-FFF2-40B4-BE49-F238E27FC236}">
                <a16:creationId xmlns:a16="http://schemas.microsoft.com/office/drawing/2014/main" id="{6C68A4DF-F488-D5A2-2AD6-39607912BDE1}"/>
              </a:ext>
            </a:extLst>
          </p:cNvPr>
          <p:cNvSpPr/>
          <p:nvPr/>
        </p:nvSpPr>
        <p:spPr>
          <a:xfrm>
            <a:off x="5105400" y="2794000"/>
            <a:ext cx="1981200" cy="1587500"/>
          </a:xfrm>
          <a:prstGeom prst="rect">
            <a:avLst/>
          </a:prstGeom>
          <a:solidFill>
            <a:srgbClr val="1269B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5" name="CuadroTexto 14">
            <a:extLst>
              <a:ext uri="{FF2B5EF4-FFF2-40B4-BE49-F238E27FC236}">
                <a16:creationId xmlns:a16="http://schemas.microsoft.com/office/drawing/2014/main" id="{78444526-4D94-CB02-4B7F-6BB504702E3B}"/>
              </a:ext>
            </a:extLst>
          </p:cNvPr>
          <p:cNvSpPr txBox="1"/>
          <p:nvPr/>
        </p:nvSpPr>
        <p:spPr>
          <a:xfrm>
            <a:off x="5257800" y="2946400"/>
            <a:ext cx="1676400" cy="323165"/>
          </a:xfrm>
          <a:prstGeom prst="rect">
            <a:avLst/>
          </a:prstGeom>
          <a:noFill/>
        </p:spPr>
        <p:txBody>
          <a:bodyPr vert="horz" wrap="square" lIns="0" tIns="0" rIns="0" bIns="0" rtlCol="0">
            <a:spAutoFit/>
          </a:bodyPr>
          <a:lstStyle/>
          <a:p>
            <a:r>
              <a:rPr lang="es-ES" sz="2100" b="1">
                <a:solidFill>
                  <a:srgbClr val="FFFFFF"/>
                </a:solidFill>
                <a:latin typeface="Aptos" panose="020B0004020202020204" pitchFamily="34" charset="0"/>
              </a:rPr>
              <a:t>Oferta</a:t>
            </a:r>
          </a:p>
        </p:txBody>
      </p:sp>
      <p:sp>
        <p:nvSpPr>
          <p:cNvPr id="16" name="CuadroTexto 15">
            <a:extLst>
              <a:ext uri="{FF2B5EF4-FFF2-40B4-BE49-F238E27FC236}">
                <a16:creationId xmlns:a16="http://schemas.microsoft.com/office/drawing/2014/main" id="{ED3282D6-7754-EE24-FC99-5F594ECB9F30}"/>
              </a:ext>
            </a:extLst>
          </p:cNvPr>
          <p:cNvSpPr txBox="1"/>
          <p:nvPr/>
        </p:nvSpPr>
        <p:spPr>
          <a:xfrm>
            <a:off x="5257800" y="3403600"/>
            <a:ext cx="1676400" cy="492443"/>
          </a:xfrm>
          <a:prstGeom prst="rect">
            <a:avLst/>
          </a:prstGeom>
          <a:noFill/>
        </p:spPr>
        <p:txBody>
          <a:bodyPr vert="horz" wrap="square" lIns="0" tIns="0" rIns="0" bIns="0" rtlCol="0">
            <a:spAutoFit/>
          </a:bodyPr>
          <a:lstStyle/>
          <a:p>
            <a:r>
              <a:rPr lang="es-ES" sz="1600">
                <a:solidFill>
                  <a:srgbClr val="FFFFFF"/>
                </a:solidFill>
                <a:latin typeface="Aptos" panose="020B0004020202020204" pitchFamily="34" charset="0"/>
              </a:rPr>
              <a:t>Aceptar condiciones</a:t>
            </a:r>
          </a:p>
        </p:txBody>
      </p:sp>
      <p:cxnSp>
        <p:nvCxnSpPr>
          <p:cNvPr id="17" name="Conector recto 16">
            <a:extLst>
              <a:ext uri="{FF2B5EF4-FFF2-40B4-BE49-F238E27FC236}">
                <a16:creationId xmlns:a16="http://schemas.microsoft.com/office/drawing/2014/main" id="{0A023C34-3E46-FF4D-5DC1-294E3082C0B7}"/>
              </a:ext>
            </a:extLst>
          </p:cNvPr>
          <p:cNvCxnSpPr/>
          <p:nvPr/>
        </p:nvCxnSpPr>
        <p:spPr>
          <a:xfrm>
            <a:off x="7086600" y="3581400"/>
            <a:ext cx="304800" cy="0"/>
          </a:xfrm>
          <a:prstGeom prst="line">
            <a:avLst/>
          </a:prstGeom>
          <a:ln w="19050">
            <a:solidFill>
              <a:srgbClr val="52677A"/>
            </a:solidFill>
            <a:tailEnd type="arrow"/>
          </a:ln>
        </p:spPr>
        <p:style>
          <a:lnRef idx="2">
            <a:schemeClr val="accent1"/>
          </a:lnRef>
          <a:fillRef idx="0">
            <a:schemeClr val="accent1"/>
          </a:fillRef>
          <a:effectRef idx="1">
            <a:schemeClr val="accent1"/>
          </a:effectRef>
          <a:fontRef idx="minor">
            <a:schemeClr val="tx1"/>
          </a:fontRef>
        </p:style>
      </p:cxnSp>
      <p:sp>
        <p:nvSpPr>
          <p:cNvPr id="18" name="Rectángulo 17">
            <a:extLst>
              <a:ext uri="{FF2B5EF4-FFF2-40B4-BE49-F238E27FC236}">
                <a16:creationId xmlns:a16="http://schemas.microsoft.com/office/drawing/2014/main" id="{E1E7CB97-5C4B-060D-D6EC-F26E83790C36}"/>
              </a:ext>
            </a:extLst>
          </p:cNvPr>
          <p:cNvSpPr/>
          <p:nvPr/>
        </p:nvSpPr>
        <p:spPr>
          <a:xfrm>
            <a:off x="7391400" y="2794000"/>
            <a:ext cx="1981200" cy="1587500"/>
          </a:xfrm>
          <a:prstGeom prst="rect">
            <a:avLst/>
          </a:prstGeom>
          <a:solidFill>
            <a:srgbClr val="1269B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9" name="CuadroTexto 18">
            <a:extLst>
              <a:ext uri="{FF2B5EF4-FFF2-40B4-BE49-F238E27FC236}">
                <a16:creationId xmlns:a16="http://schemas.microsoft.com/office/drawing/2014/main" id="{C15A9327-15B7-37A0-42A1-8BAA6E8E3359}"/>
              </a:ext>
            </a:extLst>
          </p:cNvPr>
          <p:cNvSpPr txBox="1"/>
          <p:nvPr/>
        </p:nvSpPr>
        <p:spPr>
          <a:xfrm>
            <a:off x="7543800" y="2946400"/>
            <a:ext cx="1676400" cy="323165"/>
          </a:xfrm>
          <a:prstGeom prst="rect">
            <a:avLst/>
          </a:prstGeom>
          <a:noFill/>
        </p:spPr>
        <p:txBody>
          <a:bodyPr vert="horz" wrap="square" lIns="0" tIns="0" rIns="0" bIns="0" rtlCol="0">
            <a:spAutoFit/>
          </a:bodyPr>
          <a:lstStyle/>
          <a:p>
            <a:r>
              <a:rPr lang="es-ES" sz="2100" b="1">
                <a:solidFill>
                  <a:srgbClr val="FFFFFF"/>
                </a:solidFill>
                <a:latin typeface="Aptos" panose="020B0004020202020204" pitchFamily="34" charset="0"/>
              </a:rPr>
              <a:t>Pedido</a:t>
            </a:r>
          </a:p>
        </p:txBody>
      </p:sp>
      <p:sp>
        <p:nvSpPr>
          <p:cNvPr id="20" name="CuadroTexto 19">
            <a:extLst>
              <a:ext uri="{FF2B5EF4-FFF2-40B4-BE49-F238E27FC236}">
                <a16:creationId xmlns:a16="http://schemas.microsoft.com/office/drawing/2014/main" id="{62A9F5E6-E142-7C12-E920-11F07773C8B2}"/>
              </a:ext>
            </a:extLst>
          </p:cNvPr>
          <p:cNvSpPr txBox="1"/>
          <p:nvPr/>
        </p:nvSpPr>
        <p:spPr>
          <a:xfrm>
            <a:off x="7543800" y="3403600"/>
            <a:ext cx="1676400" cy="246221"/>
          </a:xfrm>
          <a:prstGeom prst="rect">
            <a:avLst/>
          </a:prstGeom>
          <a:noFill/>
        </p:spPr>
        <p:txBody>
          <a:bodyPr vert="horz" wrap="square" lIns="0" tIns="0" rIns="0" bIns="0" rtlCol="0">
            <a:spAutoFit/>
          </a:bodyPr>
          <a:lstStyle/>
          <a:p>
            <a:r>
              <a:rPr lang="es-ES" sz="1600">
                <a:solidFill>
                  <a:srgbClr val="FFFFFF"/>
                </a:solidFill>
                <a:latin typeface="Aptos" panose="020B0004020202020204" pitchFamily="34" charset="0"/>
              </a:rPr>
              <a:t>Reservar stock</a:t>
            </a:r>
          </a:p>
        </p:txBody>
      </p:sp>
      <p:cxnSp>
        <p:nvCxnSpPr>
          <p:cNvPr id="21" name="Conector recto 20">
            <a:extLst>
              <a:ext uri="{FF2B5EF4-FFF2-40B4-BE49-F238E27FC236}">
                <a16:creationId xmlns:a16="http://schemas.microsoft.com/office/drawing/2014/main" id="{E43A95A5-E600-626E-8151-F1C04E361591}"/>
              </a:ext>
            </a:extLst>
          </p:cNvPr>
          <p:cNvCxnSpPr/>
          <p:nvPr/>
        </p:nvCxnSpPr>
        <p:spPr>
          <a:xfrm>
            <a:off x="9372600" y="3581400"/>
            <a:ext cx="304800" cy="0"/>
          </a:xfrm>
          <a:prstGeom prst="line">
            <a:avLst/>
          </a:prstGeom>
          <a:ln w="19050">
            <a:solidFill>
              <a:srgbClr val="52677A"/>
            </a:solidFill>
            <a:tailEnd type="arrow"/>
          </a:ln>
        </p:spPr>
        <p:style>
          <a:lnRef idx="2">
            <a:schemeClr val="accent1"/>
          </a:lnRef>
          <a:fillRef idx="0">
            <a:schemeClr val="accent1"/>
          </a:fillRef>
          <a:effectRef idx="1">
            <a:schemeClr val="accent1"/>
          </a:effectRef>
          <a:fontRef idx="minor">
            <a:schemeClr val="tx1"/>
          </a:fontRef>
        </p:style>
      </p:cxnSp>
      <p:sp>
        <p:nvSpPr>
          <p:cNvPr id="22" name="Rectángulo 21">
            <a:extLst>
              <a:ext uri="{FF2B5EF4-FFF2-40B4-BE49-F238E27FC236}">
                <a16:creationId xmlns:a16="http://schemas.microsoft.com/office/drawing/2014/main" id="{C8955916-F1F0-F187-B276-97D278EE4C3B}"/>
              </a:ext>
            </a:extLst>
          </p:cNvPr>
          <p:cNvSpPr/>
          <p:nvPr/>
        </p:nvSpPr>
        <p:spPr>
          <a:xfrm>
            <a:off x="9677400" y="2794000"/>
            <a:ext cx="1981200" cy="1587500"/>
          </a:xfrm>
          <a:prstGeom prst="rect">
            <a:avLst/>
          </a:prstGeom>
          <a:solidFill>
            <a:srgbClr val="1269B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3" name="CuadroTexto 22">
            <a:extLst>
              <a:ext uri="{FF2B5EF4-FFF2-40B4-BE49-F238E27FC236}">
                <a16:creationId xmlns:a16="http://schemas.microsoft.com/office/drawing/2014/main" id="{01526FA7-13D0-7316-259B-7FBE1D660533}"/>
              </a:ext>
            </a:extLst>
          </p:cNvPr>
          <p:cNvSpPr txBox="1"/>
          <p:nvPr/>
        </p:nvSpPr>
        <p:spPr>
          <a:xfrm>
            <a:off x="9829800" y="2946400"/>
            <a:ext cx="1676400" cy="323165"/>
          </a:xfrm>
          <a:prstGeom prst="rect">
            <a:avLst/>
          </a:prstGeom>
          <a:noFill/>
        </p:spPr>
        <p:txBody>
          <a:bodyPr vert="horz" wrap="square" lIns="0" tIns="0" rIns="0" bIns="0" rtlCol="0">
            <a:spAutoFit/>
          </a:bodyPr>
          <a:lstStyle/>
          <a:p>
            <a:r>
              <a:rPr lang="es-ES" sz="2100" b="1">
                <a:solidFill>
                  <a:srgbClr val="FFFFFF"/>
                </a:solidFill>
                <a:latin typeface="Aptos" panose="020B0004020202020204" pitchFamily="34" charset="0"/>
              </a:rPr>
              <a:t>Atención</a:t>
            </a:r>
          </a:p>
        </p:txBody>
      </p:sp>
      <p:sp>
        <p:nvSpPr>
          <p:cNvPr id="24" name="CuadroTexto 23">
            <a:extLst>
              <a:ext uri="{FF2B5EF4-FFF2-40B4-BE49-F238E27FC236}">
                <a16:creationId xmlns:a16="http://schemas.microsoft.com/office/drawing/2014/main" id="{4BD2E0D0-73E0-EB1E-938C-C57FE6AE6C2B}"/>
              </a:ext>
            </a:extLst>
          </p:cNvPr>
          <p:cNvSpPr txBox="1"/>
          <p:nvPr/>
        </p:nvSpPr>
        <p:spPr>
          <a:xfrm>
            <a:off x="9829800" y="3403600"/>
            <a:ext cx="1676400" cy="246221"/>
          </a:xfrm>
          <a:prstGeom prst="rect">
            <a:avLst/>
          </a:prstGeom>
          <a:noFill/>
        </p:spPr>
        <p:txBody>
          <a:bodyPr vert="horz" wrap="square" lIns="0" tIns="0" rIns="0" bIns="0" rtlCol="0">
            <a:spAutoFit/>
          </a:bodyPr>
          <a:lstStyle/>
          <a:p>
            <a:r>
              <a:rPr lang="es-ES" sz="1600">
                <a:solidFill>
                  <a:srgbClr val="FFFFFF"/>
                </a:solidFill>
                <a:latin typeface="Aptos" panose="020B0004020202020204" pitchFamily="34" charset="0"/>
              </a:rPr>
              <a:t>Consultar estados</a:t>
            </a:r>
          </a:p>
        </p:txBody>
      </p:sp>
      <p:sp>
        <p:nvSpPr>
          <p:cNvPr id="25" name="CuadroTexto 24">
            <a:extLst>
              <a:ext uri="{FF2B5EF4-FFF2-40B4-BE49-F238E27FC236}">
                <a16:creationId xmlns:a16="http://schemas.microsoft.com/office/drawing/2014/main" id="{AEFCC6BD-1412-F18C-04EC-FB6EDA86EFB4}"/>
              </a:ext>
            </a:extLst>
          </p:cNvPr>
          <p:cNvSpPr txBox="1"/>
          <p:nvPr/>
        </p:nvSpPr>
        <p:spPr>
          <a:xfrm>
            <a:off x="533400" y="5194300"/>
            <a:ext cx="11049000" cy="353943"/>
          </a:xfrm>
          <a:prstGeom prst="rect">
            <a:avLst/>
          </a:prstGeom>
          <a:noFill/>
        </p:spPr>
        <p:txBody>
          <a:bodyPr vert="horz" wrap="square" lIns="0" tIns="0" rIns="0" bIns="0" rtlCol="0">
            <a:spAutoFit/>
          </a:bodyPr>
          <a:lstStyle/>
          <a:p>
            <a:r>
              <a:rPr lang="es-ES" sz="2300">
                <a:solidFill>
                  <a:srgbClr val="203447"/>
                </a:solidFill>
                <a:latin typeface="Aptos" panose="020B0004020202020204" pitchFamily="34" charset="0"/>
              </a:rPr>
              <a:t>Ejemplo: una librería cotiza útiles y genera un pedido a un mayorista</a:t>
            </a:r>
          </a:p>
        </p:txBody>
      </p:sp>
    </p:spTree>
    <p:extLst>
      <p:ext uri="{BB962C8B-B14F-4D97-AF65-F5344CB8AC3E}">
        <p14:creationId xmlns:p14="http://schemas.microsoft.com/office/powerpoint/2010/main" val="15139669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86A7E1EC-63BF-F223-8AAC-F7CC9E78FF5F}"/>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Actores y funciones principales</a:t>
            </a:r>
          </a:p>
        </p:txBody>
      </p:sp>
      <p:sp>
        <p:nvSpPr>
          <p:cNvPr id="3" name="CuadroTexto 2">
            <a:extLst>
              <a:ext uri="{FF2B5EF4-FFF2-40B4-BE49-F238E27FC236}">
                <a16:creationId xmlns:a16="http://schemas.microsoft.com/office/drawing/2014/main" id="{9A149FCA-BE6D-B3C3-0EFE-9EAAB79E9D36}"/>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B6464E18-8223-259B-8D5C-27DB4693AAD4}"/>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4</a:t>
            </a:r>
          </a:p>
        </p:txBody>
      </p:sp>
      <p:graphicFrame>
        <p:nvGraphicFramePr>
          <p:cNvPr id="5" name="Tabla 4">
            <a:extLst>
              <a:ext uri="{FF2B5EF4-FFF2-40B4-BE49-F238E27FC236}">
                <a16:creationId xmlns:a16="http://schemas.microsoft.com/office/drawing/2014/main" id="{30471F18-2CAE-0F6B-2016-3E225213E151}"/>
              </a:ext>
            </a:extLst>
          </p:cNvPr>
          <p:cNvGraphicFramePr>
            <a:graphicFrameLocks noGrp="1"/>
          </p:cNvGraphicFramePr>
          <p:nvPr>
            <p:extLst>
              <p:ext uri="{D42A27DB-BD31-4B8C-83A1-F6EECF244321}">
                <p14:modId xmlns:p14="http://schemas.microsoft.com/office/powerpoint/2010/main" val="2122035665"/>
              </p:ext>
            </p:extLst>
          </p:nvPr>
        </p:nvGraphicFramePr>
        <p:xfrm>
          <a:off x="533400" y="1524000"/>
          <a:ext cx="11125200" cy="3937000"/>
        </p:xfrm>
        <a:graphic>
          <a:graphicData uri="http://schemas.openxmlformats.org/drawingml/2006/table">
            <a:tbl>
              <a:tblPr firstRow="1" bandRow="1">
                <a:tableStyleId>{5C22544A-7EE6-4342-B048-85BDC9FD1C3A}</a:tableStyleId>
              </a:tblPr>
              <a:tblGrid>
                <a:gridCol w="3238500">
                  <a:extLst>
                    <a:ext uri="{9D8B030D-6E8A-4147-A177-3AD203B41FA5}">
                      <a16:colId xmlns:a16="http://schemas.microsoft.com/office/drawing/2014/main" val="1766882606"/>
                    </a:ext>
                  </a:extLst>
                </a:gridCol>
                <a:gridCol w="7886700">
                  <a:extLst>
                    <a:ext uri="{9D8B030D-6E8A-4147-A177-3AD203B41FA5}">
                      <a16:colId xmlns:a16="http://schemas.microsoft.com/office/drawing/2014/main" val="3644754778"/>
                    </a:ext>
                  </a:extLst>
                </a:gridCol>
              </a:tblGrid>
              <a:tr h="984250">
                <a:tc>
                  <a:txBody>
                    <a:bodyPr/>
                    <a:lstStyle/>
                    <a:p>
                      <a:r>
                        <a:rPr lang="es-ES" sz="2300" b="1">
                          <a:solidFill>
                            <a:srgbClr val="FFFFFF"/>
                          </a:solidFill>
                          <a:latin typeface="Aptos" panose="020B0004020202020204" pitchFamily="34" charset="0"/>
                        </a:rPr>
                        <a:t>Actor</a:t>
                      </a:r>
                    </a:p>
                  </a:txBody>
                  <a:tcPr marL="152400" marR="127000" marT="127000" marB="101600">
                    <a:solidFill>
                      <a:srgbClr val="102D4E"/>
                    </a:solidFill>
                  </a:tcPr>
                </a:tc>
                <a:tc>
                  <a:txBody>
                    <a:bodyPr/>
                    <a:lstStyle/>
                    <a:p>
                      <a:r>
                        <a:rPr lang="es-ES" sz="2300" b="1">
                          <a:solidFill>
                            <a:srgbClr val="FFFFFF"/>
                          </a:solidFill>
                          <a:latin typeface="Aptos" panose="020B0004020202020204" pitchFamily="34" charset="0"/>
                        </a:rPr>
                        <a:t>Funciones principales</a:t>
                      </a:r>
                    </a:p>
                  </a:txBody>
                  <a:tcPr marL="152400" marR="127000" marT="127000" marB="101600">
                    <a:solidFill>
                      <a:srgbClr val="102D4E"/>
                    </a:solidFill>
                  </a:tcPr>
                </a:tc>
                <a:extLst>
                  <a:ext uri="{0D108BD9-81ED-4DB2-BD59-A6C34878D82A}">
                    <a16:rowId xmlns:a16="http://schemas.microsoft.com/office/drawing/2014/main" val="1325709451"/>
                  </a:ext>
                </a:extLst>
              </a:tr>
              <a:tr h="984250">
                <a:tc>
                  <a:txBody>
                    <a:bodyPr/>
                    <a:lstStyle/>
                    <a:p>
                      <a:r>
                        <a:rPr lang="es-ES" sz="2300" b="0">
                          <a:solidFill>
                            <a:srgbClr val="203447"/>
                          </a:solidFill>
                          <a:latin typeface="Aptos" panose="020B0004020202020204" pitchFamily="34" charset="0"/>
                        </a:rPr>
                        <a:t>Comprador empresarial</a:t>
                      </a:r>
                    </a:p>
                  </a:txBody>
                  <a:tcPr marL="152400" marR="127000" marT="127000" marB="101600">
                    <a:solidFill>
                      <a:srgbClr val="EDF4FA"/>
                    </a:solidFill>
                  </a:tcPr>
                </a:tc>
                <a:tc>
                  <a:txBody>
                    <a:bodyPr/>
                    <a:lstStyle/>
                    <a:p>
                      <a:r>
                        <a:rPr lang="es-ES" sz="2300" b="0">
                          <a:solidFill>
                            <a:srgbClr val="203447"/>
                          </a:solidFill>
                          <a:latin typeface="Aptos" panose="020B0004020202020204" pitchFamily="34" charset="0"/>
                        </a:rPr>
                        <a:t>Consulta catálogo, solicita cotizaciones y realiza pedidos.</a:t>
                      </a:r>
                    </a:p>
                  </a:txBody>
                  <a:tcPr marL="152400" marR="127000" marT="127000" marB="101600">
                    <a:solidFill>
                      <a:srgbClr val="EDF4FA"/>
                    </a:solidFill>
                  </a:tcPr>
                </a:tc>
                <a:extLst>
                  <a:ext uri="{0D108BD9-81ED-4DB2-BD59-A6C34878D82A}">
                    <a16:rowId xmlns:a16="http://schemas.microsoft.com/office/drawing/2014/main" val="2173969351"/>
                  </a:ext>
                </a:extLst>
              </a:tr>
              <a:tr h="984250">
                <a:tc>
                  <a:txBody>
                    <a:bodyPr/>
                    <a:lstStyle/>
                    <a:p>
                      <a:r>
                        <a:rPr lang="es-ES" sz="2300" b="0">
                          <a:solidFill>
                            <a:srgbClr val="203447"/>
                          </a:solidFill>
                          <a:latin typeface="Aptos" panose="020B0004020202020204" pitchFamily="34" charset="0"/>
                        </a:rPr>
                        <a:t>Proveedor mayorista</a:t>
                      </a:r>
                    </a:p>
                  </a:txBody>
                  <a:tcPr marL="152400" marR="127000" marT="127000" marB="101600">
                    <a:solidFill>
                      <a:srgbClr val="FFFFFF"/>
                    </a:solidFill>
                  </a:tcPr>
                </a:tc>
                <a:tc>
                  <a:txBody>
                    <a:bodyPr/>
                    <a:lstStyle/>
                    <a:p>
                      <a:r>
                        <a:rPr lang="es-ES" sz="2300" b="0">
                          <a:solidFill>
                            <a:srgbClr val="203447"/>
                          </a:solidFill>
                          <a:latin typeface="Aptos" panose="020B0004020202020204" pitchFamily="34" charset="0"/>
                        </a:rPr>
                        <a:t>Publica productos, responde ofertas y atiende pedidos.</a:t>
                      </a:r>
                    </a:p>
                  </a:txBody>
                  <a:tcPr marL="152400" marR="127000" marT="127000" marB="101600">
                    <a:solidFill>
                      <a:srgbClr val="FFFFFF"/>
                    </a:solidFill>
                  </a:tcPr>
                </a:tc>
                <a:extLst>
                  <a:ext uri="{0D108BD9-81ED-4DB2-BD59-A6C34878D82A}">
                    <a16:rowId xmlns:a16="http://schemas.microsoft.com/office/drawing/2014/main" val="1224743204"/>
                  </a:ext>
                </a:extLst>
              </a:tr>
              <a:tr h="984250">
                <a:tc>
                  <a:txBody>
                    <a:bodyPr/>
                    <a:lstStyle/>
                    <a:p>
                      <a:r>
                        <a:rPr lang="es-ES" sz="2300" b="0">
                          <a:solidFill>
                            <a:srgbClr val="203447"/>
                          </a:solidFill>
                          <a:latin typeface="Aptos" panose="020B0004020202020204" pitchFamily="34" charset="0"/>
                        </a:rPr>
                        <a:t>Administrador</a:t>
                      </a:r>
                    </a:p>
                  </a:txBody>
                  <a:tcPr marL="152400" marR="127000" marT="127000" marB="101600">
                    <a:solidFill>
                      <a:srgbClr val="EDF4FA"/>
                    </a:solidFill>
                  </a:tcPr>
                </a:tc>
                <a:tc>
                  <a:txBody>
                    <a:bodyPr/>
                    <a:lstStyle/>
                    <a:p>
                      <a:r>
                        <a:rPr lang="es-ES" sz="2300" b="0">
                          <a:solidFill>
                            <a:srgbClr val="203447"/>
                          </a:solidFill>
                          <a:latin typeface="Aptos" panose="020B0004020202020204" pitchFamily="34" charset="0"/>
                        </a:rPr>
                        <a:t>Verifica proveedores y supervisa las operaciones.</a:t>
                      </a:r>
                    </a:p>
                  </a:txBody>
                  <a:tcPr marL="152400" marR="127000" marT="127000" marB="101600">
                    <a:solidFill>
                      <a:srgbClr val="EDF4FA"/>
                    </a:solidFill>
                  </a:tcPr>
                </a:tc>
                <a:extLst>
                  <a:ext uri="{0D108BD9-81ED-4DB2-BD59-A6C34878D82A}">
                    <a16:rowId xmlns:a16="http://schemas.microsoft.com/office/drawing/2014/main" val="2633102885"/>
                  </a:ext>
                </a:extLst>
              </a:tr>
            </a:tbl>
          </a:graphicData>
        </a:graphic>
      </p:graphicFrame>
      <p:sp>
        <p:nvSpPr>
          <p:cNvPr id="6" name="CuadroTexto 5">
            <a:extLst>
              <a:ext uri="{FF2B5EF4-FFF2-40B4-BE49-F238E27FC236}">
                <a16:creationId xmlns:a16="http://schemas.microsoft.com/office/drawing/2014/main" id="{54D1C4AF-0D33-5B03-EBFB-546075253B7C}"/>
              </a:ext>
            </a:extLst>
          </p:cNvPr>
          <p:cNvSpPr txBox="1"/>
          <p:nvPr/>
        </p:nvSpPr>
        <p:spPr>
          <a:xfrm>
            <a:off x="533400" y="5753100"/>
            <a:ext cx="11125200" cy="292388"/>
          </a:xfrm>
          <a:prstGeom prst="rect">
            <a:avLst/>
          </a:prstGeom>
          <a:noFill/>
        </p:spPr>
        <p:txBody>
          <a:bodyPr vert="horz" wrap="square" lIns="0" tIns="0" rIns="0" bIns="0" rtlCol="0">
            <a:spAutoFit/>
          </a:bodyPr>
          <a:lstStyle/>
          <a:p>
            <a:r>
              <a:rPr lang="es-ES" sz="1900">
                <a:solidFill>
                  <a:srgbClr val="52677A"/>
                </a:solidFill>
                <a:latin typeface="Aptos" panose="020B0004020202020204" pitchFamily="34" charset="0"/>
              </a:rPr>
              <a:t>El acceso depende de la empresa, el rol y la participación en cada operación</a:t>
            </a:r>
          </a:p>
        </p:txBody>
      </p:sp>
    </p:spTree>
    <p:extLst>
      <p:ext uri="{BB962C8B-B14F-4D97-AF65-F5344CB8AC3E}">
        <p14:creationId xmlns:p14="http://schemas.microsoft.com/office/powerpoint/2010/main" val="8538933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5C6FD171-B709-DECE-B579-2895051C2A02}"/>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Alcance de la primera versión</a:t>
            </a:r>
          </a:p>
        </p:txBody>
      </p:sp>
      <p:sp>
        <p:nvSpPr>
          <p:cNvPr id="3" name="CuadroTexto 2">
            <a:extLst>
              <a:ext uri="{FF2B5EF4-FFF2-40B4-BE49-F238E27FC236}">
                <a16:creationId xmlns:a16="http://schemas.microsoft.com/office/drawing/2014/main" id="{0D70073A-B53A-3514-3F76-14D4816B7BF5}"/>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CBF067DF-FDB1-AFDE-441B-A22C5BCDD9AA}"/>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5</a:t>
            </a:r>
          </a:p>
        </p:txBody>
      </p:sp>
      <p:sp>
        <p:nvSpPr>
          <p:cNvPr id="5" name="CuadroTexto 4">
            <a:extLst>
              <a:ext uri="{FF2B5EF4-FFF2-40B4-BE49-F238E27FC236}">
                <a16:creationId xmlns:a16="http://schemas.microsoft.com/office/drawing/2014/main" id="{221B72CD-AFAA-D9EE-A420-193E15170155}"/>
              </a:ext>
            </a:extLst>
          </p:cNvPr>
          <p:cNvSpPr txBox="1"/>
          <p:nvPr/>
        </p:nvSpPr>
        <p:spPr>
          <a:xfrm>
            <a:off x="533400" y="1460500"/>
            <a:ext cx="5334000" cy="415498"/>
          </a:xfrm>
          <a:prstGeom prst="rect">
            <a:avLst/>
          </a:prstGeom>
          <a:noFill/>
        </p:spPr>
        <p:txBody>
          <a:bodyPr vert="horz" wrap="square" lIns="0" tIns="0" rIns="0" bIns="0" rtlCol="0">
            <a:spAutoFit/>
          </a:bodyPr>
          <a:lstStyle/>
          <a:p>
            <a:r>
              <a:rPr lang="es-ES" sz="2700" b="1">
                <a:solidFill>
                  <a:srgbClr val="1269B0"/>
                </a:solidFill>
                <a:latin typeface="Aptos" panose="020B0004020202020204" pitchFamily="34" charset="0"/>
              </a:rPr>
              <a:t>MVP propuesto</a:t>
            </a:r>
          </a:p>
        </p:txBody>
      </p:sp>
      <p:sp>
        <p:nvSpPr>
          <p:cNvPr id="6" name="CuadroTexto 5">
            <a:extLst>
              <a:ext uri="{FF2B5EF4-FFF2-40B4-BE49-F238E27FC236}">
                <a16:creationId xmlns:a16="http://schemas.microsoft.com/office/drawing/2014/main" id="{AF55D699-41E8-A911-313C-CC1542953CE3}"/>
              </a:ext>
            </a:extLst>
          </p:cNvPr>
          <p:cNvSpPr txBox="1"/>
          <p:nvPr/>
        </p:nvSpPr>
        <p:spPr>
          <a:xfrm>
            <a:off x="533400" y="2209800"/>
            <a:ext cx="5270500" cy="3046988"/>
          </a:xfrm>
          <a:prstGeom prst="rect">
            <a:avLst/>
          </a:prstGeom>
          <a:noFill/>
        </p:spPr>
        <p:txBody>
          <a:bodyPr vert="horz" wrap="square" lIns="0" tIns="0" rIns="0" bIns="0" rtlCol="0">
            <a:spAutoFit/>
          </a:bodyPr>
          <a:lstStyle/>
          <a:p>
            <a:r>
              <a:rPr lang="es-ES" sz="2200">
                <a:solidFill>
                  <a:srgbClr val="203447"/>
                </a:solidFill>
                <a:latin typeface="Aptos" panose="020B0004020202020204" pitchFamily="34" charset="0"/>
              </a:rPr>
              <a:t>Registro y permisos por empresa</a:t>
            </a:r>
          </a:p>
          <a:p>
            <a:endParaRPr lang="es-ES" sz="2200">
              <a:solidFill>
                <a:srgbClr val="203447"/>
              </a:solidFill>
              <a:latin typeface="Aptos" panose="020B0004020202020204" pitchFamily="34" charset="0"/>
            </a:endParaRPr>
          </a:p>
          <a:p>
            <a:r>
              <a:rPr lang="es-ES" sz="2200">
                <a:solidFill>
                  <a:srgbClr val="203447"/>
                </a:solidFill>
                <a:latin typeface="Aptos" panose="020B0004020202020204" pitchFamily="34" charset="0"/>
              </a:rPr>
              <a:t>Catálogo y verificación manual</a:t>
            </a:r>
          </a:p>
          <a:p>
            <a:endParaRPr lang="es-ES" sz="2200">
              <a:solidFill>
                <a:srgbClr val="203447"/>
              </a:solidFill>
              <a:latin typeface="Aptos" panose="020B0004020202020204" pitchFamily="34" charset="0"/>
            </a:endParaRPr>
          </a:p>
          <a:p>
            <a:r>
              <a:rPr lang="es-ES" sz="2200">
                <a:solidFill>
                  <a:srgbClr val="203447"/>
                </a:solidFill>
                <a:latin typeface="Aptos" panose="020B0004020202020204" pitchFamily="34" charset="0"/>
              </a:rPr>
              <a:t>Cotización a un proveedor</a:t>
            </a:r>
          </a:p>
          <a:p>
            <a:endParaRPr lang="es-ES" sz="2200">
              <a:solidFill>
                <a:srgbClr val="203447"/>
              </a:solidFill>
              <a:latin typeface="Aptos" panose="020B0004020202020204" pitchFamily="34" charset="0"/>
            </a:endParaRPr>
          </a:p>
          <a:p>
            <a:r>
              <a:rPr lang="es-ES" sz="2200">
                <a:solidFill>
                  <a:srgbClr val="203447"/>
                </a:solidFill>
                <a:latin typeface="Aptos" panose="020B0004020202020204" pitchFamily="34" charset="0"/>
              </a:rPr>
              <a:t>Pedido y reserva de stock</a:t>
            </a:r>
          </a:p>
          <a:p>
            <a:endParaRPr lang="es-ES" sz="2200">
              <a:solidFill>
                <a:srgbClr val="203447"/>
              </a:solidFill>
              <a:latin typeface="Aptos" panose="020B0004020202020204" pitchFamily="34" charset="0"/>
            </a:endParaRPr>
          </a:p>
          <a:p>
            <a:r>
              <a:rPr lang="es-ES" sz="2200">
                <a:solidFill>
                  <a:srgbClr val="203447"/>
                </a:solidFill>
                <a:latin typeface="Aptos" panose="020B0004020202020204" pitchFamily="34" charset="0"/>
              </a:rPr>
              <a:t>Atención y estados básicos</a:t>
            </a:r>
          </a:p>
        </p:txBody>
      </p:sp>
      <p:sp>
        <p:nvSpPr>
          <p:cNvPr id="7" name="CuadroTexto 6">
            <a:extLst>
              <a:ext uri="{FF2B5EF4-FFF2-40B4-BE49-F238E27FC236}">
                <a16:creationId xmlns:a16="http://schemas.microsoft.com/office/drawing/2014/main" id="{D7EF19D2-064F-43A0-71D6-CAE1B732A1C5}"/>
              </a:ext>
            </a:extLst>
          </p:cNvPr>
          <p:cNvSpPr txBox="1"/>
          <p:nvPr/>
        </p:nvSpPr>
        <p:spPr>
          <a:xfrm>
            <a:off x="6604000" y="1460500"/>
            <a:ext cx="5054600" cy="415498"/>
          </a:xfrm>
          <a:prstGeom prst="rect">
            <a:avLst/>
          </a:prstGeom>
          <a:noFill/>
        </p:spPr>
        <p:txBody>
          <a:bodyPr vert="horz" wrap="square" lIns="0" tIns="0" rIns="0" bIns="0" rtlCol="0">
            <a:spAutoFit/>
          </a:bodyPr>
          <a:lstStyle/>
          <a:p>
            <a:r>
              <a:rPr lang="es-ES" sz="2700" b="1">
                <a:solidFill>
                  <a:srgbClr val="0F776F"/>
                </a:solidFill>
                <a:latin typeface="Aptos" panose="020B0004020202020204" pitchFamily="34" charset="0"/>
              </a:rPr>
              <a:t>Entregas posteriores</a:t>
            </a:r>
          </a:p>
        </p:txBody>
      </p:sp>
      <p:sp>
        <p:nvSpPr>
          <p:cNvPr id="8" name="CuadroTexto 7">
            <a:extLst>
              <a:ext uri="{FF2B5EF4-FFF2-40B4-BE49-F238E27FC236}">
                <a16:creationId xmlns:a16="http://schemas.microsoft.com/office/drawing/2014/main" id="{2E37C94F-1DC7-9D51-2037-2B51C0388B0F}"/>
              </a:ext>
            </a:extLst>
          </p:cNvPr>
          <p:cNvSpPr txBox="1"/>
          <p:nvPr/>
        </p:nvSpPr>
        <p:spPr>
          <a:xfrm>
            <a:off x="6604000" y="2209800"/>
            <a:ext cx="5054600" cy="2369880"/>
          </a:xfrm>
          <a:prstGeom prst="rect">
            <a:avLst/>
          </a:prstGeom>
          <a:noFill/>
        </p:spPr>
        <p:txBody>
          <a:bodyPr vert="horz" wrap="square" lIns="0" tIns="0" rIns="0" bIns="0" rtlCol="0">
            <a:spAutoFit/>
          </a:bodyPr>
          <a:lstStyle/>
          <a:p>
            <a:r>
              <a:rPr lang="es-ES" sz="2200">
                <a:solidFill>
                  <a:srgbClr val="203447"/>
                </a:solidFill>
                <a:latin typeface="Aptos" panose="020B0004020202020204" pitchFamily="34" charset="0"/>
              </a:rPr>
              <a:t>Recomendaciones de proveedores</a:t>
            </a:r>
          </a:p>
          <a:p>
            <a:endParaRPr lang="es-ES" sz="2200">
              <a:solidFill>
                <a:srgbClr val="203447"/>
              </a:solidFill>
              <a:latin typeface="Aptos" panose="020B0004020202020204" pitchFamily="34" charset="0"/>
            </a:endParaRPr>
          </a:p>
          <a:p>
            <a:r>
              <a:rPr lang="es-ES" sz="2200">
                <a:solidFill>
                  <a:srgbClr val="203447"/>
                </a:solidFill>
                <a:latin typeface="Aptos" panose="020B0004020202020204" pitchFamily="34" charset="0"/>
              </a:rPr>
              <a:t>Facturación y avisos externos</a:t>
            </a:r>
          </a:p>
          <a:p>
            <a:endParaRPr lang="es-ES" sz="2200">
              <a:solidFill>
                <a:srgbClr val="203447"/>
              </a:solidFill>
              <a:latin typeface="Aptos" panose="020B0004020202020204" pitchFamily="34" charset="0"/>
            </a:endParaRPr>
          </a:p>
          <a:p>
            <a:r>
              <a:rPr lang="es-ES" sz="2200">
                <a:solidFill>
                  <a:srgbClr val="203447"/>
                </a:solidFill>
                <a:latin typeface="Aptos" panose="020B0004020202020204" pitchFamily="34" charset="0"/>
              </a:rPr>
              <a:t>Reportes y reclamos avanzados</a:t>
            </a:r>
          </a:p>
          <a:p>
            <a:endParaRPr lang="es-ES" sz="2200">
              <a:solidFill>
                <a:srgbClr val="203447"/>
              </a:solidFill>
              <a:latin typeface="Aptos" panose="020B0004020202020204" pitchFamily="34" charset="0"/>
            </a:endParaRPr>
          </a:p>
          <a:p>
            <a:r>
              <a:rPr lang="es-ES" sz="2200">
                <a:solidFill>
                  <a:srgbClr val="203447"/>
                </a:solidFill>
                <a:latin typeface="Aptos" panose="020B0004020202020204" pitchFamily="34" charset="0"/>
              </a:rPr>
              <a:t>Mapas y automatizaciones</a:t>
            </a:r>
          </a:p>
        </p:txBody>
      </p:sp>
      <p:sp>
        <p:nvSpPr>
          <p:cNvPr id="9" name="CuadroTexto 8">
            <a:extLst>
              <a:ext uri="{FF2B5EF4-FFF2-40B4-BE49-F238E27FC236}">
                <a16:creationId xmlns:a16="http://schemas.microsoft.com/office/drawing/2014/main" id="{6968EDAE-DCFC-0D37-49F8-3E5EE0B4E369}"/>
              </a:ext>
            </a:extLst>
          </p:cNvPr>
          <p:cNvSpPr txBox="1"/>
          <p:nvPr/>
        </p:nvSpPr>
        <p:spPr>
          <a:xfrm>
            <a:off x="533400" y="5880100"/>
            <a:ext cx="11125200" cy="276999"/>
          </a:xfrm>
          <a:prstGeom prst="rect">
            <a:avLst/>
          </a:prstGeom>
          <a:noFill/>
        </p:spPr>
        <p:txBody>
          <a:bodyPr vert="horz" wrap="square" lIns="0" tIns="0" rIns="0" bIns="0" rtlCol="0">
            <a:spAutoFit/>
          </a:bodyPr>
          <a:lstStyle/>
          <a:p>
            <a:r>
              <a:rPr lang="es-ES">
                <a:solidFill>
                  <a:srgbClr val="52677A"/>
                </a:solidFill>
                <a:latin typeface="Aptos" panose="020B0004020202020204" pitchFamily="34" charset="0"/>
              </a:rPr>
              <a:t>Pagos e IA: alcance sujeto a los requisitos del curso y validación docente</a:t>
            </a:r>
          </a:p>
        </p:txBody>
      </p:sp>
    </p:spTree>
    <p:extLst>
      <p:ext uri="{BB962C8B-B14F-4D97-AF65-F5344CB8AC3E}">
        <p14:creationId xmlns:p14="http://schemas.microsoft.com/office/powerpoint/2010/main" val="17934685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C142555C-3B6F-7E67-2555-572F2A9881A5}"/>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Estilos y decisiones arquitectónicas</a:t>
            </a:r>
          </a:p>
        </p:txBody>
      </p:sp>
      <p:sp>
        <p:nvSpPr>
          <p:cNvPr id="3" name="CuadroTexto 2">
            <a:extLst>
              <a:ext uri="{FF2B5EF4-FFF2-40B4-BE49-F238E27FC236}">
                <a16:creationId xmlns:a16="http://schemas.microsoft.com/office/drawing/2014/main" id="{19FF1CB8-AD03-760F-ABAB-551F3B163B4F}"/>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5E73B37A-8E0A-A6F5-C292-85107FB4CD9C}"/>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6</a:t>
            </a:r>
          </a:p>
        </p:txBody>
      </p:sp>
      <p:graphicFrame>
        <p:nvGraphicFramePr>
          <p:cNvPr id="5" name="Tabla 4">
            <a:extLst>
              <a:ext uri="{FF2B5EF4-FFF2-40B4-BE49-F238E27FC236}">
                <a16:creationId xmlns:a16="http://schemas.microsoft.com/office/drawing/2014/main" id="{478EC8E8-8A69-07D3-F09E-2F3CA1B25739}"/>
              </a:ext>
            </a:extLst>
          </p:cNvPr>
          <p:cNvGraphicFramePr>
            <a:graphicFrameLocks noGrp="1"/>
          </p:cNvGraphicFramePr>
          <p:nvPr>
            <p:extLst>
              <p:ext uri="{D42A27DB-BD31-4B8C-83A1-F6EECF244321}">
                <p14:modId xmlns:p14="http://schemas.microsoft.com/office/powerpoint/2010/main" val="3037171078"/>
              </p:ext>
            </p:extLst>
          </p:nvPr>
        </p:nvGraphicFramePr>
        <p:xfrm>
          <a:off x="533400" y="1460500"/>
          <a:ext cx="11125200" cy="4254500"/>
        </p:xfrm>
        <a:graphic>
          <a:graphicData uri="http://schemas.openxmlformats.org/drawingml/2006/table">
            <a:tbl>
              <a:tblPr firstRow="1" bandRow="1">
                <a:tableStyleId>{5C22544A-7EE6-4342-B048-85BDC9FD1C3A}</a:tableStyleId>
              </a:tblPr>
              <a:tblGrid>
                <a:gridCol w="2819400">
                  <a:extLst>
                    <a:ext uri="{9D8B030D-6E8A-4147-A177-3AD203B41FA5}">
                      <a16:colId xmlns:a16="http://schemas.microsoft.com/office/drawing/2014/main" val="1038127900"/>
                    </a:ext>
                  </a:extLst>
                </a:gridCol>
                <a:gridCol w="4152900">
                  <a:extLst>
                    <a:ext uri="{9D8B030D-6E8A-4147-A177-3AD203B41FA5}">
                      <a16:colId xmlns:a16="http://schemas.microsoft.com/office/drawing/2014/main" val="1830597403"/>
                    </a:ext>
                  </a:extLst>
                </a:gridCol>
                <a:gridCol w="4152900">
                  <a:extLst>
                    <a:ext uri="{9D8B030D-6E8A-4147-A177-3AD203B41FA5}">
                      <a16:colId xmlns:a16="http://schemas.microsoft.com/office/drawing/2014/main" val="2454556746"/>
                    </a:ext>
                  </a:extLst>
                </a:gridCol>
              </a:tblGrid>
              <a:tr h="850900">
                <a:tc>
                  <a:txBody>
                    <a:bodyPr/>
                    <a:lstStyle/>
                    <a:p>
                      <a:r>
                        <a:rPr lang="es-ES" sz="2000" b="1">
                          <a:solidFill>
                            <a:srgbClr val="FFFFFF"/>
                          </a:solidFill>
                          <a:latin typeface="Aptos" panose="020B0004020202020204" pitchFamily="34" charset="0"/>
                        </a:rPr>
                        <a:t>Decisión</a:t>
                      </a:r>
                    </a:p>
                  </a:txBody>
                  <a:tcPr marL="152400" marR="127000" marT="127000" marB="101600">
                    <a:solidFill>
                      <a:srgbClr val="102D4E"/>
                    </a:solidFill>
                  </a:tcPr>
                </a:tc>
                <a:tc>
                  <a:txBody>
                    <a:bodyPr/>
                    <a:lstStyle/>
                    <a:p>
                      <a:r>
                        <a:rPr lang="es-ES" sz="2000" b="1">
                          <a:solidFill>
                            <a:srgbClr val="FFFFFF"/>
                          </a:solidFill>
                          <a:latin typeface="Aptos" panose="020B0004020202020204" pitchFamily="34" charset="0"/>
                        </a:rPr>
                        <a:t>Aplicación</a:t>
                      </a:r>
                    </a:p>
                  </a:txBody>
                  <a:tcPr marL="152400" marR="127000" marT="127000" marB="101600">
                    <a:solidFill>
                      <a:srgbClr val="102D4E"/>
                    </a:solidFill>
                  </a:tcPr>
                </a:tc>
                <a:tc>
                  <a:txBody>
                    <a:bodyPr/>
                    <a:lstStyle/>
                    <a:p>
                      <a:r>
                        <a:rPr lang="es-ES" sz="2000" b="1">
                          <a:solidFill>
                            <a:srgbClr val="FFFFFF"/>
                          </a:solidFill>
                          <a:latin typeface="Aptos" panose="020B0004020202020204" pitchFamily="34" charset="0"/>
                        </a:rPr>
                        <a:t>Justificación</a:t>
                      </a:r>
                    </a:p>
                  </a:txBody>
                  <a:tcPr marL="152400" marR="127000" marT="127000" marB="101600">
                    <a:solidFill>
                      <a:srgbClr val="102D4E"/>
                    </a:solidFill>
                  </a:tcPr>
                </a:tc>
                <a:extLst>
                  <a:ext uri="{0D108BD9-81ED-4DB2-BD59-A6C34878D82A}">
                    <a16:rowId xmlns:a16="http://schemas.microsoft.com/office/drawing/2014/main" val="1945210649"/>
                  </a:ext>
                </a:extLst>
              </a:tr>
              <a:tr h="850900">
                <a:tc>
                  <a:txBody>
                    <a:bodyPr/>
                    <a:lstStyle/>
                    <a:p>
                      <a:r>
                        <a:rPr lang="es-ES" sz="2000" b="0">
                          <a:solidFill>
                            <a:srgbClr val="203447"/>
                          </a:solidFill>
                          <a:latin typeface="Aptos" panose="020B0004020202020204" pitchFamily="34" charset="0"/>
                        </a:rPr>
                        <a:t>Cliente-servidor</a:t>
                      </a:r>
                    </a:p>
                  </a:txBody>
                  <a:tcPr marL="152400" marR="127000" marT="127000" marB="101600">
                    <a:solidFill>
                      <a:srgbClr val="EDF4FA"/>
                    </a:solidFill>
                  </a:tcPr>
                </a:tc>
                <a:tc>
                  <a:txBody>
                    <a:bodyPr/>
                    <a:lstStyle/>
                    <a:p>
                      <a:r>
                        <a:rPr lang="es-ES" sz="2000" b="0">
                          <a:solidFill>
                            <a:srgbClr val="203447"/>
                          </a:solidFill>
                          <a:latin typeface="Aptos" panose="020B0004020202020204" pitchFamily="34" charset="0"/>
                        </a:rPr>
                        <a:t>Angular consume la API REST.</a:t>
                      </a:r>
                    </a:p>
                  </a:txBody>
                  <a:tcPr marL="152400" marR="127000" marT="127000" marB="101600">
                    <a:solidFill>
                      <a:srgbClr val="EDF4FA"/>
                    </a:solidFill>
                  </a:tcPr>
                </a:tc>
                <a:tc>
                  <a:txBody>
                    <a:bodyPr/>
                    <a:lstStyle/>
                    <a:p>
                      <a:r>
                        <a:rPr lang="es-ES" sz="2000" b="0">
                          <a:solidFill>
                            <a:srgbClr val="203447"/>
                          </a:solidFill>
                          <a:latin typeface="Aptos" panose="020B0004020202020204" pitchFamily="34" charset="0"/>
                        </a:rPr>
                        <a:t>Separar la interfaz del backend.</a:t>
                      </a:r>
                    </a:p>
                  </a:txBody>
                  <a:tcPr marL="152400" marR="127000" marT="127000" marB="101600">
                    <a:solidFill>
                      <a:srgbClr val="EDF4FA"/>
                    </a:solidFill>
                  </a:tcPr>
                </a:tc>
                <a:extLst>
                  <a:ext uri="{0D108BD9-81ED-4DB2-BD59-A6C34878D82A}">
                    <a16:rowId xmlns:a16="http://schemas.microsoft.com/office/drawing/2014/main" val="3817720240"/>
                  </a:ext>
                </a:extLst>
              </a:tr>
              <a:tr h="850900">
                <a:tc>
                  <a:txBody>
                    <a:bodyPr/>
                    <a:lstStyle/>
                    <a:p>
                      <a:r>
                        <a:rPr lang="es-ES" sz="2000" b="0">
                          <a:solidFill>
                            <a:srgbClr val="203447"/>
                          </a:solidFill>
                          <a:latin typeface="Aptos" panose="020B0004020202020204" pitchFamily="34" charset="0"/>
                        </a:rPr>
                        <a:t>Monolito modular</a:t>
                      </a:r>
                    </a:p>
                  </a:txBody>
                  <a:tcPr marL="152400" marR="127000" marT="127000" marB="101600">
                    <a:solidFill>
                      <a:srgbClr val="FFFFFF"/>
                    </a:solidFill>
                  </a:tcPr>
                </a:tc>
                <a:tc>
                  <a:txBody>
                    <a:bodyPr/>
                    <a:lstStyle/>
                    <a:p>
                      <a:r>
                        <a:rPr lang="es-ES" sz="2000" b="0">
                          <a:solidFill>
                            <a:srgbClr val="203447"/>
                          </a:solidFill>
                          <a:latin typeface="Aptos" panose="020B0004020202020204" pitchFamily="34" charset="0"/>
                        </a:rPr>
                        <a:t>Módulos comerciales en NestJS.</a:t>
                      </a:r>
                    </a:p>
                  </a:txBody>
                  <a:tcPr marL="152400" marR="127000" marT="127000" marB="101600">
                    <a:solidFill>
                      <a:srgbClr val="FFFFFF"/>
                    </a:solidFill>
                  </a:tcPr>
                </a:tc>
                <a:tc>
                  <a:txBody>
                    <a:bodyPr/>
                    <a:lstStyle/>
                    <a:p>
                      <a:r>
                        <a:rPr lang="es-ES" sz="2000" b="0">
                          <a:solidFill>
                            <a:srgbClr val="203447"/>
                          </a:solidFill>
                          <a:latin typeface="Aptos" panose="020B0004020202020204" pitchFamily="34" charset="0"/>
                        </a:rPr>
                        <a:t>Simplificar despliegue y coordinación.</a:t>
                      </a:r>
                    </a:p>
                  </a:txBody>
                  <a:tcPr marL="152400" marR="127000" marT="127000" marB="101600">
                    <a:solidFill>
                      <a:srgbClr val="FFFFFF"/>
                    </a:solidFill>
                  </a:tcPr>
                </a:tc>
                <a:extLst>
                  <a:ext uri="{0D108BD9-81ED-4DB2-BD59-A6C34878D82A}">
                    <a16:rowId xmlns:a16="http://schemas.microsoft.com/office/drawing/2014/main" val="4242582292"/>
                  </a:ext>
                </a:extLst>
              </a:tr>
              <a:tr h="850900">
                <a:tc>
                  <a:txBody>
                    <a:bodyPr/>
                    <a:lstStyle/>
                    <a:p>
                      <a:r>
                        <a:rPr lang="es-ES" sz="2000" b="0">
                          <a:solidFill>
                            <a:srgbClr val="203447"/>
                          </a:solidFill>
                          <a:latin typeface="Aptos" panose="020B0004020202020204" pitchFamily="34" charset="0"/>
                        </a:rPr>
                        <a:t>Clean Architecture</a:t>
                      </a:r>
                    </a:p>
                  </a:txBody>
                  <a:tcPr marL="152400" marR="127000" marT="127000" marB="101600">
                    <a:solidFill>
                      <a:srgbClr val="EDF4FA"/>
                    </a:solidFill>
                  </a:tcPr>
                </a:tc>
                <a:tc>
                  <a:txBody>
                    <a:bodyPr/>
                    <a:lstStyle/>
                    <a:p>
                      <a:r>
                        <a:rPr lang="es-ES" sz="2000" b="0">
                          <a:solidFill>
                            <a:srgbClr val="203447"/>
                          </a:solidFill>
                          <a:latin typeface="Aptos" panose="020B0004020202020204" pitchFamily="34" charset="0"/>
                        </a:rPr>
                        <a:t>Capas dentro de cada módulo.</a:t>
                      </a:r>
                    </a:p>
                  </a:txBody>
                  <a:tcPr marL="152400" marR="127000" marT="127000" marB="101600">
                    <a:solidFill>
                      <a:srgbClr val="EDF4FA"/>
                    </a:solidFill>
                  </a:tcPr>
                </a:tc>
                <a:tc>
                  <a:txBody>
                    <a:bodyPr/>
                    <a:lstStyle/>
                    <a:p>
                      <a:r>
                        <a:rPr lang="es-ES" sz="2000" b="0">
                          <a:solidFill>
                            <a:srgbClr val="203447"/>
                          </a:solidFill>
                          <a:latin typeface="Aptos" panose="020B0004020202020204" pitchFamily="34" charset="0"/>
                        </a:rPr>
                        <a:t>Aislar las reglas de negocio.</a:t>
                      </a:r>
                    </a:p>
                  </a:txBody>
                  <a:tcPr marL="152400" marR="127000" marT="127000" marB="101600">
                    <a:solidFill>
                      <a:srgbClr val="EDF4FA"/>
                    </a:solidFill>
                  </a:tcPr>
                </a:tc>
                <a:extLst>
                  <a:ext uri="{0D108BD9-81ED-4DB2-BD59-A6C34878D82A}">
                    <a16:rowId xmlns:a16="http://schemas.microsoft.com/office/drawing/2014/main" val="3575351534"/>
                  </a:ext>
                </a:extLst>
              </a:tr>
              <a:tr h="850900">
                <a:tc>
                  <a:txBody>
                    <a:bodyPr/>
                    <a:lstStyle/>
                    <a:p>
                      <a:r>
                        <a:rPr lang="es-ES" sz="2000" b="0">
                          <a:solidFill>
                            <a:srgbClr val="203447"/>
                          </a:solidFill>
                          <a:latin typeface="Aptos" panose="020B0004020202020204" pitchFamily="34" charset="0"/>
                        </a:rPr>
                        <a:t>Tareas asíncronas</a:t>
                      </a:r>
                    </a:p>
                  </a:txBody>
                  <a:tcPr marL="152400" marR="127000" marT="127000" marB="101600">
                    <a:solidFill>
                      <a:srgbClr val="FFFFFF"/>
                    </a:solidFill>
                  </a:tcPr>
                </a:tc>
                <a:tc>
                  <a:txBody>
                    <a:bodyPr/>
                    <a:lstStyle/>
                    <a:p>
                      <a:r>
                        <a:rPr lang="en-US" sz="2000" b="0">
                          <a:solidFill>
                            <a:srgbClr val="203447"/>
                          </a:solidFill>
                          <a:latin typeface="Aptos" panose="020B0004020202020204" pitchFamily="34" charset="0"/>
                        </a:rPr>
                        <a:t>Outbox, SQS y workers previstos.</a:t>
                      </a:r>
                      <a:endParaRPr lang="es-ES" sz="2000" b="0">
                        <a:solidFill>
                          <a:srgbClr val="203447"/>
                        </a:solidFill>
                        <a:latin typeface="Aptos" panose="020B0004020202020204" pitchFamily="34" charset="0"/>
                      </a:endParaRPr>
                    </a:p>
                  </a:txBody>
                  <a:tcPr marL="152400" marR="127000" marT="127000" marB="101600">
                    <a:solidFill>
                      <a:srgbClr val="FFFFFF"/>
                    </a:solidFill>
                  </a:tcPr>
                </a:tc>
                <a:tc>
                  <a:txBody>
                    <a:bodyPr/>
                    <a:lstStyle/>
                    <a:p>
                      <a:r>
                        <a:rPr lang="es-ES" sz="2000" b="0">
                          <a:solidFill>
                            <a:srgbClr val="203447"/>
                          </a:solidFill>
                          <a:latin typeface="Aptos" panose="020B0004020202020204" pitchFamily="34" charset="0"/>
                        </a:rPr>
                        <a:t>Ejecutar tareas con reintentos.</a:t>
                      </a:r>
                    </a:p>
                  </a:txBody>
                  <a:tcPr marL="152400" marR="127000" marT="127000" marB="101600">
                    <a:solidFill>
                      <a:srgbClr val="FFFFFF"/>
                    </a:solidFill>
                  </a:tcPr>
                </a:tc>
                <a:extLst>
                  <a:ext uri="{0D108BD9-81ED-4DB2-BD59-A6C34878D82A}">
                    <a16:rowId xmlns:a16="http://schemas.microsoft.com/office/drawing/2014/main" val="939549434"/>
                  </a:ext>
                </a:extLst>
              </a:tr>
            </a:tbl>
          </a:graphicData>
        </a:graphic>
      </p:graphicFrame>
      <p:sp>
        <p:nvSpPr>
          <p:cNvPr id="6" name="CuadroTexto 5">
            <a:extLst>
              <a:ext uri="{FF2B5EF4-FFF2-40B4-BE49-F238E27FC236}">
                <a16:creationId xmlns:a16="http://schemas.microsoft.com/office/drawing/2014/main" id="{FDB9C7DB-1DC9-2114-DE6C-2E674203073B}"/>
              </a:ext>
            </a:extLst>
          </p:cNvPr>
          <p:cNvSpPr txBox="1"/>
          <p:nvPr/>
        </p:nvSpPr>
        <p:spPr>
          <a:xfrm>
            <a:off x="533400" y="5918200"/>
            <a:ext cx="11125200" cy="307777"/>
          </a:xfrm>
          <a:prstGeom prst="rect">
            <a:avLst/>
          </a:prstGeom>
          <a:noFill/>
        </p:spPr>
        <p:txBody>
          <a:bodyPr vert="horz" wrap="square" lIns="0" tIns="0" rIns="0" bIns="0" rtlCol="0">
            <a:spAutoFit/>
          </a:bodyPr>
          <a:lstStyle/>
          <a:p>
            <a:r>
              <a:rPr lang="es-ES" sz="2000" b="1">
                <a:solidFill>
                  <a:srgbClr val="1269B0"/>
                </a:solidFill>
                <a:latin typeface="Aptos" panose="020B0004020202020204" pitchFamily="34" charset="0"/>
              </a:rPr>
              <a:t>Base del núcleo inicial: Angular, NestJS y PostgreSQL</a:t>
            </a:r>
          </a:p>
        </p:txBody>
      </p:sp>
    </p:spTree>
    <p:extLst>
      <p:ext uri="{BB962C8B-B14F-4D97-AF65-F5344CB8AC3E}">
        <p14:creationId xmlns:p14="http://schemas.microsoft.com/office/powerpoint/2010/main" val="10320632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F8926D98-7860-258C-4355-D14948E475B8}"/>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Organización interna del módulo</a:t>
            </a:r>
          </a:p>
        </p:txBody>
      </p:sp>
      <p:sp>
        <p:nvSpPr>
          <p:cNvPr id="3" name="CuadroTexto 2">
            <a:extLst>
              <a:ext uri="{FF2B5EF4-FFF2-40B4-BE49-F238E27FC236}">
                <a16:creationId xmlns:a16="http://schemas.microsoft.com/office/drawing/2014/main" id="{0D331629-57C5-ECB5-E778-D61F54E7EB08}"/>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743F096E-8FC8-B7E0-3D42-2F6A5FAC31F0}"/>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7</a:t>
            </a:r>
          </a:p>
        </p:txBody>
      </p:sp>
      <p:sp>
        <p:nvSpPr>
          <p:cNvPr id="5" name="Rectángulo 4">
            <a:extLst>
              <a:ext uri="{FF2B5EF4-FFF2-40B4-BE49-F238E27FC236}">
                <a16:creationId xmlns:a16="http://schemas.microsoft.com/office/drawing/2014/main" id="{329232F2-1038-FBE4-18AC-2AACA33D4CD9}"/>
              </a:ext>
            </a:extLst>
          </p:cNvPr>
          <p:cNvSpPr/>
          <p:nvPr/>
        </p:nvSpPr>
        <p:spPr>
          <a:xfrm>
            <a:off x="533400" y="1841500"/>
            <a:ext cx="3302000" cy="1498600"/>
          </a:xfrm>
          <a:prstGeom prst="rect">
            <a:avLst/>
          </a:prstGeom>
          <a:solidFill>
            <a:srgbClr val="1269B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CuadroTexto 5">
            <a:extLst>
              <a:ext uri="{FF2B5EF4-FFF2-40B4-BE49-F238E27FC236}">
                <a16:creationId xmlns:a16="http://schemas.microsoft.com/office/drawing/2014/main" id="{A7AD908B-9A59-472D-9697-24E95363EC16}"/>
              </a:ext>
            </a:extLst>
          </p:cNvPr>
          <p:cNvSpPr txBox="1"/>
          <p:nvPr/>
        </p:nvSpPr>
        <p:spPr>
          <a:xfrm>
            <a:off x="685800" y="1993900"/>
            <a:ext cx="2997200" cy="307777"/>
          </a:xfrm>
          <a:prstGeom prst="rect">
            <a:avLst/>
          </a:prstGeom>
          <a:noFill/>
        </p:spPr>
        <p:txBody>
          <a:bodyPr vert="horz" wrap="square" lIns="0" tIns="0" rIns="0" bIns="0" rtlCol="0">
            <a:spAutoFit/>
          </a:bodyPr>
          <a:lstStyle/>
          <a:p>
            <a:r>
              <a:rPr lang="es-ES" sz="2000" b="1">
                <a:solidFill>
                  <a:srgbClr val="FFFFFF"/>
                </a:solidFill>
                <a:latin typeface="Aptos" panose="020B0004020202020204" pitchFamily="34" charset="0"/>
              </a:rPr>
              <a:t>Presentación</a:t>
            </a:r>
          </a:p>
        </p:txBody>
      </p:sp>
      <p:sp>
        <p:nvSpPr>
          <p:cNvPr id="7" name="CuadroTexto 6">
            <a:extLst>
              <a:ext uri="{FF2B5EF4-FFF2-40B4-BE49-F238E27FC236}">
                <a16:creationId xmlns:a16="http://schemas.microsoft.com/office/drawing/2014/main" id="{14BDA142-17B1-35B4-5418-766B0083D0A4}"/>
              </a:ext>
            </a:extLst>
          </p:cNvPr>
          <p:cNvSpPr txBox="1"/>
          <p:nvPr/>
        </p:nvSpPr>
        <p:spPr>
          <a:xfrm>
            <a:off x="685800" y="2451100"/>
            <a:ext cx="2997200" cy="492443"/>
          </a:xfrm>
          <a:prstGeom prst="rect">
            <a:avLst/>
          </a:prstGeom>
          <a:noFill/>
        </p:spPr>
        <p:txBody>
          <a:bodyPr vert="horz" wrap="square" lIns="0" tIns="0" rIns="0" bIns="0" rtlCol="0">
            <a:spAutoFit/>
          </a:bodyPr>
          <a:lstStyle/>
          <a:p>
            <a:r>
              <a:rPr lang="es-ES" sz="1600">
                <a:solidFill>
                  <a:srgbClr val="FFFFFF"/>
                </a:solidFill>
                <a:latin typeface="Aptos" panose="020B0004020202020204" pitchFamily="34" charset="0"/>
              </a:rPr>
              <a:t>Controladores HTTP</a:t>
            </a:r>
          </a:p>
          <a:p>
            <a:r>
              <a:rPr lang="es-ES" sz="1600">
                <a:solidFill>
                  <a:srgbClr val="FFFFFF"/>
                </a:solidFill>
                <a:latin typeface="Aptos" panose="020B0004020202020204" pitchFamily="34" charset="0"/>
              </a:rPr>
              <a:t>Validación de entrada</a:t>
            </a:r>
          </a:p>
        </p:txBody>
      </p:sp>
      <p:sp>
        <p:nvSpPr>
          <p:cNvPr id="8" name="Rectángulo 7">
            <a:extLst>
              <a:ext uri="{FF2B5EF4-FFF2-40B4-BE49-F238E27FC236}">
                <a16:creationId xmlns:a16="http://schemas.microsoft.com/office/drawing/2014/main" id="{1978AA93-3602-1E39-1D83-528C0C5D0AC9}"/>
              </a:ext>
            </a:extLst>
          </p:cNvPr>
          <p:cNvSpPr/>
          <p:nvPr/>
        </p:nvSpPr>
        <p:spPr>
          <a:xfrm>
            <a:off x="4445000" y="1841500"/>
            <a:ext cx="3302000" cy="1498600"/>
          </a:xfrm>
          <a:prstGeom prst="rect">
            <a:avLst/>
          </a:prstGeom>
          <a:solidFill>
            <a:srgbClr val="0F776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CuadroTexto 8">
            <a:extLst>
              <a:ext uri="{FF2B5EF4-FFF2-40B4-BE49-F238E27FC236}">
                <a16:creationId xmlns:a16="http://schemas.microsoft.com/office/drawing/2014/main" id="{B1E55BD4-E3B3-4716-A831-F4B821CF3522}"/>
              </a:ext>
            </a:extLst>
          </p:cNvPr>
          <p:cNvSpPr txBox="1"/>
          <p:nvPr/>
        </p:nvSpPr>
        <p:spPr>
          <a:xfrm>
            <a:off x="4597400" y="1993900"/>
            <a:ext cx="2997200" cy="307777"/>
          </a:xfrm>
          <a:prstGeom prst="rect">
            <a:avLst/>
          </a:prstGeom>
          <a:noFill/>
        </p:spPr>
        <p:txBody>
          <a:bodyPr vert="horz" wrap="square" lIns="0" tIns="0" rIns="0" bIns="0" rtlCol="0">
            <a:spAutoFit/>
          </a:bodyPr>
          <a:lstStyle/>
          <a:p>
            <a:r>
              <a:rPr lang="es-ES" sz="2000" b="1">
                <a:solidFill>
                  <a:srgbClr val="FFFFFF"/>
                </a:solidFill>
                <a:latin typeface="Aptos" panose="020B0004020202020204" pitchFamily="34" charset="0"/>
              </a:rPr>
              <a:t>Aplicación</a:t>
            </a:r>
          </a:p>
        </p:txBody>
      </p:sp>
      <p:sp>
        <p:nvSpPr>
          <p:cNvPr id="10" name="CuadroTexto 9">
            <a:extLst>
              <a:ext uri="{FF2B5EF4-FFF2-40B4-BE49-F238E27FC236}">
                <a16:creationId xmlns:a16="http://schemas.microsoft.com/office/drawing/2014/main" id="{CE745485-4DF2-6AFC-8888-53AFB7CDCAC1}"/>
              </a:ext>
            </a:extLst>
          </p:cNvPr>
          <p:cNvSpPr txBox="1"/>
          <p:nvPr/>
        </p:nvSpPr>
        <p:spPr>
          <a:xfrm>
            <a:off x="4597400" y="2451100"/>
            <a:ext cx="2997200" cy="492443"/>
          </a:xfrm>
          <a:prstGeom prst="rect">
            <a:avLst/>
          </a:prstGeom>
          <a:noFill/>
        </p:spPr>
        <p:txBody>
          <a:bodyPr vert="horz" wrap="square" lIns="0" tIns="0" rIns="0" bIns="0" rtlCol="0">
            <a:spAutoFit/>
          </a:bodyPr>
          <a:lstStyle/>
          <a:p>
            <a:r>
              <a:rPr lang="es-ES" sz="1600">
                <a:solidFill>
                  <a:srgbClr val="FFFFFF"/>
                </a:solidFill>
                <a:latin typeface="Aptos" panose="020B0004020202020204" pitchFamily="34" charset="0"/>
              </a:rPr>
              <a:t>Casos de uso</a:t>
            </a:r>
          </a:p>
          <a:p>
            <a:r>
              <a:rPr lang="es-ES" sz="1600">
                <a:solidFill>
                  <a:srgbClr val="FFFFFF"/>
                </a:solidFill>
                <a:latin typeface="Aptos" panose="020B0004020202020204" pitchFamily="34" charset="0"/>
              </a:rPr>
              <a:t>Autorización y coordinación</a:t>
            </a:r>
          </a:p>
        </p:txBody>
      </p:sp>
      <p:sp>
        <p:nvSpPr>
          <p:cNvPr id="11" name="Rectángulo 10">
            <a:extLst>
              <a:ext uri="{FF2B5EF4-FFF2-40B4-BE49-F238E27FC236}">
                <a16:creationId xmlns:a16="http://schemas.microsoft.com/office/drawing/2014/main" id="{586CCBBF-2EB4-ACBB-7747-662F505E3AD9}"/>
              </a:ext>
            </a:extLst>
          </p:cNvPr>
          <p:cNvSpPr/>
          <p:nvPr/>
        </p:nvSpPr>
        <p:spPr>
          <a:xfrm>
            <a:off x="8356600" y="1841500"/>
            <a:ext cx="3302000" cy="1498600"/>
          </a:xfrm>
          <a:prstGeom prst="rect">
            <a:avLst/>
          </a:prstGeom>
          <a:solidFill>
            <a:srgbClr val="102D4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CuadroTexto 11">
            <a:extLst>
              <a:ext uri="{FF2B5EF4-FFF2-40B4-BE49-F238E27FC236}">
                <a16:creationId xmlns:a16="http://schemas.microsoft.com/office/drawing/2014/main" id="{1358BEA2-9224-D3DB-DA8F-45FBC061560E}"/>
              </a:ext>
            </a:extLst>
          </p:cNvPr>
          <p:cNvSpPr txBox="1"/>
          <p:nvPr/>
        </p:nvSpPr>
        <p:spPr>
          <a:xfrm>
            <a:off x="8509000" y="1993900"/>
            <a:ext cx="2997200" cy="307777"/>
          </a:xfrm>
          <a:prstGeom prst="rect">
            <a:avLst/>
          </a:prstGeom>
          <a:noFill/>
        </p:spPr>
        <p:txBody>
          <a:bodyPr vert="horz" wrap="square" lIns="0" tIns="0" rIns="0" bIns="0" rtlCol="0">
            <a:spAutoFit/>
          </a:bodyPr>
          <a:lstStyle/>
          <a:p>
            <a:r>
              <a:rPr lang="es-ES" sz="2000" b="1">
                <a:solidFill>
                  <a:srgbClr val="FFFFFF"/>
                </a:solidFill>
                <a:latin typeface="Aptos" panose="020B0004020202020204" pitchFamily="34" charset="0"/>
              </a:rPr>
              <a:t>Dominio</a:t>
            </a:r>
          </a:p>
        </p:txBody>
      </p:sp>
      <p:sp>
        <p:nvSpPr>
          <p:cNvPr id="13" name="CuadroTexto 12">
            <a:extLst>
              <a:ext uri="{FF2B5EF4-FFF2-40B4-BE49-F238E27FC236}">
                <a16:creationId xmlns:a16="http://schemas.microsoft.com/office/drawing/2014/main" id="{4F9827E9-49E2-3E2E-A448-5138FE0B844A}"/>
              </a:ext>
            </a:extLst>
          </p:cNvPr>
          <p:cNvSpPr txBox="1"/>
          <p:nvPr/>
        </p:nvSpPr>
        <p:spPr>
          <a:xfrm>
            <a:off x="8509000" y="2451100"/>
            <a:ext cx="2997200" cy="492443"/>
          </a:xfrm>
          <a:prstGeom prst="rect">
            <a:avLst/>
          </a:prstGeom>
          <a:noFill/>
        </p:spPr>
        <p:txBody>
          <a:bodyPr vert="horz" wrap="square" lIns="0" tIns="0" rIns="0" bIns="0" rtlCol="0">
            <a:spAutoFit/>
          </a:bodyPr>
          <a:lstStyle/>
          <a:p>
            <a:r>
              <a:rPr lang="es-ES" sz="1600">
                <a:solidFill>
                  <a:srgbClr val="FFFFFF"/>
                </a:solidFill>
                <a:latin typeface="Aptos" panose="020B0004020202020204" pitchFamily="34" charset="0"/>
              </a:rPr>
              <a:t>Pedido e ítems</a:t>
            </a:r>
          </a:p>
          <a:p>
            <a:r>
              <a:rPr lang="es-ES" sz="1600">
                <a:solidFill>
                  <a:srgbClr val="FFFFFF"/>
                </a:solidFill>
                <a:latin typeface="Aptos" panose="020B0004020202020204" pitchFamily="34" charset="0"/>
              </a:rPr>
              <a:t>Reglas y contratos</a:t>
            </a:r>
          </a:p>
        </p:txBody>
      </p:sp>
      <p:cxnSp>
        <p:nvCxnSpPr>
          <p:cNvPr id="14" name="Conector recto 13">
            <a:extLst>
              <a:ext uri="{FF2B5EF4-FFF2-40B4-BE49-F238E27FC236}">
                <a16:creationId xmlns:a16="http://schemas.microsoft.com/office/drawing/2014/main" id="{B1DAEB53-9C48-A6C2-33B6-852F13D48293}"/>
              </a:ext>
            </a:extLst>
          </p:cNvPr>
          <p:cNvCxnSpPr/>
          <p:nvPr/>
        </p:nvCxnSpPr>
        <p:spPr>
          <a:xfrm>
            <a:off x="3835400" y="2590800"/>
            <a:ext cx="609600" cy="0"/>
          </a:xfrm>
          <a:prstGeom prst="line">
            <a:avLst/>
          </a:prstGeom>
          <a:ln w="19050">
            <a:solidFill>
              <a:srgbClr val="52677A"/>
            </a:solidFill>
            <a:tailEnd type="arrow"/>
          </a:ln>
        </p:spPr>
        <p:style>
          <a:lnRef idx="2">
            <a:schemeClr val="accent1"/>
          </a:lnRef>
          <a:fillRef idx="0">
            <a:schemeClr val="accent1"/>
          </a:fillRef>
          <a:effectRef idx="1">
            <a:schemeClr val="accent1"/>
          </a:effectRef>
          <a:fontRef idx="minor">
            <a:schemeClr val="tx1"/>
          </a:fontRef>
        </p:style>
      </p:cxnSp>
      <p:cxnSp>
        <p:nvCxnSpPr>
          <p:cNvPr id="15" name="Conector recto 14">
            <a:extLst>
              <a:ext uri="{FF2B5EF4-FFF2-40B4-BE49-F238E27FC236}">
                <a16:creationId xmlns:a16="http://schemas.microsoft.com/office/drawing/2014/main" id="{4371F1B3-1118-CF0D-CF48-159580525B6E}"/>
              </a:ext>
            </a:extLst>
          </p:cNvPr>
          <p:cNvCxnSpPr/>
          <p:nvPr/>
        </p:nvCxnSpPr>
        <p:spPr>
          <a:xfrm>
            <a:off x="7747000" y="2590800"/>
            <a:ext cx="609600" cy="0"/>
          </a:xfrm>
          <a:prstGeom prst="line">
            <a:avLst/>
          </a:prstGeom>
          <a:ln w="19050">
            <a:solidFill>
              <a:srgbClr val="52677A"/>
            </a:solidFill>
            <a:tailEnd type="arrow"/>
          </a:ln>
        </p:spPr>
        <p:style>
          <a:lnRef idx="2">
            <a:schemeClr val="accent1"/>
          </a:lnRef>
          <a:fillRef idx="0">
            <a:schemeClr val="accent1"/>
          </a:fillRef>
          <a:effectRef idx="1">
            <a:schemeClr val="accent1"/>
          </a:effectRef>
          <a:fontRef idx="minor">
            <a:schemeClr val="tx1"/>
          </a:fontRef>
        </p:style>
      </p:cxnSp>
      <p:sp>
        <p:nvSpPr>
          <p:cNvPr id="16" name="Rectángulo 15">
            <a:extLst>
              <a:ext uri="{FF2B5EF4-FFF2-40B4-BE49-F238E27FC236}">
                <a16:creationId xmlns:a16="http://schemas.microsoft.com/office/drawing/2014/main" id="{0E51FBB0-48A2-31EA-67D7-460A2EB1038C}"/>
              </a:ext>
            </a:extLst>
          </p:cNvPr>
          <p:cNvSpPr/>
          <p:nvPr/>
        </p:nvSpPr>
        <p:spPr>
          <a:xfrm>
            <a:off x="4445000" y="4445000"/>
            <a:ext cx="7213600" cy="1371600"/>
          </a:xfrm>
          <a:prstGeom prst="rect">
            <a:avLst/>
          </a:prstGeom>
          <a:solidFill>
            <a:srgbClr val="6C778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7" name="CuadroTexto 16">
            <a:extLst>
              <a:ext uri="{FF2B5EF4-FFF2-40B4-BE49-F238E27FC236}">
                <a16:creationId xmlns:a16="http://schemas.microsoft.com/office/drawing/2014/main" id="{175ED83C-C62D-9C96-F1F6-9FD00C0F120E}"/>
              </a:ext>
            </a:extLst>
          </p:cNvPr>
          <p:cNvSpPr txBox="1"/>
          <p:nvPr/>
        </p:nvSpPr>
        <p:spPr>
          <a:xfrm>
            <a:off x="4597400" y="4597400"/>
            <a:ext cx="6908800" cy="307777"/>
          </a:xfrm>
          <a:prstGeom prst="rect">
            <a:avLst/>
          </a:prstGeom>
          <a:noFill/>
        </p:spPr>
        <p:txBody>
          <a:bodyPr vert="horz" wrap="square" lIns="0" tIns="0" rIns="0" bIns="0" rtlCol="0">
            <a:spAutoFit/>
          </a:bodyPr>
          <a:lstStyle/>
          <a:p>
            <a:r>
              <a:rPr lang="es-ES" sz="2000" b="1">
                <a:solidFill>
                  <a:srgbClr val="FFFFFF"/>
                </a:solidFill>
                <a:latin typeface="Aptos" panose="020B0004020202020204" pitchFamily="34" charset="0"/>
              </a:rPr>
              <a:t>Infraestructura</a:t>
            </a:r>
          </a:p>
        </p:txBody>
      </p:sp>
      <p:sp>
        <p:nvSpPr>
          <p:cNvPr id="18" name="CuadroTexto 17">
            <a:extLst>
              <a:ext uri="{FF2B5EF4-FFF2-40B4-BE49-F238E27FC236}">
                <a16:creationId xmlns:a16="http://schemas.microsoft.com/office/drawing/2014/main" id="{6B5BB28D-EB1F-44E5-F248-EFBA735D3598}"/>
              </a:ext>
            </a:extLst>
          </p:cNvPr>
          <p:cNvSpPr txBox="1"/>
          <p:nvPr/>
        </p:nvSpPr>
        <p:spPr>
          <a:xfrm>
            <a:off x="4597400" y="5054600"/>
            <a:ext cx="6908800" cy="246221"/>
          </a:xfrm>
          <a:prstGeom prst="rect">
            <a:avLst/>
          </a:prstGeom>
          <a:noFill/>
        </p:spPr>
        <p:txBody>
          <a:bodyPr vert="horz" wrap="square" lIns="0" tIns="0" rIns="0" bIns="0" rtlCol="0">
            <a:spAutoFit/>
          </a:bodyPr>
          <a:lstStyle/>
          <a:p>
            <a:r>
              <a:rPr lang="es-ES" sz="1600">
                <a:solidFill>
                  <a:srgbClr val="FFFFFF"/>
                </a:solidFill>
                <a:latin typeface="Aptos" panose="020B0004020202020204" pitchFamily="34" charset="0"/>
              </a:rPr>
              <a:t>PostgreSQL y adaptadores externos</a:t>
            </a:r>
          </a:p>
        </p:txBody>
      </p:sp>
      <p:cxnSp>
        <p:nvCxnSpPr>
          <p:cNvPr id="19" name="Conector recto 18">
            <a:extLst>
              <a:ext uri="{FF2B5EF4-FFF2-40B4-BE49-F238E27FC236}">
                <a16:creationId xmlns:a16="http://schemas.microsoft.com/office/drawing/2014/main" id="{41312522-9B60-6319-6A88-FA40B6EE5E33}"/>
              </a:ext>
            </a:extLst>
          </p:cNvPr>
          <p:cNvCxnSpPr/>
          <p:nvPr/>
        </p:nvCxnSpPr>
        <p:spPr>
          <a:xfrm flipV="1">
            <a:off x="6159500" y="3340100"/>
            <a:ext cx="0" cy="1104900"/>
          </a:xfrm>
          <a:prstGeom prst="line">
            <a:avLst/>
          </a:prstGeom>
          <a:ln w="19050">
            <a:solidFill>
              <a:srgbClr val="52677A"/>
            </a:solidFill>
            <a:tailEnd type="arrow"/>
          </a:ln>
        </p:spPr>
        <p:style>
          <a:lnRef idx="2">
            <a:schemeClr val="accent1"/>
          </a:lnRef>
          <a:fillRef idx="0">
            <a:schemeClr val="accent1"/>
          </a:fillRef>
          <a:effectRef idx="1">
            <a:schemeClr val="accent1"/>
          </a:effectRef>
          <a:fontRef idx="minor">
            <a:schemeClr val="tx1"/>
          </a:fontRef>
        </p:style>
      </p:cxnSp>
      <p:sp>
        <p:nvSpPr>
          <p:cNvPr id="20" name="CuadroTexto 19">
            <a:extLst>
              <a:ext uri="{FF2B5EF4-FFF2-40B4-BE49-F238E27FC236}">
                <a16:creationId xmlns:a16="http://schemas.microsoft.com/office/drawing/2014/main" id="{844EDE97-3DAF-A8B0-5154-CE2C21195598}"/>
              </a:ext>
            </a:extLst>
          </p:cNvPr>
          <p:cNvSpPr txBox="1"/>
          <p:nvPr/>
        </p:nvSpPr>
        <p:spPr>
          <a:xfrm>
            <a:off x="4381500" y="3695700"/>
            <a:ext cx="2540000" cy="215444"/>
          </a:xfrm>
          <a:prstGeom prst="rect">
            <a:avLst/>
          </a:prstGeom>
          <a:noFill/>
        </p:spPr>
        <p:txBody>
          <a:bodyPr vert="horz" wrap="square" lIns="0" tIns="0" rIns="0" bIns="0" rtlCol="0">
            <a:spAutoFit/>
          </a:bodyPr>
          <a:lstStyle/>
          <a:p>
            <a:r>
              <a:rPr lang="es-ES" sz="1400">
                <a:solidFill>
                  <a:srgbClr val="52677A"/>
                </a:solidFill>
                <a:latin typeface="Aptos" panose="020B0004020202020204" pitchFamily="34" charset="0"/>
              </a:rPr>
              <a:t>Implementa puertos</a:t>
            </a:r>
          </a:p>
        </p:txBody>
      </p:sp>
      <p:cxnSp>
        <p:nvCxnSpPr>
          <p:cNvPr id="21" name="Conector recto 20">
            <a:extLst>
              <a:ext uri="{FF2B5EF4-FFF2-40B4-BE49-F238E27FC236}">
                <a16:creationId xmlns:a16="http://schemas.microsoft.com/office/drawing/2014/main" id="{7CD2E547-B834-B493-5348-D19B3D5C1164}"/>
              </a:ext>
            </a:extLst>
          </p:cNvPr>
          <p:cNvCxnSpPr/>
          <p:nvPr/>
        </p:nvCxnSpPr>
        <p:spPr>
          <a:xfrm flipV="1">
            <a:off x="9969500" y="3340100"/>
            <a:ext cx="0" cy="1104900"/>
          </a:xfrm>
          <a:prstGeom prst="line">
            <a:avLst/>
          </a:prstGeom>
          <a:ln w="19050">
            <a:solidFill>
              <a:srgbClr val="52677A"/>
            </a:solidFill>
            <a:tailEnd type="arrow"/>
          </a:ln>
        </p:spPr>
        <p:style>
          <a:lnRef idx="2">
            <a:schemeClr val="accent1"/>
          </a:lnRef>
          <a:fillRef idx="0">
            <a:schemeClr val="accent1"/>
          </a:fillRef>
          <a:effectRef idx="1">
            <a:schemeClr val="accent1"/>
          </a:effectRef>
          <a:fontRef idx="minor">
            <a:schemeClr val="tx1"/>
          </a:fontRef>
        </p:style>
      </p:cxnSp>
      <p:sp>
        <p:nvSpPr>
          <p:cNvPr id="22" name="CuadroTexto 21">
            <a:extLst>
              <a:ext uri="{FF2B5EF4-FFF2-40B4-BE49-F238E27FC236}">
                <a16:creationId xmlns:a16="http://schemas.microsoft.com/office/drawing/2014/main" id="{49A10380-C2C1-2A15-81B5-06EAA418275F}"/>
              </a:ext>
            </a:extLst>
          </p:cNvPr>
          <p:cNvSpPr txBox="1"/>
          <p:nvPr/>
        </p:nvSpPr>
        <p:spPr>
          <a:xfrm>
            <a:off x="8801100" y="3695700"/>
            <a:ext cx="2857500" cy="215444"/>
          </a:xfrm>
          <a:prstGeom prst="rect">
            <a:avLst/>
          </a:prstGeom>
          <a:noFill/>
        </p:spPr>
        <p:txBody>
          <a:bodyPr vert="horz" wrap="square" lIns="0" tIns="0" rIns="0" bIns="0" rtlCol="0">
            <a:spAutoFit/>
          </a:bodyPr>
          <a:lstStyle/>
          <a:p>
            <a:r>
              <a:rPr lang="es-ES" sz="1400">
                <a:solidFill>
                  <a:srgbClr val="52677A"/>
                </a:solidFill>
                <a:latin typeface="Aptos" panose="020B0004020202020204" pitchFamily="34" charset="0"/>
              </a:rPr>
              <a:t>Implementa repositorios</a:t>
            </a:r>
          </a:p>
        </p:txBody>
      </p:sp>
      <p:sp>
        <p:nvSpPr>
          <p:cNvPr id="23" name="CuadroTexto 22">
            <a:extLst>
              <a:ext uri="{FF2B5EF4-FFF2-40B4-BE49-F238E27FC236}">
                <a16:creationId xmlns:a16="http://schemas.microsoft.com/office/drawing/2014/main" id="{57BE7C88-1D22-FF41-AB6F-0A7168AE57E1}"/>
              </a:ext>
            </a:extLst>
          </p:cNvPr>
          <p:cNvSpPr txBox="1"/>
          <p:nvPr/>
        </p:nvSpPr>
        <p:spPr>
          <a:xfrm>
            <a:off x="533400" y="6019800"/>
            <a:ext cx="11125200" cy="276999"/>
          </a:xfrm>
          <a:prstGeom prst="rect">
            <a:avLst/>
          </a:prstGeom>
          <a:noFill/>
        </p:spPr>
        <p:txBody>
          <a:bodyPr vert="horz" wrap="square" lIns="0" tIns="0" rIns="0" bIns="0" rtlCol="0">
            <a:spAutoFit/>
          </a:bodyPr>
          <a:lstStyle/>
          <a:p>
            <a:r>
              <a:rPr lang="es-ES">
                <a:solidFill>
                  <a:srgbClr val="52677A"/>
                </a:solidFill>
                <a:latin typeface="Aptos" panose="020B0004020202020204" pitchFamily="34" charset="0"/>
              </a:rPr>
              <a:t>Las reglas de negocio permanecen independientes de NestJS y PostgreSQL</a:t>
            </a:r>
          </a:p>
        </p:txBody>
      </p:sp>
    </p:spTree>
    <p:extLst>
      <p:ext uri="{BB962C8B-B14F-4D97-AF65-F5344CB8AC3E}">
        <p14:creationId xmlns:p14="http://schemas.microsoft.com/office/powerpoint/2010/main" val="25549962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1F0953C9-1E17-5E5A-666B-14F4B4FDF8D9}"/>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C4 nivel 1: contexto del sistema</a:t>
            </a:r>
          </a:p>
        </p:txBody>
      </p:sp>
      <p:sp>
        <p:nvSpPr>
          <p:cNvPr id="3" name="CuadroTexto 2">
            <a:extLst>
              <a:ext uri="{FF2B5EF4-FFF2-40B4-BE49-F238E27FC236}">
                <a16:creationId xmlns:a16="http://schemas.microsoft.com/office/drawing/2014/main" id="{D865D797-C79F-7771-7DA9-92E9BD4AE55F}"/>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2C387155-F0AA-79E2-2F89-CEB290256818}"/>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8</a:t>
            </a:r>
          </a:p>
        </p:txBody>
      </p:sp>
      <p:sp>
        <p:nvSpPr>
          <p:cNvPr id="5" name="Rectángulo 4">
            <a:extLst>
              <a:ext uri="{FF2B5EF4-FFF2-40B4-BE49-F238E27FC236}">
                <a16:creationId xmlns:a16="http://schemas.microsoft.com/office/drawing/2014/main" id="{0D9A6D61-A902-762D-49F2-95014E2E685A}"/>
              </a:ext>
            </a:extLst>
          </p:cNvPr>
          <p:cNvSpPr/>
          <p:nvPr/>
        </p:nvSpPr>
        <p:spPr>
          <a:xfrm>
            <a:off x="533400" y="1397000"/>
            <a:ext cx="3302000" cy="1270000"/>
          </a:xfrm>
          <a:prstGeom prst="rect">
            <a:avLst/>
          </a:prstGeom>
          <a:solidFill>
            <a:srgbClr val="102D4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CuadroTexto 5">
            <a:extLst>
              <a:ext uri="{FF2B5EF4-FFF2-40B4-BE49-F238E27FC236}">
                <a16:creationId xmlns:a16="http://schemas.microsoft.com/office/drawing/2014/main" id="{4BEB4E02-A590-4A62-EFF2-814E4D47D974}"/>
              </a:ext>
            </a:extLst>
          </p:cNvPr>
          <p:cNvSpPr txBox="1"/>
          <p:nvPr/>
        </p:nvSpPr>
        <p:spPr>
          <a:xfrm>
            <a:off x="685800" y="1549400"/>
            <a:ext cx="2997200" cy="307777"/>
          </a:xfrm>
          <a:prstGeom prst="rect">
            <a:avLst/>
          </a:prstGeom>
          <a:noFill/>
        </p:spPr>
        <p:txBody>
          <a:bodyPr vert="horz" wrap="square" lIns="0" tIns="0" rIns="0" bIns="0" rtlCol="0">
            <a:spAutoFit/>
          </a:bodyPr>
          <a:lstStyle/>
          <a:p>
            <a:r>
              <a:rPr lang="es-ES" sz="2000" b="1">
                <a:solidFill>
                  <a:srgbClr val="FFFFFF"/>
                </a:solidFill>
                <a:latin typeface="Aptos" panose="020B0004020202020204" pitchFamily="34" charset="0"/>
              </a:rPr>
              <a:t>Comprador</a:t>
            </a:r>
          </a:p>
        </p:txBody>
      </p:sp>
      <p:sp>
        <p:nvSpPr>
          <p:cNvPr id="7" name="CuadroTexto 6">
            <a:extLst>
              <a:ext uri="{FF2B5EF4-FFF2-40B4-BE49-F238E27FC236}">
                <a16:creationId xmlns:a16="http://schemas.microsoft.com/office/drawing/2014/main" id="{13B362E0-1E74-0208-0E98-CAA5E21E7054}"/>
              </a:ext>
            </a:extLst>
          </p:cNvPr>
          <p:cNvSpPr txBox="1"/>
          <p:nvPr/>
        </p:nvSpPr>
        <p:spPr>
          <a:xfrm>
            <a:off x="685800" y="2006600"/>
            <a:ext cx="2997200" cy="246221"/>
          </a:xfrm>
          <a:prstGeom prst="rect">
            <a:avLst/>
          </a:prstGeom>
          <a:noFill/>
        </p:spPr>
        <p:txBody>
          <a:bodyPr vert="horz" wrap="square" lIns="0" tIns="0" rIns="0" bIns="0" rtlCol="0">
            <a:spAutoFit/>
          </a:bodyPr>
          <a:lstStyle/>
          <a:p>
            <a:r>
              <a:rPr lang="es-ES" sz="1600">
                <a:solidFill>
                  <a:srgbClr val="FFFFFF"/>
                </a:solidFill>
                <a:latin typeface="Aptos" panose="020B0004020202020204" pitchFamily="34" charset="0"/>
              </a:rPr>
              <a:t>Busca y compra</a:t>
            </a:r>
          </a:p>
        </p:txBody>
      </p:sp>
      <p:sp>
        <p:nvSpPr>
          <p:cNvPr id="8" name="Rectángulo 7">
            <a:extLst>
              <a:ext uri="{FF2B5EF4-FFF2-40B4-BE49-F238E27FC236}">
                <a16:creationId xmlns:a16="http://schemas.microsoft.com/office/drawing/2014/main" id="{EB08588B-6439-7860-F7FE-DD624307FC27}"/>
              </a:ext>
            </a:extLst>
          </p:cNvPr>
          <p:cNvSpPr/>
          <p:nvPr/>
        </p:nvSpPr>
        <p:spPr>
          <a:xfrm>
            <a:off x="4445000" y="1397000"/>
            <a:ext cx="3302000" cy="1270000"/>
          </a:xfrm>
          <a:prstGeom prst="rect">
            <a:avLst/>
          </a:prstGeom>
          <a:solidFill>
            <a:srgbClr val="102D4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CuadroTexto 8">
            <a:extLst>
              <a:ext uri="{FF2B5EF4-FFF2-40B4-BE49-F238E27FC236}">
                <a16:creationId xmlns:a16="http://schemas.microsoft.com/office/drawing/2014/main" id="{C1821EFA-3BA8-39B2-AE9C-57F19DA4178E}"/>
              </a:ext>
            </a:extLst>
          </p:cNvPr>
          <p:cNvSpPr txBox="1"/>
          <p:nvPr/>
        </p:nvSpPr>
        <p:spPr>
          <a:xfrm>
            <a:off x="4597400" y="1549400"/>
            <a:ext cx="2997200" cy="307777"/>
          </a:xfrm>
          <a:prstGeom prst="rect">
            <a:avLst/>
          </a:prstGeom>
          <a:noFill/>
        </p:spPr>
        <p:txBody>
          <a:bodyPr vert="horz" wrap="square" lIns="0" tIns="0" rIns="0" bIns="0" rtlCol="0">
            <a:spAutoFit/>
          </a:bodyPr>
          <a:lstStyle/>
          <a:p>
            <a:r>
              <a:rPr lang="es-ES" sz="2000" b="1">
                <a:solidFill>
                  <a:srgbClr val="FFFFFF"/>
                </a:solidFill>
                <a:latin typeface="Aptos" panose="020B0004020202020204" pitchFamily="34" charset="0"/>
              </a:rPr>
              <a:t>Proveedor</a:t>
            </a:r>
          </a:p>
        </p:txBody>
      </p:sp>
      <p:sp>
        <p:nvSpPr>
          <p:cNvPr id="10" name="CuadroTexto 9">
            <a:extLst>
              <a:ext uri="{FF2B5EF4-FFF2-40B4-BE49-F238E27FC236}">
                <a16:creationId xmlns:a16="http://schemas.microsoft.com/office/drawing/2014/main" id="{79279AAE-A503-B36B-BA1B-FEC807499F37}"/>
              </a:ext>
            </a:extLst>
          </p:cNvPr>
          <p:cNvSpPr txBox="1"/>
          <p:nvPr/>
        </p:nvSpPr>
        <p:spPr>
          <a:xfrm>
            <a:off x="4597400" y="2006600"/>
            <a:ext cx="2997200" cy="246221"/>
          </a:xfrm>
          <a:prstGeom prst="rect">
            <a:avLst/>
          </a:prstGeom>
          <a:noFill/>
        </p:spPr>
        <p:txBody>
          <a:bodyPr vert="horz" wrap="square" lIns="0" tIns="0" rIns="0" bIns="0" rtlCol="0">
            <a:spAutoFit/>
          </a:bodyPr>
          <a:lstStyle/>
          <a:p>
            <a:r>
              <a:rPr lang="es-ES" sz="1600">
                <a:solidFill>
                  <a:srgbClr val="FFFFFF"/>
                </a:solidFill>
                <a:latin typeface="Aptos" panose="020B0004020202020204" pitchFamily="34" charset="0"/>
              </a:rPr>
              <a:t>Publica y atiende</a:t>
            </a:r>
          </a:p>
        </p:txBody>
      </p:sp>
      <p:sp>
        <p:nvSpPr>
          <p:cNvPr id="11" name="Rectángulo 10">
            <a:extLst>
              <a:ext uri="{FF2B5EF4-FFF2-40B4-BE49-F238E27FC236}">
                <a16:creationId xmlns:a16="http://schemas.microsoft.com/office/drawing/2014/main" id="{C7B72077-ABA2-165D-260E-518F7B4FF9AE}"/>
              </a:ext>
            </a:extLst>
          </p:cNvPr>
          <p:cNvSpPr/>
          <p:nvPr/>
        </p:nvSpPr>
        <p:spPr>
          <a:xfrm>
            <a:off x="8356600" y="1397000"/>
            <a:ext cx="3302000" cy="1270000"/>
          </a:xfrm>
          <a:prstGeom prst="rect">
            <a:avLst/>
          </a:prstGeom>
          <a:solidFill>
            <a:srgbClr val="102D4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CuadroTexto 11">
            <a:extLst>
              <a:ext uri="{FF2B5EF4-FFF2-40B4-BE49-F238E27FC236}">
                <a16:creationId xmlns:a16="http://schemas.microsoft.com/office/drawing/2014/main" id="{844866A4-55B1-63C2-8EA1-D0BF668DC90D}"/>
              </a:ext>
            </a:extLst>
          </p:cNvPr>
          <p:cNvSpPr txBox="1"/>
          <p:nvPr/>
        </p:nvSpPr>
        <p:spPr>
          <a:xfrm>
            <a:off x="8509000" y="1549400"/>
            <a:ext cx="2997200" cy="307777"/>
          </a:xfrm>
          <a:prstGeom prst="rect">
            <a:avLst/>
          </a:prstGeom>
          <a:noFill/>
        </p:spPr>
        <p:txBody>
          <a:bodyPr vert="horz" wrap="square" lIns="0" tIns="0" rIns="0" bIns="0" rtlCol="0">
            <a:spAutoFit/>
          </a:bodyPr>
          <a:lstStyle/>
          <a:p>
            <a:r>
              <a:rPr lang="es-ES" sz="2000" b="1">
                <a:solidFill>
                  <a:srgbClr val="FFFFFF"/>
                </a:solidFill>
                <a:latin typeface="Aptos" panose="020B0004020202020204" pitchFamily="34" charset="0"/>
              </a:rPr>
              <a:t>Administrador</a:t>
            </a:r>
          </a:p>
        </p:txBody>
      </p:sp>
      <p:sp>
        <p:nvSpPr>
          <p:cNvPr id="13" name="CuadroTexto 12">
            <a:extLst>
              <a:ext uri="{FF2B5EF4-FFF2-40B4-BE49-F238E27FC236}">
                <a16:creationId xmlns:a16="http://schemas.microsoft.com/office/drawing/2014/main" id="{2F8E13E6-2E29-35F8-BDAD-4CC790E0EC5A}"/>
              </a:ext>
            </a:extLst>
          </p:cNvPr>
          <p:cNvSpPr txBox="1"/>
          <p:nvPr/>
        </p:nvSpPr>
        <p:spPr>
          <a:xfrm>
            <a:off x="8509000" y="2006600"/>
            <a:ext cx="2997200" cy="246221"/>
          </a:xfrm>
          <a:prstGeom prst="rect">
            <a:avLst/>
          </a:prstGeom>
          <a:noFill/>
        </p:spPr>
        <p:txBody>
          <a:bodyPr vert="horz" wrap="square" lIns="0" tIns="0" rIns="0" bIns="0" rtlCol="0">
            <a:spAutoFit/>
          </a:bodyPr>
          <a:lstStyle/>
          <a:p>
            <a:r>
              <a:rPr lang="es-ES" sz="1600">
                <a:solidFill>
                  <a:srgbClr val="FFFFFF"/>
                </a:solidFill>
                <a:latin typeface="Aptos" panose="020B0004020202020204" pitchFamily="34" charset="0"/>
              </a:rPr>
              <a:t>Verifica y supervisa</a:t>
            </a:r>
          </a:p>
        </p:txBody>
      </p:sp>
      <p:sp>
        <p:nvSpPr>
          <p:cNvPr id="14" name="Rectángulo 13">
            <a:extLst>
              <a:ext uri="{FF2B5EF4-FFF2-40B4-BE49-F238E27FC236}">
                <a16:creationId xmlns:a16="http://schemas.microsoft.com/office/drawing/2014/main" id="{29126237-BA7F-030E-B595-E4637273F97C}"/>
              </a:ext>
            </a:extLst>
          </p:cNvPr>
          <p:cNvSpPr/>
          <p:nvPr/>
        </p:nvSpPr>
        <p:spPr>
          <a:xfrm>
            <a:off x="2984500" y="3683000"/>
            <a:ext cx="6223000" cy="1397000"/>
          </a:xfrm>
          <a:prstGeom prst="rect">
            <a:avLst/>
          </a:prstGeom>
          <a:solidFill>
            <a:srgbClr val="1269B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5" name="CuadroTexto 14">
            <a:extLst>
              <a:ext uri="{FF2B5EF4-FFF2-40B4-BE49-F238E27FC236}">
                <a16:creationId xmlns:a16="http://schemas.microsoft.com/office/drawing/2014/main" id="{BF991842-3C05-4C4A-208B-8A0180945B43}"/>
              </a:ext>
            </a:extLst>
          </p:cNvPr>
          <p:cNvSpPr txBox="1"/>
          <p:nvPr/>
        </p:nvSpPr>
        <p:spPr>
          <a:xfrm>
            <a:off x="3136900" y="3835400"/>
            <a:ext cx="5918200" cy="415498"/>
          </a:xfrm>
          <a:prstGeom prst="rect">
            <a:avLst/>
          </a:prstGeom>
          <a:noFill/>
        </p:spPr>
        <p:txBody>
          <a:bodyPr vert="horz" wrap="square" lIns="0" tIns="0" rIns="0" bIns="0" rtlCol="0">
            <a:spAutoFit/>
          </a:bodyPr>
          <a:lstStyle/>
          <a:p>
            <a:r>
              <a:rPr lang="es-ES" sz="2700" b="1">
                <a:solidFill>
                  <a:srgbClr val="FFFFFF"/>
                </a:solidFill>
                <a:latin typeface="Aptos" panose="020B0004020202020204" pitchFamily="34" charset="0"/>
              </a:rPr>
              <a:t>MayoristaPro</a:t>
            </a:r>
          </a:p>
        </p:txBody>
      </p:sp>
      <p:sp>
        <p:nvSpPr>
          <p:cNvPr id="16" name="CuadroTexto 15">
            <a:extLst>
              <a:ext uri="{FF2B5EF4-FFF2-40B4-BE49-F238E27FC236}">
                <a16:creationId xmlns:a16="http://schemas.microsoft.com/office/drawing/2014/main" id="{BA5F8805-C045-233B-EE26-31DB702F8BA9}"/>
              </a:ext>
            </a:extLst>
          </p:cNvPr>
          <p:cNvSpPr txBox="1"/>
          <p:nvPr/>
        </p:nvSpPr>
        <p:spPr>
          <a:xfrm>
            <a:off x="3136900" y="4292600"/>
            <a:ext cx="5918200" cy="246221"/>
          </a:xfrm>
          <a:prstGeom prst="rect">
            <a:avLst/>
          </a:prstGeom>
          <a:noFill/>
        </p:spPr>
        <p:txBody>
          <a:bodyPr vert="horz" wrap="square" lIns="0" tIns="0" rIns="0" bIns="0" rtlCol="0">
            <a:spAutoFit/>
          </a:bodyPr>
          <a:lstStyle/>
          <a:p>
            <a:r>
              <a:rPr lang="es-ES" sz="1600">
                <a:solidFill>
                  <a:srgbClr val="FFFFFF"/>
                </a:solidFill>
                <a:latin typeface="Aptos" panose="020B0004020202020204" pitchFamily="34" charset="0"/>
              </a:rPr>
              <a:t>Marketplace entre empresas</a:t>
            </a:r>
          </a:p>
        </p:txBody>
      </p:sp>
      <p:cxnSp>
        <p:nvCxnSpPr>
          <p:cNvPr id="17" name="Conector recto 16">
            <a:extLst>
              <a:ext uri="{FF2B5EF4-FFF2-40B4-BE49-F238E27FC236}">
                <a16:creationId xmlns:a16="http://schemas.microsoft.com/office/drawing/2014/main" id="{E80A1453-D4B2-C9DA-9815-D0ABFE079D5A}"/>
              </a:ext>
            </a:extLst>
          </p:cNvPr>
          <p:cNvCxnSpPr/>
          <p:nvPr/>
        </p:nvCxnSpPr>
        <p:spPr>
          <a:xfrm>
            <a:off x="2184400" y="2667000"/>
            <a:ext cx="1879600" cy="1016000"/>
          </a:xfrm>
          <a:prstGeom prst="line">
            <a:avLst/>
          </a:prstGeom>
          <a:ln w="19050">
            <a:solidFill>
              <a:srgbClr val="52677A"/>
            </a:solidFill>
            <a:tailEnd type="arrow"/>
          </a:ln>
        </p:spPr>
        <p:style>
          <a:lnRef idx="2">
            <a:schemeClr val="accent1"/>
          </a:lnRef>
          <a:fillRef idx="0">
            <a:schemeClr val="accent1"/>
          </a:fillRef>
          <a:effectRef idx="1">
            <a:schemeClr val="accent1"/>
          </a:effectRef>
          <a:fontRef idx="minor">
            <a:schemeClr val="tx1"/>
          </a:fontRef>
        </p:style>
      </p:cxnSp>
      <p:cxnSp>
        <p:nvCxnSpPr>
          <p:cNvPr id="18" name="Conector recto 17">
            <a:extLst>
              <a:ext uri="{FF2B5EF4-FFF2-40B4-BE49-F238E27FC236}">
                <a16:creationId xmlns:a16="http://schemas.microsoft.com/office/drawing/2014/main" id="{63804957-C59E-F200-F137-34BDA4941AFD}"/>
              </a:ext>
            </a:extLst>
          </p:cNvPr>
          <p:cNvCxnSpPr/>
          <p:nvPr/>
        </p:nvCxnSpPr>
        <p:spPr>
          <a:xfrm>
            <a:off x="6096000" y="2667000"/>
            <a:ext cx="0" cy="1016000"/>
          </a:xfrm>
          <a:prstGeom prst="line">
            <a:avLst/>
          </a:prstGeom>
          <a:ln w="19050">
            <a:solidFill>
              <a:srgbClr val="52677A"/>
            </a:solidFill>
            <a:tailEnd type="arrow"/>
          </a:ln>
        </p:spPr>
        <p:style>
          <a:lnRef idx="2">
            <a:schemeClr val="accent1"/>
          </a:lnRef>
          <a:fillRef idx="0">
            <a:schemeClr val="accent1"/>
          </a:fillRef>
          <a:effectRef idx="1">
            <a:schemeClr val="accent1"/>
          </a:effectRef>
          <a:fontRef idx="minor">
            <a:schemeClr val="tx1"/>
          </a:fontRef>
        </p:style>
      </p:cxnSp>
      <p:cxnSp>
        <p:nvCxnSpPr>
          <p:cNvPr id="19" name="Conector recto 18">
            <a:extLst>
              <a:ext uri="{FF2B5EF4-FFF2-40B4-BE49-F238E27FC236}">
                <a16:creationId xmlns:a16="http://schemas.microsoft.com/office/drawing/2014/main" id="{6AA1055E-92BE-2C37-E3B9-CED3090C697C}"/>
              </a:ext>
            </a:extLst>
          </p:cNvPr>
          <p:cNvCxnSpPr/>
          <p:nvPr/>
        </p:nvCxnSpPr>
        <p:spPr>
          <a:xfrm flipH="1">
            <a:off x="8128000" y="2667000"/>
            <a:ext cx="1879600" cy="1016000"/>
          </a:xfrm>
          <a:prstGeom prst="line">
            <a:avLst/>
          </a:prstGeom>
          <a:ln w="19050">
            <a:solidFill>
              <a:srgbClr val="52677A"/>
            </a:solidFill>
            <a:tailEnd type="arrow"/>
          </a:ln>
        </p:spPr>
        <p:style>
          <a:lnRef idx="2">
            <a:schemeClr val="accent1"/>
          </a:lnRef>
          <a:fillRef idx="0">
            <a:schemeClr val="accent1"/>
          </a:fillRef>
          <a:effectRef idx="1">
            <a:schemeClr val="accent1"/>
          </a:effectRef>
          <a:fontRef idx="minor">
            <a:schemeClr val="tx1"/>
          </a:fontRef>
        </p:style>
      </p:cxnSp>
      <p:sp>
        <p:nvSpPr>
          <p:cNvPr id="20" name="CuadroTexto 19">
            <a:extLst>
              <a:ext uri="{FF2B5EF4-FFF2-40B4-BE49-F238E27FC236}">
                <a16:creationId xmlns:a16="http://schemas.microsoft.com/office/drawing/2014/main" id="{53925CD1-04CE-C6B9-924C-5336A65434F2}"/>
              </a:ext>
            </a:extLst>
          </p:cNvPr>
          <p:cNvSpPr txBox="1"/>
          <p:nvPr/>
        </p:nvSpPr>
        <p:spPr>
          <a:xfrm>
            <a:off x="533400" y="5753100"/>
            <a:ext cx="11125200" cy="323165"/>
          </a:xfrm>
          <a:prstGeom prst="rect">
            <a:avLst/>
          </a:prstGeom>
          <a:noFill/>
        </p:spPr>
        <p:txBody>
          <a:bodyPr vert="horz" wrap="square" lIns="0" tIns="0" rIns="0" bIns="0" rtlCol="0">
            <a:spAutoFit/>
          </a:bodyPr>
          <a:lstStyle/>
          <a:p>
            <a:r>
              <a:rPr lang="es-ES" sz="2100">
                <a:solidFill>
                  <a:srgbClr val="52677A"/>
                </a:solidFill>
                <a:latin typeface="Aptos" panose="020B0004020202020204" pitchFamily="34" charset="0"/>
              </a:rPr>
              <a:t>Servicios externos previstos: pagos, consulta RUC, PSE, avisos y mapas</a:t>
            </a:r>
          </a:p>
        </p:txBody>
      </p:sp>
    </p:spTree>
    <p:extLst>
      <p:ext uri="{BB962C8B-B14F-4D97-AF65-F5344CB8AC3E}">
        <p14:creationId xmlns:p14="http://schemas.microsoft.com/office/powerpoint/2010/main" val="26575646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9A2DBAF3-B852-3603-EA29-37D8C67909F0}"/>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C4 nivel 2: contenedores</a:t>
            </a:r>
          </a:p>
        </p:txBody>
      </p:sp>
      <p:sp>
        <p:nvSpPr>
          <p:cNvPr id="3" name="CuadroTexto 2">
            <a:extLst>
              <a:ext uri="{FF2B5EF4-FFF2-40B4-BE49-F238E27FC236}">
                <a16:creationId xmlns:a16="http://schemas.microsoft.com/office/drawing/2014/main" id="{0D221F37-81C0-2CA5-3B6B-8A63C070DE24}"/>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B5EF8643-C58C-8AAC-9A7A-5A64108D9E98}"/>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9</a:t>
            </a:r>
          </a:p>
        </p:txBody>
      </p:sp>
      <p:sp>
        <p:nvSpPr>
          <p:cNvPr id="5" name="Rectángulo 4">
            <a:extLst>
              <a:ext uri="{FF2B5EF4-FFF2-40B4-BE49-F238E27FC236}">
                <a16:creationId xmlns:a16="http://schemas.microsoft.com/office/drawing/2014/main" id="{3CC79B0A-13E4-780E-31AA-F780A074D46C}"/>
              </a:ext>
            </a:extLst>
          </p:cNvPr>
          <p:cNvSpPr/>
          <p:nvPr/>
        </p:nvSpPr>
        <p:spPr>
          <a:xfrm>
            <a:off x="533400" y="2286000"/>
            <a:ext cx="3111500" cy="1841500"/>
          </a:xfrm>
          <a:prstGeom prst="rect">
            <a:avLst/>
          </a:prstGeom>
          <a:solidFill>
            <a:srgbClr val="1269B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CuadroTexto 5">
            <a:extLst>
              <a:ext uri="{FF2B5EF4-FFF2-40B4-BE49-F238E27FC236}">
                <a16:creationId xmlns:a16="http://schemas.microsoft.com/office/drawing/2014/main" id="{D2D82818-CBDF-EFC0-877D-10BDF72CEE0B}"/>
              </a:ext>
            </a:extLst>
          </p:cNvPr>
          <p:cNvSpPr txBox="1"/>
          <p:nvPr/>
        </p:nvSpPr>
        <p:spPr>
          <a:xfrm>
            <a:off x="685800" y="2438400"/>
            <a:ext cx="2806700" cy="369332"/>
          </a:xfrm>
          <a:prstGeom prst="rect">
            <a:avLst/>
          </a:prstGeom>
          <a:noFill/>
        </p:spPr>
        <p:txBody>
          <a:bodyPr vert="horz" wrap="square" lIns="0" tIns="0" rIns="0" bIns="0" rtlCol="0">
            <a:spAutoFit/>
          </a:bodyPr>
          <a:lstStyle/>
          <a:p>
            <a:r>
              <a:rPr lang="es-ES" sz="2400" b="1">
                <a:solidFill>
                  <a:srgbClr val="FFFFFF"/>
                </a:solidFill>
                <a:latin typeface="Aptos" panose="020B0004020202020204" pitchFamily="34" charset="0"/>
              </a:rPr>
              <a:t>Aplicación web</a:t>
            </a:r>
          </a:p>
        </p:txBody>
      </p:sp>
      <p:sp>
        <p:nvSpPr>
          <p:cNvPr id="7" name="CuadroTexto 6">
            <a:extLst>
              <a:ext uri="{FF2B5EF4-FFF2-40B4-BE49-F238E27FC236}">
                <a16:creationId xmlns:a16="http://schemas.microsoft.com/office/drawing/2014/main" id="{E5E4BA72-BA0F-8F02-CEF1-1DA7689CC8DB}"/>
              </a:ext>
            </a:extLst>
          </p:cNvPr>
          <p:cNvSpPr txBox="1"/>
          <p:nvPr/>
        </p:nvSpPr>
        <p:spPr>
          <a:xfrm>
            <a:off x="685800" y="2895600"/>
            <a:ext cx="2806700" cy="492443"/>
          </a:xfrm>
          <a:prstGeom prst="rect">
            <a:avLst/>
          </a:prstGeom>
          <a:noFill/>
        </p:spPr>
        <p:txBody>
          <a:bodyPr vert="horz" wrap="square" lIns="0" tIns="0" rIns="0" bIns="0" rtlCol="0">
            <a:spAutoFit/>
          </a:bodyPr>
          <a:lstStyle/>
          <a:p>
            <a:r>
              <a:rPr lang="es-ES" sz="1600">
                <a:solidFill>
                  <a:srgbClr val="FFFFFF"/>
                </a:solidFill>
                <a:latin typeface="Aptos" panose="020B0004020202020204" pitchFamily="34" charset="0"/>
              </a:rPr>
              <a:t>Angular</a:t>
            </a:r>
          </a:p>
          <a:p>
            <a:r>
              <a:rPr lang="es-ES" sz="1600">
                <a:solidFill>
                  <a:srgbClr val="FFFFFF"/>
                </a:solidFill>
                <a:latin typeface="Aptos" panose="020B0004020202020204" pitchFamily="34" charset="0"/>
              </a:rPr>
              <a:t>Interfaz del navegador</a:t>
            </a:r>
          </a:p>
        </p:txBody>
      </p:sp>
      <p:sp>
        <p:nvSpPr>
          <p:cNvPr id="8" name="Rectángulo 7">
            <a:extLst>
              <a:ext uri="{FF2B5EF4-FFF2-40B4-BE49-F238E27FC236}">
                <a16:creationId xmlns:a16="http://schemas.microsoft.com/office/drawing/2014/main" id="{477756F0-706F-313B-389F-946A8BAD75A4}"/>
              </a:ext>
            </a:extLst>
          </p:cNvPr>
          <p:cNvSpPr/>
          <p:nvPr/>
        </p:nvSpPr>
        <p:spPr>
          <a:xfrm>
            <a:off x="4533900" y="2286000"/>
            <a:ext cx="3111500" cy="1841500"/>
          </a:xfrm>
          <a:prstGeom prst="rect">
            <a:avLst/>
          </a:prstGeom>
          <a:solidFill>
            <a:srgbClr val="1269B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CuadroTexto 8">
            <a:extLst>
              <a:ext uri="{FF2B5EF4-FFF2-40B4-BE49-F238E27FC236}">
                <a16:creationId xmlns:a16="http://schemas.microsoft.com/office/drawing/2014/main" id="{C3CC1E00-2847-F0A2-ADBB-E18F533AF2BC}"/>
              </a:ext>
            </a:extLst>
          </p:cNvPr>
          <p:cNvSpPr txBox="1"/>
          <p:nvPr/>
        </p:nvSpPr>
        <p:spPr>
          <a:xfrm>
            <a:off x="4686300" y="2438400"/>
            <a:ext cx="2806700" cy="369332"/>
          </a:xfrm>
          <a:prstGeom prst="rect">
            <a:avLst/>
          </a:prstGeom>
          <a:noFill/>
        </p:spPr>
        <p:txBody>
          <a:bodyPr vert="horz" wrap="square" lIns="0" tIns="0" rIns="0" bIns="0" rtlCol="0">
            <a:spAutoFit/>
          </a:bodyPr>
          <a:lstStyle/>
          <a:p>
            <a:r>
              <a:rPr lang="es-ES" sz="2400" b="1">
                <a:solidFill>
                  <a:srgbClr val="FFFFFF"/>
                </a:solidFill>
                <a:latin typeface="Aptos" panose="020B0004020202020204" pitchFamily="34" charset="0"/>
              </a:rPr>
              <a:t>API comercial</a:t>
            </a:r>
          </a:p>
        </p:txBody>
      </p:sp>
      <p:sp>
        <p:nvSpPr>
          <p:cNvPr id="10" name="CuadroTexto 9">
            <a:extLst>
              <a:ext uri="{FF2B5EF4-FFF2-40B4-BE49-F238E27FC236}">
                <a16:creationId xmlns:a16="http://schemas.microsoft.com/office/drawing/2014/main" id="{866B1E89-F814-A975-9A4D-7B229230493E}"/>
              </a:ext>
            </a:extLst>
          </p:cNvPr>
          <p:cNvSpPr txBox="1"/>
          <p:nvPr/>
        </p:nvSpPr>
        <p:spPr>
          <a:xfrm>
            <a:off x="4686300" y="2895600"/>
            <a:ext cx="2806700" cy="492443"/>
          </a:xfrm>
          <a:prstGeom prst="rect">
            <a:avLst/>
          </a:prstGeom>
          <a:noFill/>
        </p:spPr>
        <p:txBody>
          <a:bodyPr vert="horz" wrap="square" lIns="0" tIns="0" rIns="0" bIns="0" rtlCol="0">
            <a:spAutoFit/>
          </a:bodyPr>
          <a:lstStyle/>
          <a:p>
            <a:r>
              <a:rPr lang="es-ES" sz="1600">
                <a:solidFill>
                  <a:srgbClr val="FFFFFF"/>
                </a:solidFill>
                <a:latin typeface="Aptos" panose="020B0004020202020204" pitchFamily="34" charset="0"/>
              </a:rPr>
              <a:t>NestJS</a:t>
            </a:r>
          </a:p>
          <a:p>
            <a:r>
              <a:rPr lang="es-ES" sz="1600">
                <a:solidFill>
                  <a:srgbClr val="FFFFFF"/>
                </a:solidFill>
                <a:latin typeface="Aptos" panose="020B0004020202020204" pitchFamily="34" charset="0"/>
              </a:rPr>
              <a:t>Monolito modular</a:t>
            </a:r>
          </a:p>
        </p:txBody>
      </p:sp>
      <p:sp>
        <p:nvSpPr>
          <p:cNvPr id="11" name="Rectángulo 10">
            <a:extLst>
              <a:ext uri="{FF2B5EF4-FFF2-40B4-BE49-F238E27FC236}">
                <a16:creationId xmlns:a16="http://schemas.microsoft.com/office/drawing/2014/main" id="{7C69529C-B8CB-302F-4F28-3F9FB35DFD3F}"/>
              </a:ext>
            </a:extLst>
          </p:cNvPr>
          <p:cNvSpPr/>
          <p:nvPr/>
        </p:nvSpPr>
        <p:spPr>
          <a:xfrm>
            <a:off x="8534400" y="2286000"/>
            <a:ext cx="3111500" cy="1841500"/>
          </a:xfrm>
          <a:prstGeom prst="rect">
            <a:avLst/>
          </a:prstGeom>
          <a:solidFill>
            <a:srgbClr val="1269B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CuadroTexto 11">
            <a:extLst>
              <a:ext uri="{FF2B5EF4-FFF2-40B4-BE49-F238E27FC236}">
                <a16:creationId xmlns:a16="http://schemas.microsoft.com/office/drawing/2014/main" id="{8AD4AD9B-B93B-6907-4A0D-6E52E8E773AB}"/>
              </a:ext>
            </a:extLst>
          </p:cNvPr>
          <p:cNvSpPr txBox="1"/>
          <p:nvPr/>
        </p:nvSpPr>
        <p:spPr>
          <a:xfrm>
            <a:off x="8686800" y="2438400"/>
            <a:ext cx="2806700" cy="369332"/>
          </a:xfrm>
          <a:prstGeom prst="rect">
            <a:avLst/>
          </a:prstGeom>
          <a:noFill/>
        </p:spPr>
        <p:txBody>
          <a:bodyPr vert="horz" wrap="square" lIns="0" tIns="0" rIns="0" bIns="0" rtlCol="0">
            <a:spAutoFit/>
          </a:bodyPr>
          <a:lstStyle/>
          <a:p>
            <a:r>
              <a:rPr lang="es-ES" sz="2400" b="1">
                <a:solidFill>
                  <a:srgbClr val="FFFFFF"/>
                </a:solidFill>
                <a:latin typeface="Aptos" panose="020B0004020202020204" pitchFamily="34" charset="0"/>
              </a:rPr>
              <a:t>Datos comerciales</a:t>
            </a:r>
          </a:p>
        </p:txBody>
      </p:sp>
      <p:sp>
        <p:nvSpPr>
          <p:cNvPr id="13" name="CuadroTexto 12">
            <a:extLst>
              <a:ext uri="{FF2B5EF4-FFF2-40B4-BE49-F238E27FC236}">
                <a16:creationId xmlns:a16="http://schemas.microsoft.com/office/drawing/2014/main" id="{AE497D27-8C73-520F-B584-8868F6158763}"/>
              </a:ext>
            </a:extLst>
          </p:cNvPr>
          <p:cNvSpPr txBox="1"/>
          <p:nvPr/>
        </p:nvSpPr>
        <p:spPr>
          <a:xfrm>
            <a:off x="8686800" y="2895600"/>
            <a:ext cx="2806700" cy="492443"/>
          </a:xfrm>
          <a:prstGeom prst="rect">
            <a:avLst/>
          </a:prstGeom>
          <a:noFill/>
        </p:spPr>
        <p:txBody>
          <a:bodyPr vert="horz" wrap="square" lIns="0" tIns="0" rIns="0" bIns="0" rtlCol="0">
            <a:spAutoFit/>
          </a:bodyPr>
          <a:lstStyle/>
          <a:p>
            <a:r>
              <a:rPr lang="es-ES" sz="1600">
                <a:solidFill>
                  <a:srgbClr val="FFFFFF"/>
                </a:solidFill>
                <a:latin typeface="Aptos" panose="020B0004020202020204" pitchFamily="34" charset="0"/>
              </a:rPr>
              <a:t>PostgreSQL</a:t>
            </a:r>
          </a:p>
          <a:p>
            <a:r>
              <a:rPr lang="es-ES" sz="1600">
                <a:solidFill>
                  <a:srgbClr val="FFFFFF"/>
                </a:solidFill>
                <a:latin typeface="Aptos" panose="020B0004020202020204" pitchFamily="34" charset="0"/>
              </a:rPr>
              <a:t>Pedidos y stock</a:t>
            </a:r>
          </a:p>
        </p:txBody>
      </p:sp>
      <p:cxnSp>
        <p:nvCxnSpPr>
          <p:cNvPr id="14" name="Conector recto 13">
            <a:extLst>
              <a:ext uri="{FF2B5EF4-FFF2-40B4-BE49-F238E27FC236}">
                <a16:creationId xmlns:a16="http://schemas.microsoft.com/office/drawing/2014/main" id="{3CA03E25-910D-E9C1-DF16-5C42951C3CF7}"/>
              </a:ext>
            </a:extLst>
          </p:cNvPr>
          <p:cNvCxnSpPr/>
          <p:nvPr/>
        </p:nvCxnSpPr>
        <p:spPr>
          <a:xfrm>
            <a:off x="3644900" y="3200400"/>
            <a:ext cx="889000" cy="0"/>
          </a:xfrm>
          <a:prstGeom prst="line">
            <a:avLst/>
          </a:prstGeom>
          <a:ln w="19050">
            <a:solidFill>
              <a:srgbClr val="52677A"/>
            </a:solidFill>
            <a:tailEnd type="arrow"/>
          </a:ln>
        </p:spPr>
        <p:style>
          <a:lnRef idx="2">
            <a:schemeClr val="accent1"/>
          </a:lnRef>
          <a:fillRef idx="0">
            <a:schemeClr val="accent1"/>
          </a:fillRef>
          <a:effectRef idx="1">
            <a:schemeClr val="accent1"/>
          </a:effectRef>
          <a:fontRef idx="minor">
            <a:schemeClr val="tx1"/>
          </a:fontRef>
        </p:style>
      </p:cxnSp>
      <p:sp>
        <p:nvSpPr>
          <p:cNvPr id="15" name="CuadroTexto 14">
            <a:extLst>
              <a:ext uri="{FF2B5EF4-FFF2-40B4-BE49-F238E27FC236}">
                <a16:creationId xmlns:a16="http://schemas.microsoft.com/office/drawing/2014/main" id="{5DB9156F-D201-ADA4-9697-369BFA548C46}"/>
              </a:ext>
            </a:extLst>
          </p:cNvPr>
          <p:cNvSpPr txBox="1"/>
          <p:nvPr/>
        </p:nvSpPr>
        <p:spPr>
          <a:xfrm>
            <a:off x="3644900" y="1778000"/>
            <a:ext cx="1651000" cy="215444"/>
          </a:xfrm>
          <a:prstGeom prst="rect">
            <a:avLst/>
          </a:prstGeom>
          <a:noFill/>
        </p:spPr>
        <p:txBody>
          <a:bodyPr vert="horz" wrap="square" lIns="0" tIns="0" rIns="0" bIns="0" rtlCol="0">
            <a:spAutoFit/>
          </a:bodyPr>
          <a:lstStyle/>
          <a:p>
            <a:r>
              <a:rPr lang="es-ES" sz="1400">
                <a:solidFill>
                  <a:srgbClr val="52677A"/>
                </a:solidFill>
                <a:latin typeface="Aptos" panose="020B0004020202020204" pitchFamily="34" charset="0"/>
              </a:rPr>
              <a:t>HTTPS / JSON</a:t>
            </a:r>
          </a:p>
        </p:txBody>
      </p:sp>
      <p:cxnSp>
        <p:nvCxnSpPr>
          <p:cNvPr id="16" name="Conector recto 15">
            <a:extLst>
              <a:ext uri="{FF2B5EF4-FFF2-40B4-BE49-F238E27FC236}">
                <a16:creationId xmlns:a16="http://schemas.microsoft.com/office/drawing/2014/main" id="{29BEC6C1-9231-56E1-0D1C-967B721B7AE9}"/>
              </a:ext>
            </a:extLst>
          </p:cNvPr>
          <p:cNvCxnSpPr/>
          <p:nvPr/>
        </p:nvCxnSpPr>
        <p:spPr>
          <a:xfrm>
            <a:off x="7645400" y="3200400"/>
            <a:ext cx="889000" cy="0"/>
          </a:xfrm>
          <a:prstGeom prst="line">
            <a:avLst/>
          </a:prstGeom>
          <a:ln w="19050">
            <a:solidFill>
              <a:srgbClr val="52677A"/>
            </a:solidFill>
            <a:tailEnd type="arrow"/>
          </a:ln>
        </p:spPr>
        <p:style>
          <a:lnRef idx="2">
            <a:schemeClr val="accent1"/>
          </a:lnRef>
          <a:fillRef idx="0">
            <a:schemeClr val="accent1"/>
          </a:fillRef>
          <a:effectRef idx="1">
            <a:schemeClr val="accent1"/>
          </a:effectRef>
          <a:fontRef idx="minor">
            <a:schemeClr val="tx1"/>
          </a:fontRef>
        </p:style>
      </p:cxnSp>
      <p:sp>
        <p:nvSpPr>
          <p:cNvPr id="17" name="CuadroTexto 16">
            <a:extLst>
              <a:ext uri="{FF2B5EF4-FFF2-40B4-BE49-F238E27FC236}">
                <a16:creationId xmlns:a16="http://schemas.microsoft.com/office/drawing/2014/main" id="{2F182012-55F5-C953-DACB-A4AAD40DC04A}"/>
              </a:ext>
            </a:extLst>
          </p:cNvPr>
          <p:cNvSpPr txBox="1"/>
          <p:nvPr/>
        </p:nvSpPr>
        <p:spPr>
          <a:xfrm>
            <a:off x="7924800" y="1778000"/>
            <a:ext cx="762000" cy="215444"/>
          </a:xfrm>
          <a:prstGeom prst="rect">
            <a:avLst/>
          </a:prstGeom>
          <a:noFill/>
        </p:spPr>
        <p:txBody>
          <a:bodyPr vert="horz" wrap="square" lIns="0" tIns="0" rIns="0" bIns="0" rtlCol="0">
            <a:spAutoFit/>
          </a:bodyPr>
          <a:lstStyle/>
          <a:p>
            <a:r>
              <a:rPr lang="es-ES" sz="1400">
                <a:solidFill>
                  <a:srgbClr val="52677A"/>
                </a:solidFill>
                <a:latin typeface="Aptos" panose="020B0004020202020204" pitchFamily="34" charset="0"/>
              </a:rPr>
              <a:t>SQL</a:t>
            </a:r>
          </a:p>
        </p:txBody>
      </p:sp>
      <p:sp>
        <p:nvSpPr>
          <p:cNvPr id="18" name="CuadroTexto 17">
            <a:extLst>
              <a:ext uri="{FF2B5EF4-FFF2-40B4-BE49-F238E27FC236}">
                <a16:creationId xmlns:a16="http://schemas.microsoft.com/office/drawing/2014/main" id="{3CAA01E0-3EBE-6F27-5E81-604B261BCFB6}"/>
              </a:ext>
            </a:extLst>
          </p:cNvPr>
          <p:cNvSpPr txBox="1"/>
          <p:nvPr/>
        </p:nvSpPr>
        <p:spPr>
          <a:xfrm>
            <a:off x="533400" y="1422400"/>
            <a:ext cx="11125200" cy="353943"/>
          </a:xfrm>
          <a:prstGeom prst="rect">
            <a:avLst/>
          </a:prstGeom>
          <a:noFill/>
        </p:spPr>
        <p:txBody>
          <a:bodyPr vert="horz" wrap="square" lIns="0" tIns="0" rIns="0" bIns="0" rtlCol="0">
            <a:spAutoFit/>
          </a:bodyPr>
          <a:lstStyle/>
          <a:p>
            <a:r>
              <a:rPr lang="es-ES" sz="2300" b="1">
                <a:solidFill>
                  <a:srgbClr val="0F776F"/>
                </a:solidFill>
                <a:latin typeface="Aptos" panose="020B0004020202020204" pitchFamily="34" charset="0"/>
              </a:rPr>
              <a:t>Núcleo inicial propuesto</a:t>
            </a:r>
          </a:p>
        </p:txBody>
      </p:sp>
      <p:sp>
        <p:nvSpPr>
          <p:cNvPr id="19" name="CuadroTexto 18">
            <a:extLst>
              <a:ext uri="{FF2B5EF4-FFF2-40B4-BE49-F238E27FC236}">
                <a16:creationId xmlns:a16="http://schemas.microsoft.com/office/drawing/2014/main" id="{9F754975-9C41-0CE7-A032-73A2ACA26FBA}"/>
              </a:ext>
            </a:extLst>
          </p:cNvPr>
          <p:cNvSpPr txBox="1"/>
          <p:nvPr/>
        </p:nvSpPr>
        <p:spPr>
          <a:xfrm>
            <a:off x="533400" y="4978400"/>
            <a:ext cx="11125200" cy="707886"/>
          </a:xfrm>
          <a:prstGeom prst="rect">
            <a:avLst/>
          </a:prstGeom>
          <a:noFill/>
        </p:spPr>
        <p:txBody>
          <a:bodyPr vert="horz" wrap="square" lIns="0" tIns="0" rIns="0" bIns="0" rtlCol="0">
            <a:spAutoFit/>
          </a:bodyPr>
          <a:lstStyle/>
          <a:p>
            <a:r>
              <a:rPr lang="es-ES" sz="2300">
                <a:solidFill>
                  <a:srgbClr val="203447"/>
                </a:solidFill>
                <a:latin typeface="Aptos" panose="020B0004020202020204" pitchFamily="34" charset="0"/>
              </a:rPr>
              <a:t>Visión ampliada: Redis, S3, Python y SQS con workers</a:t>
            </a:r>
          </a:p>
          <a:p>
            <a:r>
              <a:rPr lang="es-ES" sz="2300">
                <a:solidFill>
                  <a:srgbClr val="203447"/>
                </a:solidFill>
                <a:latin typeface="Aptos" panose="020B0004020202020204" pitchFamily="34" charset="0"/>
              </a:rPr>
              <a:t>Incorporación por etapas según necesidad y requisitos</a:t>
            </a:r>
          </a:p>
        </p:txBody>
      </p:sp>
    </p:spTree>
    <p:extLst>
      <p:ext uri="{BB962C8B-B14F-4D97-AF65-F5344CB8AC3E}">
        <p14:creationId xmlns:p14="http://schemas.microsoft.com/office/powerpoint/2010/main" val="27455335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FF5D47A4-1485-35E6-1541-516D278C36F7}"/>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C4 nivel 3: componentes de la API</a:t>
            </a:r>
          </a:p>
        </p:txBody>
      </p:sp>
      <p:sp>
        <p:nvSpPr>
          <p:cNvPr id="3" name="CuadroTexto 2">
            <a:extLst>
              <a:ext uri="{FF2B5EF4-FFF2-40B4-BE49-F238E27FC236}">
                <a16:creationId xmlns:a16="http://schemas.microsoft.com/office/drawing/2014/main" id="{733FAE91-6BBB-9315-D7BC-DDEC5DFDDDDB}"/>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5B15222A-7E37-C414-236F-CB6F389ABB08}"/>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10</a:t>
            </a:r>
          </a:p>
        </p:txBody>
      </p:sp>
      <p:sp>
        <p:nvSpPr>
          <p:cNvPr id="5" name="CuadroTexto 4">
            <a:extLst>
              <a:ext uri="{FF2B5EF4-FFF2-40B4-BE49-F238E27FC236}">
                <a16:creationId xmlns:a16="http://schemas.microsoft.com/office/drawing/2014/main" id="{A3C14732-ACD3-1C7A-5AEA-46917E11988A}"/>
              </a:ext>
            </a:extLst>
          </p:cNvPr>
          <p:cNvSpPr txBox="1"/>
          <p:nvPr/>
        </p:nvSpPr>
        <p:spPr>
          <a:xfrm>
            <a:off x="533400" y="1358900"/>
            <a:ext cx="11125200" cy="369332"/>
          </a:xfrm>
          <a:prstGeom prst="rect">
            <a:avLst/>
          </a:prstGeom>
          <a:noFill/>
        </p:spPr>
        <p:txBody>
          <a:bodyPr vert="horz" wrap="square" lIns="0" tIns="0" rIns="0" bIns="0" rtlCol="0">
            <a:spAutoFit/>
          </a:bodyPr>
          <a:lstStyle/>
          <a:p>
            <a:r>
              <a:rPr lang="es-ES" sz="2400" b="1">
                <a:solidFill>
                  <a:srgbClr val="1269B0"/>
                </a:solidFill>
                <a:latin typeface="Aptos" panose="020B0004020202020204" pitchFamily="34" charset="0"/>
              </a:rPr>
              <a:t>API NestJS: módulos con contratos públicos</a:t>
            </a:r>
          </a:p>
        </p:txBody>
      </p:sp>
      <p:sp>
        <p:nvSpPr>
          <p:cNvPr id="6" name="Rectángulo 5">
            <a:extLst>
              <a:ext uri="{FF2B5EF4-FFF2-40B4-BE49-F238E27FC236}">
                <a16:creationId xmlns:a16="http://schemas.microsoft.com/office/drawing/2014/main" id="{F71BE4A9-FD0B-C593-6B0B-0F33CFCEBD62}"/>
              </a:ext>
            </a:extLst>
          </p:cNvPr>
          <p:cNvSpPr/>
          <p:nvPr/>
        </p:nvSpPr>
        <p:spPr>
          <a:xfrm>
            <a:off x="533400" y="2222500"/>
            <a:ext cx="3238500" cy="1270000"/>
          </a:xfrm>
          <a:prstGeom prst="rect">
            <a:avLst/>
          </a:prstGeom>
          <a:solidFill>
            <a:srgbClr val="1269B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CuadroTexto 6">
            <a:extLst>
              <a:ext uri="{FF2B5EF4-FFF2-40B4-BE49-F238E27FC236}">
                <a16:creationId xmlns:a16="http://schemas.microsoft.com/office/drawing/2014/main" id="{4AD58007-71A4-CA53-4C99-12D9ECB36F3D}"/>
              </a:ext>
            </a:extLst>
          </p:cNvPr>
          <p:cNvSpPr txBox="1"/>
          <p:nvPr/>
        </p:nvSpPr>
        <p:spPr>
          <a:xfrm>
            <a:off x="685800" y="2374900"/>
            <a:ext cx="2933700" cy="307777"/>
          </a:xfrm>
          <a:prstGeom prst="rect">
            <a:avLst/>
          </a:prstGeom>
          <a:noFill/>
        </p:spPr>
        <p:txBody>
          <a:bodyPr vert="horz" wrap="square" lIns="0" tIns="0" rIns="0" bIns="0" rtlCol="0">
            <a:spAutoFit/>
          </a:bodyPr>
          <a:lstStyle/>
          <a:p>
            <a:r>
              <a:rPr lang="es-ES" sz="2000" b="1">
                <a:solidFill>
                  <a:srgbClr val="FFFFFF"/>
                </a:solidFill>
                <a:latin typeface="Aptos" panose="020B0004020202020204" pitchFamily="34" charset="0"/>
              </a:rPr>
              <a:t>Usuarios</a:t>
            </a:r>
          </a:p>
        </p:txBody>
      </p:sp>
      <p:sp>
        <p:nvSpPr>
          <p:cNvPr id="8" name="CuadroTexto 7">
            <a:extLst>
              <a:ext uri="{FF2B5EF4-FFF2-40B4-BE49-F238E27FC236}">
                <a16:creationId xmlns:a16="http://schemas.microsoft.com/office/drawing/2014/main" id="{EE800B0C-19D3-930A-E91C-4A4415650197}"/>
              </a:ext>
            </a:extLst>
          </p:cNvPr>
          <p:cNvSpPr txBox="1"/>
          <p:nvPr/>
        </p:nvSpPr>
        <p:spPr>
          <a:xfrm>
            <a:off x="685800" y="2832100"/>
            <a:ext cx="2933700" cy="246221"/>
          </a:xfrm>
          <a:prstGeom prst="rect">
            <a:avLst/>
          </a:prstGeom>
          <a:noFill/>
        </p:spPr>
        <p:txBody>
          <a:bodyPr vert="horz" wrap="square" lIns="0" tIns="0" rIns="0" bIns="0" rtlCol="0">
            <a:spAutoFit/>
          </a:bodyPr>
          <a:lstStyle/>
          <a:p>
            <a:r>
              <a:rPr lang="es-ES" sz="1600">
                <a:solidFill>
                  <a:srgbClr val="FFFFFF"/>
                </a:solidFill>
                <a:latin typeface="Aptos" panose="020B0004020202020204" pitchFamily="34" charset="0"/>
              </a:rPr>
              <a:t>Identidad y permisos</a:t>
            </a:r>
          </a:p>
        </p:txBody>
      </p:sp>
      <p:sp>
        <p:nvSpPr>
          <p:cNvPr id="9" name="Rectángulo 8">
            <a:extLst>
              <a:ext uri="{FF2B5EF4-FFF2-40B4-BE49-F238E27FC236}">
                <a16:creationId xmlns:a16="http://schemas.microsoft.com/office/drawing/2014/main" id="{54F055CC-A417-E2B1-E940-E66E4A882AC6}"/>
              </a:ext>
            </a:extLst>
          </p:cNvPr>
          <p:cNvSpPr/>
          <p:nvPr/>
        </p:nvSpPr>
        <p:spPr>
          <a:xfrm>
            <a:off x="4470400" y="2222500"/>
            <a:ext cx="3238500" cy="1270000"/>
          </a:xfrm>
          <a:prstGeom prst="rect">
            <a:avLst/>
          </a:prstGeom>
          <a:solidFill>
            <a:srgbClr val="1269B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CuadroTexto 9">
            <a:extLst>
              <a:ext uri="{FF2B5EF4-FFF2-40B4-BE49-F238E27FC236}">
                <a16:creationId xmlns:a16="http://schemas.microsoft.com/office/drawing/2014/main" id="{3F66FB74-26A1-7404-3FD2-E5518510CD5F}"/>
              </a:ext>
            </a:extLst>
          </p:cNvPr>
          <p:cNvSpPr txBox="1"/>
          <p:nvPr/>
        </p:nvSpPr>
        <p:spPr>
          <a:xfrm>
            <a:off x="4622800" y="2374900"/>
            <a:ext cx="2933700" cy="307777"/>
          </a:xfrm>
          <a:prstGeom prst="rect">
            <a:avLst/>
          </a:prstGeom>
          <a:noFill/>
        </p:spPr>
        <p:txBody>
          <a:bodyPr vert="horz" wrap="square" lIns="0" tIns="0" rIns="0" bIns="0" rtlCol="0">
            <a:spAutoFit/>
          </a:bodyPr>
          <a:lstStyle/>
          <a:p>
            <a:r>
              <a:rPr lang="es-ES" sz="2000" b="1">
                <a:solidFill>
                  <a:srgbClr val="FFFFFF"/>
                </a:solidFill>
                <a:latin typeface="Aptos" panose="020B0004020202020204" pitchFamily="34" charset="0"/>
              </a:rPr>
              <a:t>Proveedores</a:t>
            </a:r>
          </a:p>
        </p:txBody>
      </p:sp>
      <p:sp>
        <p:nvSpPr>
          <p:cNvPr id="11" name="CuadroTexto 10">
            <a:extLst>
              <a:ext uri="{FF2B5EF4-FFF2-40B4-BE49-F238E27FC236}">
                <a16:creationId xmlns:a16="http://schemas.microsoft.com/office/drawing/2014/main" id="{123A0DB8-4D2D-F635-4EA8-1728E10FEF7B}"/>
              </a:ext>
            </a:extLst>
          </p:cNvPr>
          <p:cNvSpPr txBox="1"/>
          <p:nvPr/>
        </p:nvSpPr>
        <p:spPr>
          <a:xfrm>
            <a:off x="4622800" y="2832100"/>
            <a:ext cx="2933700" cy="246221"/>
          </a:xfrm>
          <a:prstGeom prst="rect">
            <a:avLst/>
          </a:prstGeom>
          <a:noFill/>
        </p:spPr>
        <p:txBody>
          <a:bodyPr vert="horz" wrap="square" lIns="0" tIns="0" rIns="0" bIns="0" rtlCol="0">
            <a:spAutoFit/>
          </a:bodyPr>
          <a:lstStyle/>
          <a:p>
            <a:r>
              <a:rPr lang="es-ES" sz="1600">
                <a:solidFill>
                  <a:srgbClr val="FFFFFF"/>
                </a:solidFill>
                <a:latin typeface="Aptos" panose="020B0004020202020204" pitchFamily="34" charset="0"/>
              </a:rPr>
              <a:t>Perfil y verificación</a:t>
            </a:r>
          </a:p>
        </p:txBody>
      </p:sp>
      <p:sp>
        <p:nvSpPr>
          <p:cNvPr id="12" name="Rectángulo 11">
            <a:extLst>
              <a:ext uri="{FF2B5EF4-FFF2-40B4-BE49-F238E27FC236}">
                <a16:creationId xmlns:a16="http://schemas.microsoft.com/office/drawing/2014/main" id="{FA685429-8D29-B937-AEC3-8438D0EEE345}"/>
              </a:ext>
            </a:extLst>
          </p:cNvPr>
          <p:cNvSpPr/>
          <p:nvPr/>
        </p:nvSpPr>
        <p:spPr>
          <a:xfrm>
            <a:off x="8407400" y="2222500"/>
            <a:ext cx="3238500" cy="1270000"/>
          </a:xfrm>
          <a:prstGeom prst="rect">
            <a:avLst/>
          </a:prstGeom>
          <a:solidFill>
            <a:srgbClr val="1269B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 name="CuadroTexto 12">
            <a:extLst>
              <a:ext uri="{FF2B5EF4-FFF2-40B4-BE49-F238E27FC236}">
                <a16:creationId xmlns:a16="http://schemas.microsoft.com/office/drawing/2014/main" id="{5AF721A4-73C0-4DB6-C198-ACEFF2290C78}"/>
              </a:ext>
            </a:extLst>
          </p:cNvPr>
          <p:cNvSpPr txBox="1"/>
          <p:nvPr/>
        </p:nvSpPr>
        <p:spPr>
          <a:xfrm>
            <a:off x="8559800" y="2374900"/>
            <a:ext cx="2933700" cy="307777"/>
          </a:xfrm>
          <a:prstGeom prst="rect">
            <a:avLst/>
          </a:prstGeom>
          <a:noFill/>
        </p:spPr>
        <p:txBody>
          <a:bodyPr vert="horz" wrap="square" lIns="0" tIns="0" rIns="0" bIns="0" rtlCol="0">
            <a:spAutoFit/>
          </a:bodyPr>
          <a:lstStyle/>
          <a:p>
            <a:r>
              <a:rPr lang="es-ES" sz="2000" b="1">
                <a:solidFill>
                  <a:srgbClr val="FFFFFF"/>
                </a:solidFill>
                <a:latin typeface="Aptos" panose="020B0004020202020204" pitchFamily="34" charset="0"/>
              </a:rPr>
              <a:t>Cotizaciones</a:t>
            </a:r>
          </a:p>
        </p:txBody>
      </p:sp>
      <p:sp>
        <p:nvSpPr>
          <p:cNvPr id="14" name="CuadroTexto 13">
            <a:extLst>
              <a:ext uri="{FF2B5EF4-FFF2-40B4-BE49-F238E27FC236}">
                <a16:creationId xmlns:a16="http://schemas.microsoft.com/office/drawing/2014/main" id="{FB44B985-FCC0-E2B8-6AEE-100CB7966CE6}"/>
              </a:ext>
            </a:extLst>
          </p:cNvPr>
          <p:cNvSpPr txBox="1"/>
          <p:nvPr/>
        </p:nvSpPr>
        <p:spPr>
          <a:xfrm>
            <a:off x="8559800" y="2832100"/>
            <a:ext cx="2933700" cy="246221"/>
          </a:xfrm>
          <a:prstGeom prst="rect">
            <a:avLst/>
          </a:prstGeom>
          <a:noFill/>
        </p:spPr>
        <p:txBody>
          <a:bodyPr vert="horz" wrap="square" lIns="0" tIns="0" rIns="0" bIns="0" rtlCol="0">
            <a:spAutoFit/>
          </a:bodyPr>
          <a:lstStyle/>
          <a:p>
            <a:r>
              <a:rPr lang="es-ES" sz="1600">
                <a:solidFill>
                  <a:srgbClr val="FFFFFF"/>
                </a:solidFill>
                <a:latin typeface="Aptos" panose="020B0004020202020204" pitchFamily="34" charset="0"/>
              </a:rPr>
              <a:t>Ofertas aceptadas</a:t>
            </a:r>
          </a:p>
        </p:txBody>
      </p:sp>
      <p:sp>
        <p:nvSpPr>
          <p:cNvPr id="15" name="Rectángulo 14">
            <a:extLst>
              <a:ext uri="{FF2B5EF4-FFF2-40B4-BE49-F238E27FC236}">
                <a16:creationId xmlns:a16="http://schemas.microsoft.com/office/drawing/2014/main" id="{970459E9-405A-29B7-7C71-3A71FFB6327E}"/>
              </a:ext>
            </a:extLst>
          </p:cNvPr>
          <p:cNvSpPr/>
          <p:nvPr/>
        </p:nvSpPr>
        <p:spPr>
          <a:xfrm>
            <a:off x="533400" y="4381500"/>
            <a:ext cx="3238500" cy="1270000"/>
          </a:xfrm>
          <a:prstGeom prst="rect">
            <a:avLst/>
          </a:prstGeom>
          <a:solidFill>
            <a:srgbClr val="0F776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 name="CuadroTexto 15">
            <a:extLst>
              <a:ext uri="{FF2B5EF4-FFF2-40B4-BE49-F238E27FC236}">
                <a16:creationId xmlns:a16="http://schemas.microsoft.com/office/drawing/2014/main" id="{3432348A-960A-59A2-F8D6-75088C19BA4F}"/>
              </a:ext>
            </a:extLst>
          </p:cNvPr>
          <p:cNvSpPr txBox="1"/>
          <p:nvPr/>
        </p:nvSpPr>
        <p:spPr>
          <a:xfrm>
            <a:off x="685800" y="4533900"/>
            <a:ext cx="2933700" cy="307777"/>
          </a:xfrm>
          <a:prstGeom prst="rect">
            <a:avLst/>
          </a:prstGeom>
          <a:noFill/>
        </p:spPr>
        <p:txBody>
          <a:bodyPr vert="horz" wrap="square" lIns="0" tIns="0" rIns="0" bIns="0" rtlCol="0">
            <a:spAutoFit/>
          </a:bodyPr>
          <a:lstStyle/>
          <a:p>
            <a:r>
              <a:rPr lang="es-ES" sz="2000" b="1">
                <a:solidFill>
                  <a:srgbClr val="FFFFFF"/>
                </a:solidFill>
                <a:latin typeface="Aptos" panose="020B0004020202020204" pitchFamily="34" charset="0"/>
              </a:rPr>
              <a:t>Productos</a:t>
            </a:r>
          </a:p>
        </p:txBody>
      </p:sp>
      <p:sp>
        <p:nvSpPr>
          <p:cNvPr id="17" name="CuadroTexto 16">
            <a:extLst>
              <a:ext uri="{FF2B5EF4-FFF2-40B4-BE49-F238E27FC236}">
                <a16:creationId xmlns:a16="http://schemas.microsoft.com/office/drawing/2014/main" id="{B337B6D0-C9BE-196B-DF47-B9DDCEF5C1DE}"/>
              </a:ext>
            </a:extLst>
          </p:cNvPr>
          <p:cNvSpPr txBox="1"/>
          <p:nvPr/>
        </p:nvSpPr>
        <p:spPr>
          <a:xfrm>
            <a:off x="685800" y="4991100"/>
            <a:ext cx="2933700" cy="246221"/>
          </a:xfrm>
          <a:prstGeom prst="rect">
            <a:avLst/>
          </a:prstGeom>
          <a:noFill/>
        </p:spPr>
        <p:txBody>
          <a:bodyPr vert="horz" wrap="square" lIns="0" tIns="0" rIns="0" bIns="0" rtlCol="0">
            <a:spAutoFit/>
          </a:bodyPr>
          <a:lstStyle/>
          <a:p>
            <a:r>
              <a:rPr lang="es-ES" sz="1600">
                <a:solidFill>
                  <a:srgbClr val="FFFFFF"/>
                </a:solidFill>
                <a:latin typeface="Aptos" panose="020B0004020202020204" pitchFamily="34" charset="0"/>
              </a:rPr>
              <a:t>Catálogo y reservas</a:t>
            </a:r>
          </a:p>
        </p:txBody>
      </p:sp>
      <p:sp>
        <p:nvSpPr>
          <p:cNvPr id="18" name="Rectángulo 17">
            <a:extLst>
              <a:ext uri="{FF2B5EF4-FFF2-40B4-BE49-F238E27FC236}">
                <a16:creationId xmlns:a16="http://schemas.microsoft.com/office/drawing/2014/main" id="{E6E3148F-3E1D-A026-6E84-983C8ABA4325}"/>
              </a:ext>
            </a:extLst>
          </p:cNvPr>
          <p:cNvSpPr/>
          <p:nvPr/>
        </p:nvSpPr>
        <p:spPr>
          <a:xfrm>
            <a:off x="4470400" y="4381500"/>
            <a:ext cx="3238500" cy="1270000"/>
          </a:xfrm>
          <a:prstGeom prst="rect">
            <a:avLst/>
          </a:prstGeom>
          <a:solidFill>
            <a:srgbClr val="0F776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9" name="CuadroTexto 18">
            <a:extLst>
              <a:ext uri="{FF2B5EF4-FFF2-40B4-BE49-F238E27FC236}">
                <a16:creationId xmlns:a16="http://schemas.microsoft.com/office/drawing/2014/main" id="{A353E9B5-74B3-A43E-1994-B4795BA82A25}"/>
              </a:ext>
            </a:extLst>
          </p:cNvPr>
          <p:cNvSpPr txBox="1"/>
          <p:nvPr/>
        </p:nvSpPr>
        <p:spPr>
          <a:xfrm>
            <a:off x="4622800" y="4533900"/>
            <a:ext cx="2933700" cy="307777"/>
          </a:xfrm>
          <a:prstGeom prst="rect">
            <a:avLst/>
          </a:prstGeom>
          <a:noFill/>
        </p:spPr>
        <p:txBody>
          <a:bodyPr vert="horz" wrap="square" lIns="0" tIns="0" rIns="0" bIns="0" rtlCol="0">
            <a:spAutoFit/>
          </a:bodyPr>
          <a:lstStyle/>
          <a:p>
            <a:r>
              <a:rPr lang="es-ES" sz="2000" b="1">
                <a:solidFill>
                  <a:srgbClr val="FFFFFF"/>
                </a:solidFill>
                <a:latin typeface="Aptos" panose="020B0004020202020204" pitchFamily="34" charset="0"/>
              </a:rPr>
              <a:t>Pedidos</a:t>
            </a:r>
          </a:p>
        </p:txBody>
      </p:sp>
      <p:sp>
        <p:nvSpPr>
          <p:cNvPr id="20" name="CuadroTexto 19">
            <a:extLst>
              <a:ext uri="{FF2B5EF4-FFF2-40B4-BE49-F238E27FC236}">
                <a16:creationId xmlns:a16="http://schemas.microsoft.com/office/drawing/2014/main" id="{F6225628-E9CA-89E1-22B8-FA1768AACA55}"/>
              </a:ext>
            </a:extLst>
          </p:cNvPr>
          <p:cNvSpPr txBox="1"/>
          <p:nvPr/>
        </p:nvSpPr>
        <p:spPr>
          <a:xfrm>
            <a:off x="4622800" y="4991100"/>
            <a:ext cx="2933700" cy="246221"/>
          </a:xfrm>
          <a:prstGeom prst="rect">
            <a:avLst/>
          </a:prstGeom>
          <a:noFill/>
        </p:spPr>
        <p:txBody>
          <a:bodyPr vert="horz" wrap="square" lIns="0" tIns="0" rIns="0" bIns="0" rtlCol="0">
            <a:spAutoFit/>
          </a:bodyPr>
          <a:lstStyle/>
          <a:p>
            <a:r>
              <a:rPr lang="es-ES" sz="1600">
                <a:solidFill>
                  <a:srgbClr val="FFFFFF"/>
                </a:solidFill>
                <a:latin typeface="Aptos" panose="020B0004020202020204" pitchFamily="34" charset="0"/>
              </a:rPr>
              <a:t>Condiciones y estados</a:t>
            </a:r>
          </a:p>
        </p:txBody>
      </p:sp>
      <p:sp>
        <p:nvSpPr>
          <p:cNvPr id="21" name="Rectángulo 20">
            <a:extLst>
              <a:ext uri="{FF2B5EF4-FFF2-40B4-BE49-F238E27FC236}">
                <a16:creationId xmlns:a16="http://schemas.microsoft.com/office/drawing/2014/main" id="{04CDC68A-127A-8962-FB6B-FB19E97D3CF1}"/>
              </a:ext>
            </a:extLst>
          </p:cNvPr>
          <p:cNvSpPr/>
          <p:nvPr/>
        </p:nvSpPr>
        <p:spPr>
          <a:xfrm>
            <a:off x="8407400" y="4381500"/>
            <a:ext cx="3238500" cy="1270000"/>
          </a:xfrm>
          <a:prstGeom prst="rect">
            <a:avLst/>
          </a:prstGeom>
          <a:solidFill>
            <a:srgbClr val="6C778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2" name="CuadroTexto 21">
            <a:extLst>
              <a:ext uri="{FF2B5EF4-FFF2-40B4-BE49-F238E27FC236}">
                <a16:creationId xmlns:a16="http://schemas.microsoft.com/office/drawing/2014/main" id="{A42A9B82-CD41-7046-75DB-D300042F9203}"/>
              </a:ext>
            </a:extLst>
          </p:cNvPr>
          <p:cNvSpPr txBox="1"/>
          <p:nvPr/>
        </p:nvSpPr>
        <p:spPr>
          <a:xfrm>
            <a:off x="8559800" y="4533900"/>
            <a:ext cx="2933700" cy="307777"/>
          </a:xfrm>
          <a:prstGeom prst="rect">
            <a:avLst/>
          </a:prstGeom>
          <a:noFill/>
        </p:spPr>
        <p:txBody>
          <a:bodyPr vert="horz" wrap="square" lIns="0" tIns="0" rIns="0" bIns="0" rtlCol="0">
            <a:spAutoFit/>
          </a:bodyPr>
          <a:lstStyle/>
          <a:p>
            <a:r>
              <a:rPr lang="es-ES" sz="2000" b="1">
                <a:solidFill>
                  <a:srgbClr val="FFFFFF"/>
                </a:solidFill>
                <a:latin typeface="Aptos" panose="020B0004020202020204" pitchFamily="34" charset="0"/>
              </a:rPr>
              <a:t>Pagos</a:t>
            </a:r>
          </a:p>
        </p:txBody>
      </p:sp>
      <p:sp>
        <p:nvSpPr>
          <p:cNvPr id="23" name="CuadroTexto 22">
            <a:extLst>
              <a:ext uri="{FF2B5EF4-FFF2-40B4-BE49-F238E27FC236}">
                <a16:creationId xmlns:a16="http://schemas.microsoft.com/office/drawing/2014/main" id="{EFC191FF-6043-5D1D-7D98-3FAE4B8D565C}"/>
              </a:ext>
            </a:extLst>
          </p:cNvPr>
          <p:cNvSpPr txBox="1"/>
          <p:nvPr/>
        </p:nvSpPr>
        <p:spPr>
          <a:xfrm>
            <a:off x="8559800" y="4991100"/>
            <a:ext cx="2933700" cy="246221"/>
          </a:xfrm>
          <a:prstGeom prst="rect">
            <a:avLst/>
          </a:prstGeom>
          <a:noFill/>
        </p:spPr>
        <p:txBody>
          <a:bodyPr vert="horz" wrap="square" lIns="0" tIns="0" rIns="0" bIns="0" rtlCol="0">
            <a:spAutoFit/>
          </a:bodyPr>
          <a:lstStyle/>
          <a:p>
            <a:r>
              <a:rPr lang="es-ES" sz="1600">
                <a:solidFill>
                  <a:srgbClr val="FFFFFF"/>
                </a:solidFill>
                <a:latin typeface="Aptos" panose="020B0004020202020204" pitchFamily="34" charset="0"/>
              </a:rPr>
              <a:t>Intentos y confirmación</a:t>
            </a:r>
          </a:p>
        </p:txBody>
      </p:sp>
      <p:cxnSp>
        <p:nvCxnSpPr>
          <p:cNvPr id="24" name="Conector recto 23">
            <a:extLst>
              <a:ext uri="{FF2B5EF4-FFF2-40B4-BE49-F238E27FC236}">
                <a16:creationId xmlns:a16="http://schemas.microsoft.com/office/drawing/2014/main" id="{33E73079-EC73-D756-04CE-AC9D1449B535}"/>
              </a:ext>
            </a:extLst>
          </p:cNvPr>
          <p:cNvCxnSpPr/>
          <p:nvPr/>
        </p:nvCxnSpPr>
        <p:spPr>
          <a:xfrm flipH="1">
            <a:off x="3771900" y="5016500"/>
            <a:ext cx="698500" cy="0"/>
          </a:xfrm>
          <a:prstGeom prst="line">
            <a:avLst/>
          </a:prstGeom>
          <a:ln w="19050">
            <a:solidFill>
              <a:srgbClr val="52677A"/>
            </a:solidFill>
            <a:tailEnd type="arrow"/>
          </a:ln>
        </p:spPr>
        <p:style>
          <a:lnRef idx="2">
            <a:schemeClr val="accent1"/>
          </a:lnRef>
          <a:fillRef idx="0">
            <a:schemeClr val="accent1"/>
          </a:fillRef>
          <a:effectRef idx="1">
            <a:schemeClr val="accent1"/>
          </a:effectRef>
          <a:fontRef idx="minor">
            <a:schemeClr val="tx1"/>
          </a:fontRef>
        </p:style>
      </p:cxnSp>
      <p:cxnSp>
        <p:nvCxnSpPr>
          <p:cNvPr id="25" name="Conector recto 24">
            <a:extLst>
              <a:ext uri="{FF2B5EF4-FFF2-40B4-BE49-F238E27FC236}">
                <a16:creationId xmlns:a16="http://schemas.microsoft.com/office/drawing/2014/main" id="{356D8FA4-3490-04B9-602E-1A584E25F20E}"/>
              </a:ext>
            </a:extLst>
          </p:cNvPr>
          <p:cNvCxnSpPr/>
          <p:nvPr/>
        </p:nvCxnSpPr>
        <p:spPr>
          <a:xfrm>
            <a:off x="7708900" y="5016500"/>
            <a:ext cx="698500" cy="0"/>
          </a:xfrm>
          <a:prstGeom prst="line">
            <a:avLst/>
          </a:prstGeom>
          <a:ln w="19050">
            <a:solidFill>
              <a:srgbClr val="52677A"/>
            </a:solidFill>
            <a:tailEnd type="arrow"/>
          </a:ln>
        </p:spPr>
        <p:style>
          <a:lnRef idx="2">
            <a:schemeClr val="accent1"/>
          </a:lnRef>
          <a:fillRef idx="0">
            <a:schemeClr val="accent1"/>
          </a:fillRef>
          <a:effectRef idx="1">
            <a:schemeClr val="accent1"/>
          </a:effectRef>
          <a:fontRef idx="minor">
            <a:schemeClr val="tx1"/>
          </a:fontRef>
        </p:style>
      </p:cxnSp>
      <p:cxnSp>
        <p:nvCxnSpPr>
          <p:cNvPr id="26" name="Conector recto 25">
            <a:extLst>
              <a:ext uri="{FF2B5EF4-FFF2-40B4-BE49-F238E27FC236}">
                <a16:creationId xmlns:a16="http://schemas.microsoft.com/office/drawing/2014/main" id="{6461F856-9C23-CA9F-3AC6-59C93D5E02A0}"/>
              </a:ext>
            </a:extLst>
          </p:cNvPr>
          <p:cNvCxnSpPr/>
          <p:nvPr/>
        </p:nvCxnSpPr>
        <p:spPr>
          <a:xfrm flipV="1">
            <a:off x="7302500" y="4000500"/>
            <a:ext cx="0" cy="381000"/>
          </a:xfrm>
          <a:prstGeom prst="line">
            <a:avLst/>
          </a:prstGeom>
          <a:ln w="19050">
            <a:solidFill>
              <a:srgbClr val="52677A"/>
            </a:solidFill>
          </a:ln>
        </p:spPr>
        <p:style>
          <a:lnRef idx="2">
            <a:schemeClr val="accent1"/>
          </a:lnRef>
          <a:fillRef idx="0">
            <a:schemeClr val="accent1"/>
          </a:fillRef>
          <a:effectRef idx="1">
            <a:schemeClr val="accent1"/>
          </a:effectRef>
          <a:fontRef idx="minor">
            <a:schemeClr val="tx1"/>
          </a:fontRef>
        </p:style>
      </p:cxnSp>
      <p:cxnSp>
        <p:nvCxnSpPr>
          <p:cNvPr id="27" name="Conector recto 26">
            <a:extLst>
              <a:ext uri="{FF2B5EF4-FFF2-40B4-BE49-F238E27FC236}">
                <a16:creationId xmlns:a16="http://schemas.microsoft.com/office/drawing/2014/main" id="{9BCBD380-76E7-9C3A-0572-4EEDC0EA60C1}"/>
              </a:ext>
            </a:extLst>
          </p:cNvPr>
          <p:cNvCxnSpPr/>
          <p:nvPr/>
        </p:nvCxnSpPr>
        <p:spPr>
          <a:xfrm>
            <a:off x="7302500" y="4000500"/>
            <a:ext cx="2032000" cy="0"/>
          </a:xfrm>
          <a:prstGeom prst="line">
            <a:avLst/>
          </a:prstGeom>
          <a:ln w="19050">
            <a:solidFill>
              <a:srgbClr val="52677A"/>
            </a:solidFill>
          </a:ln>
        </p:spPr>
        <p:style>
          <a:lnRef idx="2">
            <a:schemeClr val="accent1"/>
          </a:lnRef>
          <a:fillRef idx="0">
            <a:schemeClr val="accent1"/>
          </a:fillRef>
          <a:effectRef idx="1">
            <a:schemeClr val="accent1"/>
          </a:effectRef>
          <a:fontRef idx="minor">
            <a:schemeClr val="tx1"/>
          </a:fontRef>
        </p:style>
      </p:cxnSp>
      <p:cxnSp>
        <p:nvCxnSpPr>
          <p:cNvPr id="28" name="Conector recto 27">
            <a:extLst>
              <a:ext uri="{FF2B5EF4-FFF2-40B4-BE49-F238E27FC236}">
                <a16:creationId xmlns:a16="http://schemas.microsoft.com/office/drawing/2014/main" id="{7F30DF78-C3B0-27AD-10A4-8BE881A88A48}"/>
              </a:ext>
            </a:extLst>
          </p:cNvPr>
          <p:cNvCxnSpPr/>
          <p:nvPr/>
        </p:nvCxnSpPr>
        <p:spPr>
          <a:xfrm flipV="1">
            <a:off x="9334500" y="3492500"/>
            <a:ext cx="0" cy="508000"/>
          </a:xfrm>
          <a:prstGeom prst="line">
            <a:avLst/>
          </a:prstGeom>
          <a:ln w="19050">
            <a:solidFill>
              <a:srgbClr val="52677A"/>
            </a:solidFill>
            <a:tailEnd type="arrow"/>
          </a:ln>
        </p:spPr>
        <p:style>
          <a:lnRef idx="2">
            <a:schemeClr val="accent1"/>
          </a:lnRef>
          <a:fillRef idx="0">
            <a:schemeClr val="accent1"/>
          </a:fillRef>
          <a:effectRef idx="1">
            <a:schemeClr val="accent1"/>
          </a:effectRef>
          <a:fontRef idx="minor">
            <a:schemeClr val="tx1"/>
          </a:fontRef>
        </p:style>
      </p:cxnSp>
      <p:sp>
        <p:nvSpPr>
          <p:cNvPr id="29" name="CuadroTexto 28">
            <a:extLst>
              <a:ext uri="{FF2B5EF4-FFF2-40B4-BE49-F238E27FC236}">
                <a16:creationId xmlns:a16="http://schemas.microsoft.com/office/drawing/2014/main" id="{BFFC3AD8-AE98-2703-1462-3C76073553FF}"/>
              </a:ext>
            </a:extLst>
          </p:cNvPr>
          <p:cNvSpPr txBox="1"/>
          <p:nvPr/>
        </p:nvSpPr>
        <p:spPr>
          <a:xfrm>
            <a:off x="7493000" y="3644900"/>
            <a:ext cx="1778000" cy="215444"/>
          </a:xfrm>
          <a:prstGeom prst="rect">
            <a:avLst/>
          </a:prstGeom>
          <a:noFill/>
        </p:spPr>
        <p:txBody>
          <a:bodyPr vert="horz" wrap="square" lIns="0" tIns="0" rIns="0" bIns="0" rtlCol="0">
            <a:spAutoFit/>
          </a:bodyPr>
          <a:lstStyle/>
          <a:p>
            <a:r>
              <a:rPr lang="es-ES" sz="1400">
                <a:solidFill>
                  <a:srgbClr val="52677A"/>
                </a:solidFill>
                <a:latin typeface="Aptos" panose="020B0004020202020204" pitchFamily="34" charset="0"/>
              </a:rPr>
              <a:t>Oferta aceptada</a:t>
            </a:r>
          </a:p>
        </p:txBody>
      </p:sp>
      <p:sp>
        <p:nvSpPr>
          <p:cNvPr id="30" name="CuadroTexto 29">
            <a:extLst>
              <a:ext uri="{FF2B5EF4-FFF2-40B4-BE49-F238E27FC236}">
                <a16:creationId xmlns:a16="http://schemas.microsoft.com/office/drawing/2014/main" id="{A177CD3F-0B3A-8E82-AC81-318B24226B2D}"/>
              </a:ext>
            </a:extLst>
          </p:cNvPr>
          <p:cNvSpPr txBox="1"/>
          <p:nvPr/>
        </p:nvSpPr>
        <p:spPr>
          <a:xfrm>
            <a:off x="533400" y="6019800"/>
            <a:ext cx="11125200" cy="261610"/>
          </a:xfrm>
          <a:prstGeom prst="rect">
            <a:avLst/>
          </a:prstGeom>
          <a:noFill/>
        </p:spPr>
        <p:txBody>
          <a:bodyPr vert="horz" wrap="square" lIns="0" tIns="0" rIns="0" bIns="0" rtlCol="0">
            <a:spAutoFit/>
          </a:bodyPr>
          <a:lstStyle/>
          <a:p>
            <a:r>
              <a:rPr lang="es-ES" sz="1700">
                <a:solidFill>
                  <a:srgbClr val="52677A"/>
                </a:solidFill>
                <a:latin typeface="Aptos" panose="020B0004020202020204" pitchFamily="34" charset="0"/>
              </a:rPr>
              <a:t>Pagos sujeto al alcance acordado. Otros módulos permanecen en la visión general</a:t>
            </a:r>
          </a:p>
        </p:txBody>
      </p:sp>
    </p:spTree>
    <p:extLst>
      <p:ext uri="{BB962C8B-B14F-4D97-AF65-F5344CB8AC3E}">
        <p14:creationId xmlns:p14="http://schemas.microsoft.com/office/powerpoint/2010/main" val="6053285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4149BA1C-667F-989C-A135-2A341168A6E0}"/>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C4 nivel 4: diseño de Pedidos</a:t>
            </a:r>
          </a:p>
        </p:txBody>
      </p:sp>
      <p:sp>
        <p:nvSpPr>
          <p:cNvPr id="3" name="CuadroTexto 2">
            <a:extLst>
              <a:ext uri="{FF2B5EF4-FFF2-40B4-BE49-F238E27FC236}">
                <a16:creationId xmlns:a16="http://schemas.microsoft.com/office/drawing/2014/main" id="{CDE91781-D95E-7880-42E2-7BD48102C3DF}"/>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B106E273-ED42-0176-AC16-0E72140B9A78}"/>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11</a:t>
            </a:r>
          </a:p>
        </p:txBody>
      </p:sp>
      <p:sp>
        <p:nvSpPr>
          <p:cNvPr id="5" name="Rectángulo 4">
            <a:extLst>
              <a:ext uri="{FF2B5EF4-FFF2-40B4-BE49-F238E27FC236}">
                <a16:creationId xmlns:a16="http://schemas.microsoft.com/office/drawing/2014/main" id="{D46DBE99-60A5-0A2D-6A67-406121D692BF}"/>
              </a:ext>
            </a:extLst>
          </p:cNvPr>
          <p:cNvSpPr/>
          <p:nvPr/>
        </p:nvSpPr>
        <p:spPr>
          <a:xfrm>
            <a:off x="533400" y="1968500"/>
            <a:ext cx="3302000" cy="1333500"/>
          </a:xfrm>
          <a:prstGeom prst="rect">
            <a:avLst/>
          </a:prstGeom>
          <a:solidFill>
            <a:srgbClr val="EDF4FA"/>
          </a:solidFill>
          <a:ln>
            <a:solidFill>
              <a:srgbClr val="1269B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CuadroTexto 5">
            <a:extLst>
              <a:ext uri="{FF2B5EF4-FFF2-40B4-BE49-F238E27FC236}">
                <a16:creationId xmlns:a16="http://schemas.microsoft.com/office/drawing/2014/main" id="{F32FF52B-34C6-1DC2-370C-97862FFC25F6}"/>
              </a:ext>
            </a:extLst>
          </p:cNvPr>
          <p:cNvSpPr txBox="1"/>
          <p:nvPr/>
        </p:nvSpPr>
        <p:spPr>
          <a:xfrm>
            <a:off x="660400" y="2095500"/>
            <a:ext cx="3048000" cy="276999"/>
          </a:xfrm>
          <a:prstGeom prst="rect">
            <a:avLst/>
          </a:prstGeom>
          <a:noFill/>
        </p:spPr>
        <p:txBody>
          <a:bodyPr vert="horz" wrap="square" lIns="0" tIns="0" rIns="0" bIns="0" rtlCol="0">
            <a:spAutoFit/>
          </a:bodyPr>
          <a:lstStyle/>
          <a:p>
            <a:r>
              <a:rPr lang="es-ES" b="1">
                <a:solidFill>
                  <a:srgbClr val="102D4E"/>
                </a:solidFill>
                <a:latin typeface="Aptos" panose="020B0004020202020204" pitchFamily="34" charset="0"/>
              </a:rPr>
              <a:t>OrderController</a:t>
            </a:r>
          </a:p>
        </p:txBody>
      </p:sp>
      <p:cxnSp>
        <p:nvCxnSpPr>
          <p:cNvPr id="7" name="Conector recto 6">
            <a:extLst>
              <a:ext uri="{FF2B5EF4-FFF2-40B4-BE49-F238E27FC236}">
                <a16:creationId xmlns:a16="http://schemas.microsoft.com/office/drawing/2014/main" id="{F079306F-BA36-D11A-27D2-255F6F642A65}"/>
              </a:ext>
            </a:extLst>
          </p:cNvPr>
          <p:cNvCxnSpPr/>
          <p:nvPr/>
        </p:nvCxnSpPr>
        <p:spPr>
          <a:xfrm>
            <a:off x="533400" y="2476500"/>
            <a:ext cx="3302000" cy="0"/>
          </a:xfrm>
          <a:prstGeom prst="line">
            <a:avLst/>
          </a:prstGeom>
          <a:ln>
            <a:solidFill>
              <a:srgbClr val="1269B0"/>
            </a:solidFill>
          </a:ln>
        </p:spPr>
        <p:style>
          <a:lnRef idx="2">
            <a:schemeClr val="accent1"/>
          </a:lnRef>
          <a:fillRef idx="0">
            <a:schemeClr val="accent1"/>
          </a:fillRef>
          <a:effectRef idx="1">
            <a:schemeClr val="accent1"/>
          </a:effectRef>
          <a:fontRef idx="minor">
            <a:schemeClr val="tx1"/>
          </a:fontRef>
        </p:style>
      </p:cxnSp>
      <p:sp>
        <p:nvSpPr>
          <p:cNvPr id="8" name="CuadroTexto 7">
            <a:extLst>
              <a:ext uri="{FF2B5EF4-FFF2-40B4-BE49-F238E27FC236}">
                <a16:creationId xmlns:a16="http://schemas.microsoft.com/office/drawing/2014/main" id="{3692554A-8E44-3144-9BCE-18AAC7C07640}"/>
              </a:ext>
            </a:extLst>
          </p:cNvPr>
          <p:cNvSpPr txBox="1"/>
          <p:nvPr/>
        </p:nvSpPr>
        <p:spPr>
          <a:xfrm>
            <a:off x="660400" y="2603500"/>
            <a:ext cx="3048000" cy="261610"/>
          </a:xfrm>
          <a:prstGeom prst="rect">
            <a:avLst/>
          </a:prstGeom>
          <a:noFill/>
        </p:spPr>
        <p:txBody>
          <a:bodyPr vert="horz" wrap="square" lIns="0" tIns="0" rIns="0" bIns="0" rtlCol="0">
            <a:spAutoFit/>
          </a:bodyPr>
          <a:lstStyle/>
          <a:p>
            <a:r>
              <a:rPr lang="es-ES" sz="1700">
                <a:solidFill>
                  <a:srgbClr val="203447"/>
                </a:solidFill>
                <a:latin typeface="Aptos" panose="020B0004020202020204" pitchFamily="34" charset="0"/>
              </a:rPr>
              <a:t>+ crear()</a:t>
            </a:r>
          </a:p>
        </p:txBody>
      </p:sp>
      <p:sp>
        <p:nvSpPr>
          <p:cNvPr id="9" name="Rectángulo 8">
            <a:extLst>
              <a:ext uri="{FF2B5EF4-FFF2-40B4-BE49-F238E27FC236}">
                <a16:creationId xmlns:a16="http://schemas.microsoft.com/office/drawing/2014/main" id="{9373BC9D-7302-22E3-A1A6-96089EDC2F56}"/>
              </a:ext>
            </a:extLst>
          </p:cNvPr>
          <p:cNvSpPr/>
          <p:nvPr/>
        </p:nvSpPr>
        <p:spPr>
          <a:xfrm>
            <a:off x="4470400" y="1968500"/>
            <a:ext cx="3429000" cy="1333500"/>
          </a:xfrm>
          <a:prstGeom prst="rect">
            <a:avLst/>
          </a:prstGeom>
          <a:solidFill>
            <a:srgbClr val="EDF4FA"/>
          </a:solidFill>
          <a:ln>
            <a:solidFill>
              <a:srgbClr val="1269B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CuadroTexto 9">
            <a:extLst>
              <a:ext uri="{FF2B5EF4-FFF2-40B4-BE49-F238E27FC236}">
                <a16:creationId xmlns:a16="http://schemas.microsoft.com/office/drawing/2014/main" id="{8EBC102D-F95D-BC4C-57F9-53C51742D406}"/>
              </a:ext>
            </a:extLst>
          </p:cNvPr>
          <p:cNvSpPr txBox="1"/>
          <p:nvPr/>
        </p:nvSpPr>
        <p:spPr>
          <a:xfrm>
            <a:off x="4597400" y="2095500"/>
            <a:ext cx="3175000" cy="276999"/>
          </a:xfrm>
          <a:prstGeom prst="rect">
            <a:avLst/>
          </a:prstGeom>
          <a:noFill/>
        </p:spPr>
        <p:txBody>
          <a:bodyPr vert="horz" wrap="square" lIns="0" tIns="0" rIns="0" bIns="0" rtlCol="0">
            <a:spAutoFit/>
          </a:bodyPr>
          <a:lstStyle/>
          <a:p>
            <a:r>
              <a:rPr lang="es-ES" b="1">
                <a:solidFill>
                  <a:srgbClr val="102D4E"/>
                </a:solidFill>
                <a:latin typeface="Aptos" panose="020B0004020202020204" pitchFamily="34" charset="0"/>
              </a:rPr>
              <a:t>CrearPedidoUseCase</a:t>
            </a:r>
          </a:p>
        </p:txBody>
      </p:sp>
      <p:cxnSp>
        <p:nvCxnSpPr>
          <p:cNvPr id="11" name="Conector recto 10">
            <a:extLst>
              <a:ext uri="{FF2B5EF4-FFF2-40B4-BE49-F238E27FC236}">
                <a16:creationId xmlns:a16="http://schemas.microsoft.com/office/drawing/2014/main" id="{83813C6F-4635-6DEA-0962-B664859BD2AF}"/>
              </a:ext>
            </a:extLst>
          </p:cNvPr>
          <p:cNvCxnSpPr/>
          <p:nvPr/>
        </p:nvCxnSpPr>
        <p:spPr>
          <a:xfrm>
            <a:off x="4470400" y="2476500"/>
            <a:ext cx="3429000" cy="0"/>
          </a:xfrm>
          <a:prstGeom prst="line">
            <a:avLst/>
          </a:prstGeom>
          <a:ln>
            <a:solidFill>
              <a:srgbClr val="1269B0"/>
            </a:solidFill>
          </a:ln>
        </p:spPr>
        <p:style>
          <a:lnRef idx="2">
            <a:schemeClr val="accent1"/>
          </a:lnRef>
          <a:fillRef idx="0">
            <a:schemeClr val="accent1"/>
          </a:fillRef>
          <a:effectRef idx="1">
            <a:schemeClr val="accent1"/>
          </a:effectRef>
          <a:fontRef idx="minor">
            <a:schemeClr val="tx1"/>
          </a:fontRef>
        </p:style>
      </p:cxnSp>
      <p:sp>
        <p:nvSpPr>
          <p:cNvPr id="12" name="CuadroTexto 11">
            <a:extLst>
              <a:ext uri="{FF2B5EF4-FFF2-40B4-BE49-F238E27FC236}">
                <a16:creationId xmlns:a16="http://schemas.microsoft.com/office/drawing/2014/main" id="{6DDE77A0-AF2C-C09F-4CA7-29A811042175}"/>
              </a:ext>
            </a:extLst>
          </p:cNvPr>
          <p:cNvSpPr txBox="1"/>
          <p:nvPr/>
        </p:nvSpPr>
        <p:spPr>
          <a:xfrm>
            <a:off x="4597400" y="2603500"/>
            <a:ext cx="3175000" cy="261610"/>
          </a:xfrm>
          <a:prstGeom prst="rect">
            <a:avLst/>
          </a:prstGeom>
          <a:noFill/>
        </p:spPr>
        <p:txBody>
          <a:bodyPr vert="horz" wrap="square" lIns="0" tIns="0" rIns="0" bIns="0" rtlCol="0">
            <a:spAutoFit/>
          </a:bodyPr>
          <a:lstStyle/>
          <a:p>
            <a:r>
              <a:rPr lang="es-ES" sz="1700">
                <a:solidFill>
                  <a:srgbClr val="203447"/>
                </a:solidFill>
                <a:latin typeface="Aptos" panose="020B0004020202020204" pitchFamily="34" charset="0"/>
              </a:rPr>
              <a:t>+ ejecutar()</a:t>
            </a:r>
          </a:p>
        </p:txBody>
      </p:sp>
      <p:sp>
        <p:nvSpPr>
          <p:cNvPr id="13" name="Rectángulo 12">
            <a:extLst>
              <a:ext uri="{FF2B5EF4-FFF2-40B4-BE49-F238E27FC236}">
                <a16:creationId xmlns:a16="http://schemas.microsoft.com/office/drawing/2014/main" id="{1F8EADC2-1924-4370-DD7F-56E5D40169AD}"/>
              </a:ext>
            </a:extLst>
          </p:cNvPr>
          <p:cNvSpPr/>
          <p:nvPr/>
        </p:nvSpPr>
        <p:spPr>
          <a:xfrm>
            <a:off x="8534400" y="1968500"/>
            <a:ext cx="3124200" cy="1943100"/>
          </a:xfrm>
          <a:prstGeom prst="rect">
            <a:avLst/>
          </a:prstGeom>
          <a:solidFill>
            <a:srgbClr val="EDF4FA"/>
          </a:solidFill>
          <a:ln>
            <a:solidFill>
              <a:srgbClr val="1269B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 name="CuadroTexto 13">
            <a:extLst>
              <a:ext uri="{FF2B5EF4-FFF2-40B4-BE49-F238E27FC236}">
                <a16:creationId xmlns:a16="http://schemas.microsoft.com/office/drawing/2014/main" id="{CB336406-8F72-CAAC-06F6-9657DF09B17E}"/>
              </a:ext>
            </a:extLst>
          </p:cNvPr>
          <p:cNvSpPr txBox="1"/>
          <p:nvPr/>
        </p:nvSpPr>
        <p:spPr>
          <a:xfrm>
            <a:off x="8661400" y="2095500"/>
            <a:ext cx="2870200" cy="276999"/>
          </a:xfrm>
          <a:prstGeom prst="rect">
            <a:avLst/>
          </a:prstGeom>
          <a:noFill/>
        </p:spPr>
        <p:txBody>
          <a:bodyPr vert="horz" wrap="square" lIns="0" tIns="0" rIns="0" bIns="0" rtlCol="0">
            <a:spAutoFit/>
          </a:bodyPr>
          <a:lstStyle/>
          <a:p>
            <a:r>
              <a:rPr lang="es-ES" b="1">
                <a:solidFill>
                  <a:srgbClr val="102D4E"/>
                </a:solidFill>
                <a:latin typeface="Aptos" panose="020B0004020202020204" pitchFamily="34" charset="0"/>
              </a:rPr>
              <a:t>Pedido</a:t>
            </a:r>
          </a:p>
        </p:txBody>
      </p:sp>
      <p:cxnSp>
        <p:nvCxnSpPr>
          <p:cNvPr id="15" name="Conector recto 14">
            <a:extLst>
              <a:ext uri="{FF2B5EF4-FFF2-40B4-BE49-F238E27FC236}">
                <a16:creationId xmlns:a16="http://schemas.microsoft.com/office/drawing/2014/main" id="{55151AA2-2DF6-C430-3274-A2591B704EAF}"/>
              </a:ext>
            </a:extLst>
          </p:cNvPr>
          <p:cNvCxnSpPr/>
          <p:nvPr/>
        </p:nvCxnSpPr>
        <p:spPr>
          <a:xfrm>
            <a:off x="8534400" y="2476500"/>
            <a:ext cx="3124200" cy="0"/>
          </a:xfrm>
          <a:prstGeom prst="line">
            <a:avLst/>
          </a:prstGeom>
          <a:ln>
            <a:solidFill>
              <a:srgbClr val="1269B0"/>
            </a:solidFill>
          </a:ln>
        </p:spPr>
        <p:style>
          <a:lnRef idx="2">
            <a:schemeClr val="accent1"/>
          </a:lnRef>
          <a:fillRef idx="0">
            <a:schemeClr val="accent1"/>
          </a:fillRef>
          <a:effectRef idx="1">
            <a:schemeClr val="accent1"/>
          </a:effectRef>
          <a:fontRef idx="minor">
            <a:schemeClr val="tx1"/>
          </a:fontRef>
        </p:style>
      </p:cxnSp>
      <p:sp>
        <p:nvSpPr>
          <p:cNvPr id="16" name="CuadroTexto 15">
            <a:extLst>
              <a:ext uri="{FF2B5EF4-FFF2-40B4-BE49-F238E27FC236}">
                <a16:creationId xmlns:a16="http://schemas.microsoft.com/office/drawing/2014/main" id="{D9AAC959-1000-E95B-3E44-CD67DC55A4A2}"/>
              </a:ext>
            </a:extLst>
          </p:cNvPr>
          <p:cNvSpPr txBox="1"/>
          <p:nvPr/>
        </p:nvSpPr>
        <p:spPr>
          <a:xfrm>
            <a:off x="8661400" y="2603500"/>
            <a:ext cx="2870200" cy="784830"/>
          </a:xfrm>
          <a:prstGeom prst="rect">
            <a:avLst/>
          </a:prstGeom>
          <a:noFill/>
        </p:spPr>
        <p:txBody>
          <a:bodyPr vert="horz" wrap="square" lIns="0" tIns="0" rIns="0" bIns="0" rtlCol="0">
            <a:spAutoFit/>
          </a:bodyPr>
          <a:lstStyle/>
          <a:p>
            <a:r>
              <a:rPr lang="es-ES" sz="1700">
                <a:solidFill>
                  <a:srgbClr val="203447"/>
                </a:solidFill>
                <a:latin typeface="Aptos" panose="020B0004020202020204" pitchFamily="34" charset="0"/>
              </a:rPr>
              <a:t>- estado</a:t>
            </a:r>
          </a:p>
          <a:p>
            <a:r>
              <a:rPr lang="es-ES" sz="1700">
                <a:solidFill>
                  <a:srgbClr val="203447"/>
                </a:solidFill>
                <a:latin typeface="Aptos" panose="020B0004020202020204" pitchFamily="34" charset="0"/>
              </a:rPr>
              <a:t>+ crear()</a:t>
            </a:r>
          </a:p>
          <a:p>
            <a:r>
              <a:rPr lang="es-ES" sz="1700">
                <a:solidFill>
                  <a:srgbClr val="203447"/>
                </a:solidFill>
                <a:latin typeface="Aptos" panose="020B0004020202020204" pitchFamily="34" charset="0"/>
              </a:rPr>
              <a:t>+ confirmarPagoVerificado()</a:t>
            </a:r>
          </a:p>
        </p:txBody>
      </p:sp>
      <p:sp>
        <p:nvSpPr>
          <p:cNvPr id="17" name="Rectángulo 16">
            <a:extLst>
              <a:ext uri="{FF2B5EF4-FFF2-40B4-BE49-F238E27FC236}">
                <a16:creationId xmlns:a16="http://schemas.microsoft.com/office/drawing/2014/main" id="{C675E66D-2C13-F643-7B66-40142DBF0F63}"/>
              </a:ext>
            </a:extLst>
          </p:cNvPr>
          <p:cNvSpPr/>
          <p:nvPr/>
        </p:nvSpPr>
        <p:spPr>
          <a:xfrm>
            <a:off x="4470400" y="4381500"/>
            <a:ext cx="3429000" cy="1651000"/>
          </a:xfrm>
          <a:prstGeom prst="rect">
            <a:avLst/>
          </a:prstGeom>
          <a:solidFill>
            <a:srgbClr val="EDF4FA"/>
          </a:solidFill>
          <a:ln>
            <a:solidFill>
              <a:srgbClr val="1269B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8" name="CuadroTexto 17">
            <a:extLst>
              <a:ext uri="{FF2B5EF4-FFF2-40B4-BE49-F238E27FC236}">
                <a16:creationId xmlns:a16="http://schemas.microsoft.com/office/drawing/2014/main" id="{528FBB41-9300-DD22-536F-922BB8FC7EF1}"/>
              </a:ext>
            </a:extLst>
          </p:cNvPr>
          <p:cNvSpPr txBox="1"/>
          <p:nvPr/>
        </p:nvSpPr>
        <p:spPr>
          <a:xfrm>
            <a:off x="4597400" y="4508500"/>
            <a:ext cx="3175000" cy="276999"/>
          </a:xfrm>
          <a:prstGeom prst="rect">
            <a:avLst/>
          </a:prstGeom>
          <a:noFill/>
        </p:spPr>
        <p:txBody>
          <a:bodyPr vert="horz" wrap="square" lIns="0" tIns="0" rIns="0" bIns="0" rtlCol="0">
            <a:spAutoFit/>
          </a:bodyPr>
          <a:lstStyle/>
          <a:p>
            <a:r>
              <a:rPr lang="es-ES" b="1">
                <a:solidFill>
                  <a:srgbClr val="102D4E"/>
                </a:solidFill>
                <a:latin typeface="Aptos" panose="020B0004020202020204" pitchFamily="34" charset="0"/>
              </a:rPr>
              <a:t>OrderRepository</a:t>
            </a:r>
          </a:p>
        </p:txBody>
      </p:sp>
      <p:cxnSp>
        <p:nvCxnSpPr>
          <p:cNvPr id="19" name="Conector recto 18">
            <a:extLst>
              <a:ext uri="{FF2B5EF4-FFF2-40B4-BE49-F238E27FC236}">
                <a16:creationId xmlns:a16="http://schemas.microsoft.com/office/drawing/2014/main" id="{197F8BC2-427A-A157-971F-46B80E04C624}"/>
              </a:ext>
            </a:extLst>
          </p:cNvPr>
          <p:cNvCxnSpPr/>
          <p:nvPr/>
        </p:nvCxnSpPr>
        <p:spPr>
          <a:xfrm>
            <a:off x="4470400" y="4889500"/>
            <a:ext cx="3429000" cy="0"/>
          </a:xfrm>
          <a:prstGeom prst="line">
            <a:avLst/>
          </a:prstGeom>
          <a:ln>
            <a:solidFill>
              <a:srgbClr val="1269B0"/>
            </a:solidFill>
          </a:ln>
        </p:spPr>
        <p:style>
          <a:lnRef idx="2">
            <a:schemeClr val="accent1"/>
          </a:lnRef>
          <a:fillRef idx="0">
            <a:schemeClr val="accent1"/>
          </a:fillRef>
          <a:effectRef idx="1">
            <a:schemeClr val="accent1"/>
          </a:effectRef>
          <a:fontRef idx="minor">
            <a:schemeClr val="tx1"/>
          </a:fontRef>
        </p:style>
      </p:cxnSp>
      <p:sp>
        <p:nvSpPr>
          <p:cNvPr id="20" name="CuadroTexto 19">
            <a:extLst>
              <a:ext uri="{FF2B5EF4-FFF2-40B4-BE49-F238E27FC236}">
                <a16:creationId xmlns:a16="http://schemas.microsoft.com/office/drawing/2014/main" id="{77B783BF-3DBF-BEE1-6FAE-1E57B7B1B477}"/>
              </a:ext>
            </a:extLst>
          </p:cNvPr>
          <p:cNvSpPr txBox="1"/>
          <p:nvPr/>
        </p:nvSpPr>
        <p:spPr>
          <a:xfrm>
            <a:off x="4597400" y="5016500"/>
            <a:ext cx="3175000" cy="784830"/>
          </a:xfrm>
          <a:prstGeom prst="rect">
            <a:avLst/>
          </a:prstGeom>
          <a:noFill/>
        </p:spPr>
        <p:txBody>
          <a:bodyPr vert="horz" wrap="square" lIns="0" tIns="0" rIns="0" bIns="0" rtlCol="0">
            <a:spAutoFit/>
          </a:bodyPr>
          <a:lstStyle/>
          <a:p>
            <a:r>
              <a:rPr lang="es-ES" sz="1700">
                <a:solidFill>
                  <a:srgbClr val="203447"/>
                </a:solidFill>
                <a:latin typeface="Aptos" panose="020B0004020202020204" pitchFamily="34" charset="0"/>
              </a:rPr>
              <a:t>Interfaz</a:t>
            </a:r>
          </a:p>
          <a:p>
            <a:r>
              <a:rPr lang="es-ES" sz="1700">
                <a:solidFill>
                  <a:srgbClr val="203447"/>
                </a:solidFill>
                <a:latin typeface="Aptos" panose="020B0004020202020204" pitchFamily="34" charset="0"/>
              </a:rPr>
              <a:t>+ guardar()</a:t>
            </a:r>
          </a:p>
          <a:p>
            <a:r>
              <a:rPr lang="es-ES" sz="1700">
                <a:solidFill>
                  <a:srgbClr val="203447"/>
                </a:solidFill>
                <a:latin typeface="Aptos" panose="020B0004020202020204" pitchFamily="34" charset="0"/>
              </a:rPr>
              <a:t>+ buscarPorId()</a:t>
            </a:r>
          </a:p>
        </p:txBody>
      </p:sp>
      <p:sp>
        <p:nvSpPr>
          <p:cNvPr id="21" name="Rectángulo 20">
            <a:extLst>
              <a:ext uri="{FF2B5EF4-FFF2-40B4-BE49-F238E27FC236}">
                <a16:creationId xmlns:a16="http://schemas.microsoft.com/office/drawing/2014/main" id="{0E0DAB96-7DAA-C787-DE56-F6818FE4C7E3}"/>
              </a:ext>
            </a:extLst>
          </p:cNvPr>
          <p:cNvSpPr/>
          <p:nvPr/>
        </p:nvSpPr>
        <p:spPr>
          <a:xfrm>
            <a:off x="533400" y="4381500"/>
            <a:ext cx="3302000" cy="1651000"/>
          </a:xfrm>
          <a:prstGeom prst="rect">
            <a:avLst/>
          </a:prstGeom>
          <a:solidFill>
            <a:srgbClr val="EDF4FA"/>
          </a:solidFill>
          <a:ln>
            <a:solidFill>
              <a:srgbClr val="1269B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2" name="CuadroTexto 21">
            <a:extLst>
              <a:ext uri="{FF2B5EF4-FFF2-40B4-BE49-F238E27FC236}">
                <a16:creationId xmlns:a16="http://schemas.microsoft.com/office/drawing/2014/main" id="{D13ED103-1655-D06D-F1C7-F81033F16486}"/>
              </a:ext>
            </a:extLst>
          </p:cNvPr>
          <p:cNvSpPr txBox="1"/>
          <p:nvPr/>
        </p:nvSpPr>
        <p:spPr>
          <a:xfrm>
            <a:off x="660400" y="4508500"/>
            <a:ext cx="3048000" cy="276999"/>
          </a:xfrm>
          <a:prstGeom prst="rect">
            <a:avLst/>
          </a:prstGeom>
          <a:noFill/>
        </p:spPr>
        <p:txBody>
          <a:bodyPr vert="horz" wrap="square" lIns="0" tIns="0" rIns="0" bIns="0" rtlCol="0">
            <a:spAutoFit/>
          </a:bodyPr>
          <a:lstStyle/>
          <a:p>
            <a:r>
              <a:rPr lang="es-ES" b="1">
                <a:solidFill>
                  <a:srgbClr val="102D4E"/>
                </a:solidFill>
                <a:latin typeface="Aptos" panose="020B0004020202020204" pitchFamily="34" charset="0"/>
              </a:rPr>
              <a:t>PostgresOrderRepository</a:t>
            </a:r>
          </a:p>
        </p:txBody>
      </p:sp>
      <p:cxnSp>
        <p:nvCxnSpPr>
          <p:cNvPr id="23" name="Conector recto 22">
            <a:extLst>
              <a:ext uri="{FF2B5EF4-FFF2-40B4-BE49-F238E27FC236}">
                <a16:creationId xmlns:a16="http://schemas.microsoft.com/office/drawing/2014/main" id="{BC00C767-795E-5497-1864-42E1970A580C}"/>
              </a:ext>
            </a:extLst>
          </p:cNvPr>
          <p:cNvCxnSpPr/>
          <p:nvPr/>
        </p:nvCxnSpPr>
        <p:spPr>
          <a:xfrm>
            <a:off x="533400" y="4889500"/>
            <a:ext cx="3302000" cy="0"/>
          </a:xfrm>
          <a:prstGeom prst="line">
            <a:avLst/>
          </a:prstGeom>
          <a:ln>
            <a:solidFill>
              <a:srgbClr val="1269B0"/>
            </a:solidFill>
          </a:ln>
        </p:spPr>
        <p:style>
          <a:lnRef idx="2">
            <a:schemeClr val="accent1"/>
          </a:lnRef>
          <a:fillRef idx="0">
            <a:schemeClr val="accent1"/>
          </a:fillRef>
          <a:effectRef idx="1">
            <a:schemeClr val="accent1"/>
          </a:effectRef>
          <a:fontRef idx="minor">
            <a:schemeClr val="tx1"/>
          </a:fontRef>
        </p:style>
      </p:cxnSp>
      <p:sp>
        <p:nvSpPr>
          <p:cNvPr id="24" name="CuadroTexto 23">
            <a:extLst>
              <a:ext uri="{FF2B5EF4-FFF2-40B4-BE49-F238E27FC236}">
                <a16:creationId xmlns:a16="http://schemas.microsoft.com/office/drawing/2014/main" id="{6A7F6538-3D2B-18A2-FAAF-2D9A78410848}"/>
              </a:ext>
            </a:extLst>
          </p:cNvPr>
          <p:cNvSpPr txBox="1"/>
          <p:nvPr/>
        </p:nvSpPr>
        <p:spPr>
          <a:xfrm>
            <a:off x="660400" y="5016500"/>
            <a:ext cx="3048000" cy="261610"/>
          </a:xfrm>
          <a:prstGeom prst="rect">
            <a:avLst/>
          </a:prstGeom>
          <a:noFill/>
        </p:spPr>
        <p:txBody>
          <a:bodyPr vert="horz" wrap="square" lIns="0" tIns="0" rIns="0" bIns="0" rtlCol="0">
            <a:spAutoFit/>
          </a:bodyPr>
          <a:lstStyle/>
          <a:p>
            <a:r>
              <a:rPr lang="es-ES" sz="1700">
                <a:solidFill>
                  <a:srgbClr val="203447"/>
                </a:solidFill>
                <a:latin typeface="Aptos" panose="020B0004020202020204" pitchFamily="34" charset="0"/>
              </a:rPr>
              <a:t>+ guardar()</a:t>
            </a:r>
          </a:p>
        </p:txBody>
      </p:sp>
      <p:sp>
        <p:nvSpPr>
          <p:cNvPr id="25" name="Rectángulo 24">
            <a:extLst>
              <a:ext uri="{FF2B5EF4-FFF2-40B4-BE49-F238E27FC236}">
                <a16:creationId xmlns:a16="http://schemas.microsoft.com/office/drawing/2014/main" id="{34EB8FCA-8859-95B0-A81D-B27B82B3662D}"/>
              </a:ext>
            </a:extLst>
          </p:cNvPr>
          <p:cNvSpPr/>
          <p:nvPr/>
        </p:nvSpPr>
        <p:spPr>
          <a:xfrm>
            <a:off x="8534400" y="4508500"/>
            <a:ext cx="3124200" cy="1524000"/>
          </a:xfrm>
          <a:prstGeom prst="rect">
            <a:avLst/>
          </a:prstGeom>
          <a:solidFill>
            <a:srgbClr val="EDF4FA"/>
          </a:solidFill>
          <a:ln>
            <a:solidFill>
              <a:srgbClr val="1269B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6" name="CuadroTexto 25">
            <a:extLst>
              <a:ext uri="{FF2B5EF4-FFF2-40B4-BE49-F238E27FC236}">
                <a16:creationId xmlns:a16="http://schemas.microsoft.com/office/drawing/2014/main" id="{A9EA55B0-917D-A725-1FBB-E5C939A82543}"/>
              </a:ext>
            </a:extLst>
          </p:cNvPr>
          <p:cNvSpPr txBox="1"/>
          <p:nvPr/>
        </p:nvSpPr>
        <p:spPr>
          <a:xfrm>
            <a:off x="8661400" y="4635500"/>
            <a:ext cx="2870200" cy="276999"/>
          </a:xfrm>
          <a:prstGeom prst="rect">
            <a:avLst/>
          </a:prstGeom>
          <a:noFill/>
        </p:spPr>
        <p:txBody>
          <a:bodyPr vert="horz" wrap="square" lIns="0" tIns="0" rIns="0" bIns="0" rtlCol="0">
            <a:spAutoFit/>
          </a:bodyPr>
          <a:lstStyle/>
          <a:p>
            <a:r>
              <a:rPr lang="es-ES" b="1">
                <a:solidFill>
                  <a:srgbClr val="102D4E"/>
                </a:solidFill>
                <a:latin typeface="Aptos" panose="020B0004020202020204" pitchFamily="34" charset="0"/>
              </a:rPr>
              <a:t>ItemPedido</a:t>
            </a:r>
          </a:p>
        </p:txBody>
      </p:sp>
      <p:cxnSp>
        <p:nvCxnSpPr>
          <p:cNvPr id="27" name="Conector recto 26">
            <a:extLst>
              <a:ext uri="{FF2B5EF4-FFF2-40B4-BE49-F238E27FC236}">
                <a16:creationId xmlns:a16="http://schemas.microsoft.com/office/drawing/2014/main" id="{E55BD875-11EF-5C45-C31A-47907E4B4147}"/>
              </a:ext>
            </a:extLst>
          </p:cNvPr>
          <p:cNvCxnSpPr/>
          <p:nvPr/>
        </p:nvCxnSpPr>
        <p:spPr>
          <a:xfrm>
            <a:off x="8534400" y="5016500"/>
            <a:ext cx="3124200" cy="0"/>
          </a:xfrm>
          <a:prstGeom prst="line">
            <a:avLst/>
          </a:prstGeom>
          <a:ln>
            <a:solidFill>
              <a:srgbClr val="1269B0"/>
            </a:solidFill>
          </a:ln>
        </p:spPr>
        <p:style>
          <a:lnRef idx="2">
            <a:schemeClr val="accent1"/>
          </a:lnRef>
          <a:fillRef idx="0">
            <a:schemeClr val="accent1"/>
          </a:fillRef>
          <a:effectRef idx="1">
            <a:schemeClr val="accent1"/>
          </a:effectRef>
          <a:fontRef idx="minor">
            <a:schemeClr val="tx1"/>
          </a:fontRef>
        </p:style>
      </p:cxnSp>
      <p:sp>
        <p:nvSpPr>
          <p:cNvPr id="28" name="CuadroTexto 27">
            <a:extLst>
              <a:ext uri="{FF2B5EF4-FFF2-40B4-BE49-F238E27FC236}">
                <a16:creationId xmlns:a16="http://schemas.microsoft.com/office/drawing/2014/main" id="{94319B61-85D5-A619-8376-C49274E96E93}"/>
              </a:ext>
            </a:extLst>
          </p:cNvPr>
          <p:cNvSpPr txBox="1"/>
          <p:nvPr/>
        </p:nvSpPr>
        <p:spPr>
          <a:xfrm>
            <a:off x="8661400" y="5143500"/>
            <a:ext cx="2870200" cy="523220"/>
          </a:xfrm>
          <a:prstGeom prst="rect">
            <a:avLst/>
          </a:prstGeom>
          <a:noFill/>
        </p:spPr>
        <p:txBody>
          <a:bodyPr vert="horz" wrap="square" lIns="0" tIns="0" rIns="0" bIns="0" rtlCol="0">
            <a:spAutoFit/>
          </a:bodyPr>
          <a:lstStyle/>
          <a:p>
            <a:r>
              <a:rPr lang="es-ES" sz="1700">
                <a:solidFill>
                  <a:srgbClr val="203447"/>
                </a:solidFill>
                <a:latin typeface="Aptos" panose="020B0004020202020204" pitchFamily="34" charset="0"/>
              </a:rPr>
              <a:t>cantidad y precio</a:t>
            </a:r>
          </a:p>
          <a:p>
            <a:r>
              <a:rPr lang="es-ES" sz="1700">
                <a:solidFill>
                  <a:srgbClr val="203447"/>
                </a:solidFill>
                <a:latin typeface="Aptos" panose="020B0004020202020204" pitchFamily="34" charset="0"/>
              </a:rPr>
              <a:t>+ subtotal()</a:t>
            </a:r>
          </a:p>
        </p:txBody>
      </p:sp>
      <p:cxnSp>
        <p:nvCxnSpPr>
          <p:cNvPr id="29" name="Conector recto 28">
            <a:extLst>
              <a:ext uri="{FF2B5EF4-FFF2-40B4-BE49-F238E27FC236}">
                <a16:creationId xmlns:a16="http://schemas.microsoft.com/office/drawing/2014/main" id="{82B8DFF2-3AA2-1117-060A-CC6901C9BC46}"/>
              </a:ext>
            </a:extLst>
          </p:cNvPr>
          <p:cNvCxnSpPr/>
          <p:nvPr/>
        </p:nvCxnSpPr>
        <p:spPr>
          <a:xfrm>
            <a:off x="3835400" y="2628900"/>
            <a:ext cx="635000" cy="0"/>
          </a:xfrm>
          <a:prstGeom prst="line">
            <a:avLst/>
          </a:prstGeom>
          <a:ln w="19050">
            <a:solidFill>
              <a:srgbClr val="52677A"/>
            </a:solidFill>
            <a:tailEnd type="arrow"/>
          </a:ln>
        </p:spPr>
        <p:style>
          <a:lnRef idx="2">
            <a:schemeClr val="accent1"/>
          </a:lnRef>
          <a:fillRef idx="0">
            <a:schemeClr val="accent1"/>
          </a:fillRef>
          <a:effectRef idx="1">
            <a:schemeClr val="accent1"/>
          </a:effectRef>
          <a:fontRef idx="minor">
            <a:schemeClr val="tx1"/>
          </a:fontRef>
        </p:style>
      </p:cxnSp>
      <p:cxnSp>
        <p:nvCxnSpPr>
          <p:cNvPr id="30" name="Conector recto 29">
            <a:extLst>
              <a:ext uri="{FF2B5EF4-FFF2-40B4-BE49-F238E27FC236}">
                <a16:creationId xmlns:a16="http://schemas.microsoft.com/office/drawing/2014/main" id="{6AE81E7D-4654-489E-AB0E-3B0A45AE4867}"/>
              </a:ext>
            </a:extLst>
          </p:cNvPr>
          <p:cNvCxnSpPr/>
          <p:nvPr/>
        </p:nvCxnSpPr>
        <p:spPr>
          <a:xfrm>
            <a:off x="7899400" y="2628900"/>
            <a:ext cx="635000" cy="0"/>
          </a:xfrm>
          <a:prstGeom prst="line">
            <a:avLst/>
          </a:prstGeom>
          <a:ln w="19050">
            <a:solidFill>
              <a:srgbClr val="52677A"/>
            </a:solidFill>
            <a:tailEnd type="arrow"/>
          </a:ln>
        </p:spPr>
        <p:style>
          <a:lnRef idx="2">
            <a:schemeClr val="accent1"/>
          </a:lnRef>
          <a:fillRef idx="0">
            <a:schemeClr val="accent1"/>
          </a:fillRef>
          <a:effectRef idx="1">
            <a:schemeClr val="accent1"/>
          </a:effectRef>
          <a:fontRef idx="minor">
            <a:schemeClr val="tx1"/>
          </a:fontRef>
        </p:style>
      </p:cxnSp>
      <p:cxnSp>
        <p:nvCxnSpPr>
          <p:cNvPr id="31" name="Conector recto 30">
            <a:extLst>
              <a:ext uri="{FF2B5EF4-FFF2-40B4-BE49-F238E27FC236}">
                <a16:creationId xmlns:a16="http://schemas.microsoft.com/office/drawing/2014/main" id="{B7C07796-7757-8BFA-3AB1-8524B1D6644E}"/>
              </a:ext>
            </a:extLst>
          </p:cNvPr>
          <p:cNvCxnSpPr/>
          <p:nvPr/>
        </p:nvCxnSpPr>
        <p:spPr>
          <a:xfrm>
            <a:off x="6184900" y="3302000"/>
            <a:ext cx="0" cy="1079500"/>
          </a:xfrm>
          <a:prstGeom prst="line">
            <a:avLst/>
          </a:prstGeom>
          <a:ln w="19050">
            <a:solidFill>
              <a:srgbClr val="52677A"/>
            </a:solidFill>
            <a:tailEnd type="arrow"/>
          </a:ln>
        </p:spPr>
        <p:style>
          <a:lnRef idx="2">
            <a:schemeClr val="accent1"/>
          </a:lnRef>
          <a:fillRef idx="0">
            <a:schemeClr val="accent1"/>
          </a:fillRef>
          <a:effectRef idx="1">
            <a:schemeClr val="accent1"/>
          </a:effectRef>
          <a:fontRef idx="minor">
            <a:schemeClr val="tx1"/>
          </a:fontRef>
        </p:style>
      </p:cxnSp>
      <p:cxnSp>
        <p:nvCxnSpPr>
          <p:cNvPr id="32" name="Conector recto 31">
            <a:extLst>
              <a:ext uri="{FF2B5EF4-FFF2-40B4-BE49-F238E27FC236}">
                <a16:creationId xmlns:a16="http://schemas.microsoft.com/office/drawing/2014/main" id="{EBB5478C-BBB8-4C8A-55F1-7F50AA6FC643}"/>
              </a:ext>
            </a:extLst>
          </p:cNvPr>
          <p:cNvCxnSpPr/>
          <p:nvPr/>
        </p:nvCxnSpPr>
        <p:spPr>
          <a:xfrm>
            <a:off x="3835400" y="5194300"/>
            <a:ext cx="508000" cy="0"/>
          </a:xfrm>
          <a:prstGeom prst="line">
            <a:avLst/>
          </a:prstGeom>
          <a:ln w="19050">
            <a:solidFill>
              <a:srgbClr val="52677A"/>
            </a:solidFill>
            <a:prstDash val="dash"/>
          </a:ln>
        </p:spPr>
        <p:style>
          <a:lnRef idx="2">
            <a:schemeClr val="accent1"/>
          </a:lnRef>
          <a:fillRef idx="0">
            <a:schemeClr val="accent1"/>
          </a:fillRef>
          <a:effectRef idx="1">
            <a:schemeClr val="accent1"/>
          </a:effectRef>
          <a:fontRef idx="minor">
            <a:schemeClr val="tx1"/>
          </a:fontRef>
        </p:style>
      </p:cxnSp>
      <p:sp>
        <p:nvSpPr>
          <p:cNvPr id="33" name="Triángulo isósceles 32">
            <a:extLst>
              <a:ext uri="{FF2B5EF4-FFF2-40B4-BE49-F238E27FC236}">
                <a16:creationId xmlns:a16="http://schemas.microsoft.com/office/drawing/2014/main" id="{7276DB33-64A9-63DF-BD6C-7B6B68D96427}"/>
              </a:ext>
            </a:extLst>
          </p:cNvPr>
          <p:cNvSpPr/>
          <p:nvPr/>
        </p:nvSpPr>
        <p:spPr>
          <a:xfrm rot="5400000">
            <a:off x="4330700" y="5118100"/>
            <a:ext cx="152400" cy="152400"/>
          </a:xfrm>
          <a:prstGeom prst="triangle">
            <a:avLst/>
          </a:prstGeom>
          <a:solidFill>
            <a:srgbClr val="FFFFFF"/>
          </a:solidFill>
          <a:ln>
            <a:solidFill>
              <a:srgbClr val="52677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4" name="CuadroTexto 33">
            <a:extLst>
              <a:ext uri="{FF2B5EF4-FFF2-40B4-BE49-F238E27FC236}">
                <a16:creationId xmlns:a16="http://schemas.microsoft.com/office/drawing/2014/main" id="{22B7773D-DB4C-262D-6ACC-C0565B614D41}"/>
              </a:ext>
            </a:extLst>
          </p:cNvPr>
          <p:cNvSpPr txBox="1"/>
          <p:nvPr/>
        </p:nvSpPr>
        <p:spPr>
          <a:xfrm>
            <a:off x="2971800" y="4025900"/>
            <a:ext cx="1524000" cy="215444"/>
          </a:xfrm>
          <a:prstGeom prst="rect">
            <a:avLst/>
          </a:prstGeom>
          <a:noFill/>
        </p:spPr>
        <p:txBody>
          <a:bodyPr vert="horz" wrap="square" lIns="0" tIns="0" rIns="0" bIns="0" rtlCol="0">
            <a:spAutoFit/>
          </a:bodyPr>
          <a:lstStyle/>
          <a:p>
            <a:r>
              <a:rPr lang="es-ES" sz="1400">
                <a:solidFill>
                  <a:srgbClr val="52677A"/>
                </a:solidFill>
                <a:latin typeface="Aptos" panose="020B0004020202020204" pitchFamily="34" charset="0"/>
              </a:rPr>
              <a:t>Implementa</a:t>
            </a:r>
          </a:p>
        </p:txBody>
      </p:sp>
      <p:cxnSp>
        <p:nvCxnSpPr>
          <p:cNvPr id="35" name="Conector recto 34">
            <a:extLst>
              <a:ext uri="{FF2B5EF4-FFF2-40B4-BE49-F238E27FC236}">
                <a16:creationId xmlns:a16="http://schemas.microsoft.com/office/drawing/2014/main" id="{95EEC0C7-57CE-4C17-D983-757FABCCE78E}"/>
              </a:ext>
            </a:extLst>
          </p:cNvPr>
          <p:cNvCxnSpPr/>
          <p:nvPr/>
        </p:nvCxnSpPr>
        <p:spPr>
          <a:xfrm>
            <a:off x="10096500" y="3911600"/>
            <a:ext cx="0" cy="596900"/>
          </a:xfrm>
          <a:prstGeom prst="line">
            <a:avLst/>
          </a:prstGeom>
          <a:ln w="19050">
            <a:solidFill>
              <a:srgbClr val="52677A"/>
            </a:solidFill>
            <a:headEnd type="diamond"/>
          </a:ln>
        </p:spPr>
        <p:style>
          <a:lnRef idx="2">
            <a:schemeClr val="accent1"/>
          </a:lnRef>
          <a:fillRef idx="0">
            <a:schemeClr val="accent1"/>
          </a:fillRef>
          <a:effectRef idx="1">
            <a:schemeClr val="accent1"/>
          </a:effectRef>
          <a:fontRef idx="minor">
            <a:schemeClr val="tx1"/>
          </a:fontRef>
        </p:style>
      </p:cxnSp>
      <p:sp>
        <p:nvSpPr>
          <p:cNvPr id="36" name="CuadroTexto 35">
            <a:extLst>
              <a:ext uri="{FF2B5EF4-FFF2-40B4-BE49-F238E27FC236}">
                <a16:creationId xmlns:a16="http://schemas.microsoft.com/office/drawing/2014/main" id="{0DAC47CC-D720-6472-DB80-DCB7C4F328B7}"/>
              </a:ext>
            </a:extLst>
          </p:cNvPr>
          <p:cNvSpPr txBox="1"/>
          <p:nvPr/>
        </p:nvSpPr>
        <p:spPr>
          <a:xfrm>
            <a:off x="10261600" y="4064000"/>
            <a:ext cx="1397000" cy="215444"/>
          </a:xfrm>
          <a:prstGeom prst="rect">
            <a:avLst/>
          </a:prstGeom>
          <a:noFill/>
        </p:spPr>
        <p:txBody>
          <a:bodyPr vert="horz" wrap="square" lIns="0" tIns="0" rIns="0" bIns="0" rtlCol="0">
            <a:spAutoFit/>
          </a:bodyPr>
          <a:lstStyle/>
          <a:p>
            <a:r>
              <a:rPr lang="es-ES" sz="1400">
                <a:solidFill>
                  <a:srgbClr val="52677A"/>
                </a:solidFill>
                <a:latin typeface="Aptos" panose="020B0004020202020204" pitchFamily="34" charset="0"/>
              </a:rPr>
              <a:t>Contiene 1..*</a:t>
            </a:r>
          </a:p>
        </p:txBody>
      </p:sp>
    </p:spTree>
    <p:extLst>
      <p:ext uri="{BB962C8B-B14F-4D97-AF65-F5344CB8AC3E}">
        <p14:creationId xmlns:p14="http://schemas.microsoft.com/office/powerpoint/2010/main" val="22404516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1726A439-4D1A-C40F-3E3D-EF75481B86CD}"/>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Diseño de datos del flujo principal</a:t>
            </a:r>
          </a:p>
        </p:txBody>
      </p:sp>
      <p:sp>
        <p:nvSpPr>
          <p:cNvPr id="3" name="CuadroTexto 2">
            <a:extLst>
              <a:ext uri="{FF2B5EF4-FFF2-40B4-BE49-F238E27FC236}">
                <a16:creationId xmlns:a16="http://schemas.microsoft.com/office/drawing/2014/main" id="{4645BE23-4199-4AA7-3543-5A1D780A7743}"/>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8B954DD6-C424-A424-EF3C-1141D9752A2B}"/>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12</a:t>
            </a:r>
          </a:p>
        </p:txBody>
      </p:sp>
      <p:graphicFrame>
        <p:nvGraphicFramePr>
          <p:cNvPr id="5" name="Tabla 4">
            <a:extLst>
              <a:ext uri="{FF2B5EF4-FFF2-40B4-BE49-F238E27FC236}">
                <a16:creationId xmlns:a16="http://schemas.microsoft.com/office/drawing/2014/main" id="{8207FBC8-2F3B-DE74-1AEB-3F13255D88CF}"/>
              </a:ext>
            </a:extLst>
          </p:cNvPr>
          <p:cNvGraphicFramePr>
            <a:graphicFrameLocks noGrp="1"/>
          </p:cNvGraphicFramePr>
          <p:nvPr>
            <p:extLst>
              <p:ext uri="{D42A27DB-BD31-4B8C-83A1-F6EECF244321}">
                <p14:modId xmlns:p14="http://schemas.microsoft.com/office/powerpoint/2010/main" val="1479710968"/>
              </p:ext>
            </p:extLst>
          </p:nvPr>
        </p:nvGraphicFramePr>
        <p:xfrm>
          <a:off x="533400" y="1435100"/>
          <a:ext cx="11125200" cy="4356100"/>
        </p:xfrm>
        <a:graphic>
          <a:graphicData uri="http://schemas.openxmlformats.org/drawingml/2006/table">
            <a:tbl>
              <a:tblPr firstRow="1" bandRow="1">
                <a:tableStyleId>{5C22544A-7EE6-4342-B048-85BDC9FD1C3A}</a:tableStyleId>
              </a:tblPr>
              <a:tblGrid>
                <a:gridCol w="3683000">
                  <a:extLst>
                    <a:ext uri="{9D8B030D-6E8A-4147-A177-3AD203B41FA5}">
                      <a16:colId xmlns:a16="http://schemas.microsoft.com/office/drawing/2014/main" val="3349038752"/>
                    </a:ext>
                  </a:extLst>
                </a:gridCol>
                <a:gridCol w="7442200">
                  <a:extLst>
                    <a:ext uri="{9D8B030D-6E8A-4147-A177-3AD203B41FA5}">
                      <a16:colId xmlns:a16="http://schemas.microsoft.com/office/drawing/2014/main" val="2039435625"/>
                    </a:ext>
                  </a:extLst>
                </a:gridCol>
              </a:tblGrid>
              <a:tr h="726017">
                <a:tc>
                  <a:txBody>
                    <a:bodyPr/>
                    <a:lstStyle/>
                    <a:p>
                      <a:r>
                        <a:rPr lang="es-ES" sz="2000" b="1">
                          <a:solidFill>
                            <a:srgbClr val="FFFFFF"/>
                          </a:solidFill>
                          <a:latin typeface="Aptos" panose="020B0004020202020204" pitchFamily="34" charset="0"/>
                        </a:rPr>
                        <a:t>Grupo de datos</a:t>
                      </a:r>
                    </a:p>
                  </a:txBody>
                  <a:tcPr marL="152400" marR="127000" marT="127000" marB="101600">
                    <a:solidFill>
                      <a:srgbClr val="102D4E"/>
                    </a:solidFill>
                  </a:tcPr>
                </a:tc>
                <a:tc>
                  <a:txBody>
                    <a:bodyPr/>
                    <a:lstStyle/>
                    <a:p>
                      <a:r>
                        <a:rPr lang="es-ES" sz="2000" b="1">
                          <a:solidFill>
                            <a:srgbClr val="FFFFFF"/>
                          </a:solidFill>
                          <a:latin typeface="Aptos" panose="020B0004020202020204" pitchFamily="34" charset="0"/>
                        </a:rPr>
                        <a:t>Relaciones principales</a:t>
                      </a:r>
                    </a:p>
                  </a:txBody>
                  <a:tcPr marL="152400" marR="127000" marT="127000" marB="101600">
                    <a:solidFill>
                      <a:srgbClr val="102D4E"/>
                    </a:solidFill>
                  </a:tcPr>
                </a:tc>
                <a:extLst>
                  <a:ext uri="{0D108BD9-81ED-4DB2-BD59-A6C34878D82A}">
                    <a16:rowId xmlns:a16="http://schemas.microsoft.com/office/drawing/2014/main" val="1035683017"/>
                  </a:ext>
                </a:extLst>
              </a:tr>
              <a:tr h="726017">
                <a:tc>
                  <a:txBody>
                    <a:bodyPr/>
                    <a:lstStyle/>
                    <a:p>
                      <a:r>
                        <a:rPr lang="es-ES" sz="2000" b="0">
                          <a:solidFill>
                            <a:srgbClr val="203447"/>
                          </a:solidFill>
                          <a:latin typeface="Aptos" panose="020B0004020202020204" pitchFamily="34" charset="0"/>
                        </a:rPr>
                        <a:t>Empresas y usuarios</a:t>
                      </a:r>
                    </a:p>
                  </a:txBody>
                  <a:tcPr marL="152400" marR="127000" marT="127000" marB="101600">
                    <a:solidFill>
                      <a:srgbClr val="EDF4FA"/>
                    </a:solidFill>
                  </a:tcPr>
                </a:tc>
                <a:tc>
                  <a:txBody>
                    <a:bodyPr/>
                    <a:lstStyle/>
                    <a:p>
                      <a:r>
                        <a:rPr lang="es-ES" sz="2000" b="0">
                          <a:solidFill>
                            <a:srgbClr val="203447"/>
                          </a:solidFill>
                          <a:latin typeface="Aptos" panose="020B0004020202020204" pitchFamily="34" charset="0"/>
                        </a:rPr>
                        <a:t>Una empresa agrupa usuarios con roles y permisos.</a:t>
                      </a:r>
                    </a:p>
                  </a:txBody>
                  <a:tcPr marL="152400" marR="127000" marT="127000" marB="101600">
                    <a:solidFill>
                      <a:srgbClr val="EDF4FA"/>
                    </a:solidFill>
                  </a:tcPr>
                </a:tc>
                <a:extLst>
                  <a:ext uri="{0D108BD9-81ED-4DB2-BD59-A6C34878D82A}">
                    <a16:rowId xmlns:a16="http://schemas.microsoft.com/office/drawing/2014/main" val="2501141974"/>
                  </a:ext>
                </a:extLst>
              </a:tr>
              <a:tr h="726017">
                <a:tc>
                  <a:txBody>
                    <a:bodyPr/>
                    <a:lstStyle/>
                    <a:p>
                      <a:r>
                        <a:rPr lang="es-ES" sz="2000" b="0">
                          <a:solidFill>
                            <a:srgbClr val="203447"/>
                          </a:solidFill>
                          <a:latin typeface="Aptos" panose="020B0004020202020204" pitchFamily="34" charset="0"/>
                        </a:rPr>
                        <a:t>Proveedores y productos</a:t>
                      </a:r>
                    </a:p>
                  </a:txBody>
                  <a:tcPr marL="152400" marR="127000" marT="127000" marB="101600">
                    <a:solidFill>
                      <a:srgbClr val="FFFFFF"/>
                    </a:solidFill>
                  </a:tcPr>
                </a:tc>
                <a:tc>
                  <a:txBody>
                    <a:bodyPr/>
                    <a:lstStyle/>
                    <a:p>
                      <a:r>
                        <a:rPr lang="es-ES" sz="2000" b="0">
                          <a:solidFill>
                            <a:srgbClr val="203447"/>
                          </a:solidFill>
                          <a:latin typeface="Aptos" panose="020B0004020202020204" pitchFamily="34" charset="0"/>
                        </a:rPr>
                        <a:t>Un proveedor publica varios productos y precios por volumen.</a:t>
                      </a:r>
                    </a:p>
                  </a:txBody>
                  <a:tcPr marL="152400" marR="127000" marT="127000" marB="101600">
                    <a:solidFill>
                      <a:srgbClr val="FFFFFF"/>
                    </a:solidFill>
                  </a:tcPr>
                </a:tc>
                <a:extLst>
                  <a:ext uri="{0D108BD9-81ED-4DB2-BD59-A6C34878D82A}">
                    <a16:rowId xmlns:a16="http://schemas.microsoft.com/office/drawing/2014/main" val="2635670138"/>
                  </a:ext>
                </a:extLst>
              </a:tr>
              <a:tr h="726017">
                <a:tc>
                  <a:txBody>
                    <a:bodyPr/>
                    <a:lstStyle/>
                    <a:p>
                      <a:r>
                        <a:rPr lang="es-ES" sz="2000" b="0">
                          <a:solidFill>
                            <a:srgbClr val="203447"/>
                          </a:solidFill>
                          <a:latin typeface="Aptos" panose="020B0004020202020204" pitchFamily="34" charset="0"/>
                        </a:rPr>
                        <a:t>Cotizaciones y respuestas</a:t>
                      </a:r>
                    </a:p>
                  </a:txBody>
                  <a:tcPr marL="152400" marR="127000" marT="127000" marB="101600">
                    <a:solidFill>
                      <a:srgbClr val="EDF4FA"/>
                    </a:solidFill>
                  </a:tcPr>
                </a:tc>
                <a:tc>
                  <a:txBody>
                    <a:bodyPr/>
                    <a:lstStyle/>
                    <a:p>
                      <a:r>
                        <a:rPr lang="es-ES" sz="2000" b="0">
                          <a:solidFill>
                            <a:srgbClr val="203447"/>
                          </a:solidFill>
                          <a:latin typeface="Aptos" panose="020B0004020202020204" pitchFamily="34" charset="0"/>
                        </a:rPr>
                        <a:t>La oferta aceptada define condiciones y precios del pedido.</a:t>
                      </a:r>
                    </a:p>
                  </a:txBody>
                  <a:tcPr marL="152400" marR="127000" marT="127000" marB="101600">
                    <a:solidFill>
                      <a:srgbClr val="EDF4FA"/>
                    </a:solidFill>
                  </a:tcPr>
                </a:tc>
                <a:extLst>
                  <a:ext uri="{0D108BD9-81ED-4DB2-BD59-A6C34878D82A}">
                    <a16:rowId xmlns:a16="http://schemas.microsoft.com/office/drawing/2014/main" val="3370515306"/>
                  </a:ext>
                </a:extLst>
              </a:tr>
              <a:tr h="726017">
                <a:tc>
                  <a:txBody>
                    <a:bodyPr/>
                    <a:lstStyle/>
                    <a:p>
                      <a:r>
                        <a:rPr lang="es-ES" sz="2000" b="0">
                          <a:solidFill>
                            <a:srgbClr val="203447"/>
                          </a:solidFill>
                          <a:latin typeface="Aptos" panose="020B0004020202020204" pitchFamily="34" charset="0"/>
                        </a:rPr>
                        <a:t>Pedidos e ítems</a:t>
                      </a:r>
                    </a:p>
                  </a:txBody>
                  <a:tcPr marL="152400" marR="127000" marT="127000" marB="101600">
                    <a:solidFill>
                      <a:srgbClr val="FFFFFF"/>
                    </a:solidFill>
                  </a:tcPr>
                </a:tc>
                <a:tc>
                  <a:txBody>
                    <a:bodyPr/>
                    <a:lstStyle/>
                    <a:p>
                      <a:r>
                        <a:rPr lang="es-ES" sz="2000" b="0">
                          <a:solidFill>
                            <a:srgbClr val="203447"/>
                          </a:solidFill>
                          <a:latin typeface="Aptos" panose="020B0004020202020204" pitchFamily="34" charset="0"/>
                        </a:rPr>
                        <a:t>Un pedido conserva sus productos, cantidades y precios.</a:t>
                      </a:r>
                    </a:p>
                  </a:txBody>
                  <a:tcPr marL="152400" marR="127000" marT="127000" marB="101600">
                    <a:solidFill>
                      <a:srgbClr val="FFFFFF"/>
                    </a:solidFill>
                  </a:tcPr>
                </a:tc>
                <a:extLst>
                  <a:ext uri="{0D108BD9-81ED-4DB2-BD59-A6C34878D82A}">
                    <a16:rowId xmlns:a16="http://schemas.microsoft.com/office/drawing/2014/main" val="1549322756"/>
                  </a:ext>
                </a:extLst>
              </a:tr>
              <a:tr h="726017">
                <a:tc>
                  <a:txBody>
                    <a:bodyPr/>
                    <a:lstStyle/>
                    <a:p>
                      <a:r>
                        <a:rPr lang="es-ES" sz="2000" b="0">
                          <a:solidFill>
                            <a:srgbClr val="203447"/>
                          </a:solidFill>
                          <a:latin typeface="Aptos" panose="020B0004020202020204" pitchFamily="34" charset="0"/>
                        </a:rPr>
                        <a:t>Reservas de stock</a:t>
                      </a:r>
                    </a:p>
                  </a:txBody>
                  <a:tcPr marL="152400" marR="127000" marT="127000" marB="101600">
                    <a:solidFill>
                      <a:srgbClr val="EDF4FA"/>
                    </a:solidFill>
                  </a:tcPr>
                </a:tc>
                <a:tc>
                  <a:txBody>
                    <a:bodyPr/>
                    <a:lstStyle/>
                    <a:p>
                      <a:r>
                        <a:rPr lang="es-ES" sz="2000" b="0">
                          <a:solidFill>
                            <a:srgbClr val="203447"/>
                          </a:solidFill>
                          <a:latin typeface="Aptos" panose="020B0004020202020204" pitchFamily="34" charset="0"/>
                        </a:rPr>
                        <a:t>Cada reserva relaciona un pedido con un producto.</a:t>
                      </a:r>
                    </a:p>
                  </a:txBody>
                  <a:tcPr marL="152400" marR="127000" marT="127000" marB="101600">
                    <a:solidFill>
                      <a:srgbClr val="EDF4FA"/>
                    </a:solidFill>
                  </a:tcPr>
                </a:tc>
                <a:extLst>
                  <a:ext uri="{0D108BD9-81ED-4DB2-BD59-A6C34878D82A}">
                    <a16:rowId xmlns:a16="http://schemas.microsoft.com/office/drawing/2014/main" val="2637568172"/>
                  </a:ext>
                </a:extLst>
              </a:tr>
            </a:tbl>
          </a:graphicData>
        </a:graphic>
      </p:graphicFrame>
      <p:sp>
        <p:nvSpPr>
          <p:cNvPr id="6" name="CuadroTexto 5">
            <a:extLst>
              <a:ext uri="{FF2B5EF4-FFF2-40B4-BE49-F238E27FC236}">
                <a16:creationId xmlns:a16="http://schemas.microsoft.com/office/drawing/2014/main" id="{CE1C625A-A7DC-92CE-D7DC-8B63443AA34C}"/>
              </a:ext>
            </a:extLst>
          </p:cNvPr>
          <p:cNvSpPr txBox="1"/>
          <p:nvPr/>
        </p:nvSpPr>
        <p:spPr>
          <a:xfrm>
            <a:off x="533400" y="5994400"/>
            <a:ext cx="11125200" cy="276999"/>
          </a:xfrm>
          <a:prstGeom prst="rect">
            <a:avLst/>
          </a:prstGeom>
          <a:noFill/>
        </p:spPr>
        <p:txBody>
          <a:bodyPr vert="horz" wrap="square" lIns="0" tIns="0" rIns="0" bIns="0" rtlCol="0">
            <a:spAutoFit/>
          </a:bodyPr>
          <a:lstStyle/>
          <a:p>
            <a:r>
              <a:rPr lang="es-ES">
                <a:solidFill>
                  <a:srgbClr val="52677A"/>
                </a:solidFill>
                <a:latin typeface="Aptos" panose="020B0004020202020204" pitchFamily="34" charset="0"/>
              </a:rPr>
              <a:t>PostgreSQL: relaciones, restricciones y transacciones para proteger la integridad</a:t>
            </a:r>
          </a:p>
        </p:txBody>
      </p:sp>
    </p:spTree>
    <p:extLst>
      <p:ext uri="{BB962C8B-B14F-4D97-AF65-F5344CB8AC3E}">
        <p14:creationId xmlns:p14="http://schemas.microsoft.com/office/powerpoint/2010/main" val="27162397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A212818A-3FD7-2ACA-B23E-46C5061DBB6A}"/>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Creación de pedido y reserva de stock</a:t>
            </a:r>
          </a:p>
        </p:txBody>
      </p:sp>
      <p:sp>
        <p:nvSpPr>
          <p:cNvPr id="3" name="CuadroTexto 2">
            <a:extLst>
              <a:ext uri="{FF2B5EF4-FFF2-40B4-BE49-F238E27FC236}">
                <a16:creationId xmlns:a16="http://schemas.microsoft.com/office/drawing/2014/main" id="{8588A3F9-1631-54B9-4F82-8A876210D4A8}"/>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2A0B278A-3D01-F454-5618-4E666DB4FC55}"/>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13</a:t>
            </a:r>
          </a:p>
        </p:txBody>
      </p:sp>
      <p:graphicFrame>
        <p:nvGraphicFramePr>
          <p:cNvPr id="5" name="Tabla 4">
            <a:extLst>
              <a:ext uri="{FF2B5EF4-FFF2-40B4-BE49-F238E27FC236}">
                <a16:creationId xmlns:a16="http://schemas.microsoft.com/office/drawing/2014/main" id="{06F849AB-6589-F02B-0336-694528833316}"/>
              </a:ext>
            </a:extLst>
          </p:cNvPr>
          <p:cNvGraphicFramePr>
            <a:graphicFrameLocks noGrp="1"/>
          </p:cNvGraphicFramePr>
          <p:nvPr>
            <p:extLst>
              <p:ext uri="{D42A27DB-BD31-4B8C-83A1-F6EECF244321}">
                <p14:modId xmlns:p14="http://schemas.microsoft.com/office/powerpoint/2010/main" val="104668286"/>
              </p:ext>
            </p:extLst>
          </p:nvPr>
        </p:nvGraphicFramePr>
        <p:xfrm>
          <a:off x="533400" y="1498600"/>
          <a:ext cx="11125200" cy="3619500"/>
        </p:xfrm>
        <a:graphic>
          <a:graphicData uri="http://schemas.openxmlformats.org/drawingml/2006/table">
            <a:tbl>
              <a:tblPr firstRow="1" bandRow="1">
                <a:tableStyleId>{5C22544A-7EE6-4342-B048-85BDC9FD1C3A}</a:tableStyleId>
              </a:tblPr>
              <a:tblGrid>
                <a:gridCol w="3111500">
                  <a:extLst>
                    <a:ext uri="{9D8B030D-6E8A-4147-A177-3AD203B41FA5}">
                      <a16:colId xmlns:a16="http://schemas.microsoft.com/office/drawing/2014/main" val="785339266"/>
                    </a:ext>
                  </a:extLst>
                </a:gridCol>
                <a:gridCol w="8013700">
                  <a:extLst>
                    <a:ext uri="{9D8B030D-6E8A-4147-A177-3AD203B41FA5}">
                      <a16:colId xmlns:a16="http://schemas.microsoft.com/office/drawing/2014/main" val="2180999251"/>
                    </a:ext>
                  </a:extLst>
                </a:gridCol>
              </a:tblGrid>
              <a:tr h="723900">
                <a:tc>
                  <a:txBody>
                    <a:bodyPr/>
                    <a:lstStyle/>
                    <a:p>
                      <a:r>
                        <a:rPr lang="es-ES" sz="2100" b="1">
                          <a:solidFill>
                            <a:srgbClr val="FFFFFF"/>
                          </a:solidFill>
                          <a:latin typeface="Aptos" panose="020B0004020202020204" pitchFamily="34" charset="0"/>
                        </a:rPr>
                        <a:t>Paso</a:t>
                      </a:r>
                    </a:p>
                  </a:txBody>
                  <a:tcPr marL="152400" marR="127000" marT="127000" marB="101600">
                    <a:solidFill>
                      <a:srgbClr val="102D4E"/>
                    </a:solidFill>
                  </a:tcPr>
                </a:tc>
                <a:tc>
                  <a:txBody>
                    <a:bodyPr/>
                    <a:lstStyle/>
                    <a:p>
                      <a:r>
                        <a:rPr lang="es-ES" sz="2100" b="1">
                          <a:solidFill>
                            <a:srgbClr val="FFFFFF"/>
                          </a:solidFill>
                          <a:latin typeface="Aptos" panose="020B0004020202020204" pitchFamily="34" charset="0"/>
                        </a:rPr>
                        <a:t>Responsabilidad</a:t>
                      </a:r>
                    </a:p>
                  </a:txBody>
                  <a:tcPr marL="152400" marR="127000" marT="127000" marB="101600">
                    <a:solidFill>
                      <a:srgbClr val="102D4E"/>
                    </a:solidFill>
                  </a:tcPr>
                </a:tc>
                <a:extLst>
                  <a:ext uri="{0D108BD9-81ED-4DB2-BD59-A6C34878D82A}">
                    <a16:rowId xmlns:a16="http://schemas.microsoft.com/office/drawing/2014/main" val="1756332101"/>
                  </a:ext>
                </a:extLst>
              </a:tr>
              <a:tr h="723900">
                <a:tc>
                  <a:txBody>
                    <a:bodyPr/>
                    <a:lstStyle/>
                    <a:p>
                      <a:r>
                        <a:rPr lang="es-ES" sz="2100" b="0">
                          <a:solidFill>
                            <a:srgbClr val="203447"/>
                          </a:solidFill>
                          <a:latin typeface="Aptos" panose="020B0004020202020204" pitchFamily="34" charset="0"/>
                        </a:rPr>
                        <a:t>1. Autorizar</a:t>
                      </a:r>
                    </a:p>
                  </a:txBody>
                  <a:tcPr marL="152400" marR="127000" marT="127000" marB="101600">
                    <a:solidFill>
                      <a:srgbClr val="EDF4FA"/>
                    </a:solidFill>
                  </a:tcPr>
                </a:tc>
                <a:tc>
                  <a:txBody>
                    <a:bodyPr/>
                    <a:lstStyle/>
                    <a:p>
                      <a:r>
                        <a:rPr lang="es-ES" sz="2100" b="0">
                          <a:solidFill>
                            <a:srgbClr val="203447"/>
                          </a:solidFill>
                          <a:latin typeface="Aptos" panose="020B0004020202020204" pitchFamily="34" charset="0"/>
                        </a:rPr>
                        <a:t>Validar comprador y oferta aceptada vigente.</a:t>
                      </a:r>
                    </a:p>
                  </a:txBody>
                  <a:tcPr marL="152400" marR="127000" marT="127000" marB="101600">
                    <a:solidFill>
                      <a:srgbClr val="EDF4FA"/>
                    </a:solidFill>
                  </a:tcPr>
                </a:tc>
                <a:extLst>
                  <a:ext uri="{0D108BD9-81ED-4DB2-BD59-A6C34878D82A}">
                    <a16:rowId xmlns:a16="http://schemas.microsoft.com/office/drawing/2014/main" val="2330266803"/>
                  </a:ext>
                </a:extLst>
              </a:tr>
              <a:tr h="723900">
                <a:tc>
                  <a:txBody>
                    <a:bodyPr/>
                    <a:lstStyle/>
                    <a:p>
                      <a:r>
                        <a:rPr lang="es-ES" sz="2100" b="0">
                          <a:solidFill>
                            <a:srgbClr val="203447"/>
                          </a:solidFill>
                          <a:latin typeface="Aptos" panose="020B0004020202020204" pitchFamily="34" charset="0"/>
                        </a:rPr>
                        <a:t>2. Iniciar transacción</a:t>
                      </a:r>
                    </a:p>
                  </a:txBody>
                  <a:tcPr marL="152400" marR="127000" marT="127000" marB="101600">
                    <a:solidFill>
                      <a:srgbClr val="FFFFFF"/>
                    </a:solidFill>
                  </a:tcPr>
                </a:tc>
                <a:tc>
                  <a:txBody>
                    <a:bodyPr/>
                    <a:lstStyle/>
                    <a:p>
                      <a:r>
                        <a:rPr lang="es-ES" sz="2100" b="0">
                          <a:solidFill>
                            <a:srgbClr val="203447"/>
                          </a:solidFill>
                          <a:latin typeface="Aptos" panose="020B0004020202020204" pitchFamily="34" charset="0"/>
                        </a:rPr>
                        <a:t>Revalidar condiciones y bloquear los productos.</a:t>
                      </a:r>
                    </a:p>
                  </a:txBody>
                  <a:tcPr marL="152400" marR="127000" marT="127000" marB="101600">
                    <a:solidFill>
                      <a:srgbClr val="FFFFFF"/>
                    </a:solidFill>
                  </a:tcPr>
                </a:tc>
                <a:extLst>
                  <a:ext uri="{0D108BD9-81ED-4DB2-BD59-A6C34878D82A}">
                    <a16:rowId xmlns:a16="http://schemas.microsoft.com/office/drawing/2014/main" val="2947615340"/>
                  </a:ext>
                </a:extLst>
              </a:tr>
              <a:tr h="723900">
                <a:tc>
                  <a:txBody>
                    <a:bodyPr/>
                    <a:lstStyle/>
                    <a:p>
                      <a:r>
                        <a:rPr lang="es-ES" sz="2100" b="0">
                          <a:solidFill>
                            <a:srgbClr val="203447"/>
                          </a:solidFill>
                          <a:latin typeface="Aptos" panose="020B0004020202020204" pitchFamily="34" charset="0"/>
                        </a:rPr>
                        <a:t>3. Guardar</a:t>
                      </a:r>
                    </a:p>
                  </a:txBody>
                  <a:tcPr marL="152400" marR="127000" marT="127000" marB="101600">
                    <a:solidFill>
                      <a:srgbClr val="EDF4FA"/>
                    </a:solidFill>
                  </a:tcPr>
                </a:tc>
                <a:tc>
                  <a:txBody>
                    <a:bodyPr/>
                    <a:lstStyle/>
                    <a:p>
                      <a:r>
                        <a:rPr lang="es-ES" sz="2100" b="0">
                          <a:solidFill>
                            <a:srgbClr val="203447"/>
                          </a:solidFill>
                          <a:latin typeface="Aptos" panose="020B0004020202020204" pitchFamily="34" charset="0"/>
                        </a:rPr>
                        <a:t>Crear pedido, ítems, reserva y descontar stock disponible.</a:t>
                      </a:r>
                    </a:p>
                  </a:txBody>
                  <a:tcPr marL="152400" marR="127000" marT="127000" marB="101600">
                    <a:solidFill>
                      <a:srgbClr val="EDF4FA"/>
                    </a:solidFill>
                  </a:tcPr>
                </a:tc>
                <a:extLst>
                  <a:ext uri="{0D108BD9-81ED-4DB2-BD59-A6C34878D82A}">
                    <a16:rowId xmlns:a16="http://schemas.microsoft.com/office/drawing/2014/main" val="2717051107"/>
                  </a:ext>
                </a:extLst>
              </a:tr>
              <a:tr h="723900">
                <a:tc>
                  <a:txBody>
                    <a:bodyPr/>
                    <a:lstStyle/>
                    <a:p>
                      <a:r>
                        <a:rPr lang="es-ES" sz="2100" b="0">
                          <a:solidFill>
                            <a:srgbClr val="203447"/>
                          </a:solidFill>
                          <a:latin typeface="Aptos" panose="020B0004020202020204" pitchFamily="34" charset="0"/>
                        </a:rPr>
                        <a:t>4. Confirmar o revertir</a:t>
                      </a:r>
                    </a:p>
                  </a:txBody>
                  <a:tcPr marL="152400" marR="127000" marT="127000" marB="101600">
                    <a:solidFill>
                      <a:srgbClr val="FFFFFF"/>
                    </a:solidFill>
                  </a:tcPr>
                </a:tc>
                <a:tc>
                  <a:txBody>
                    <a:bodyPr/>
                    <a:lstStyle/>
                    <a:p>
                      <a:r>
                        <a:rPr lang="es-ES" sz="2100" b="0">
                          <a:solidFill>
                            <a:srgbClr val="203447"/>
                          </a:solidFill>
                          <a:latin typeface="Aptos" panose="020B0004020202020204" pitchFamily="34" charset="0"/>
                        </a:rPr>
                        <a:t>COMMIT completo o ROLLBACK ante fallo.</a:t>
                      </a:r>
                    </a:p>
                  </a:txBody>
                  <a:tcPr marL="152400" marR="127000" marT="127000" marB="101600">
                    <a:solidFill>
                      <a:srgbClr val="FFFFFF"/>
                    </a:solidFill>
                  </a:tcPr>
                </a:tc>
                <a:extLst>
                  <a:ext uri="{0D108BD9-81ED-4DB2-BD59-A6C34878D82A}">
                    <a16:rowId xmlns:a16="http://schemas.microsoft.com/office/drawing/2014/main" val="2030583198"/>
                  </a:ext>
                </a:extLst>
              </a:tr>
            </a:tbl>
          </a:graphicData>
        </a:graphic>
      </p:graphicFrame>
      <p:sp>
        <p:nvSpPr>
          <p:cNvPr id="6" name="CuadroTexto 5">
            <a:extLst>
              <a:ext uri="{FF2B5EF4-FFF2-40B4-BE49-F238E27FC236}">
                <a16:creationId xmlns:a16="http://schemas.microsoft.com/office/drawing/2014/main" id="{070FB1DC-33A2-8254-AD65-DB779D810944}"/>
              </a:ext>
            </a:extLst>
          </p:cNvPr>
          <p:cNvSpPr txBox="1"/>
          <p:nvPr/>
        </p:nvSpPr>
        <p:spPr>
          <a:xfrm>
            <a:off x="533400" y="5562600"/>
            <a:ext cx="11125200" cy="369332"/>
          </a:xfrm>
          <a:prstGeom prst="rect">
            <a:avLst/>
          </a:prstGeom>
          <a:noFill/>
        </p:spPr>
        <p:txBody>
          <a:bodyPr vert="horz" wrap="square" lIns="0" tIns="0" rIns="0" bIns="0" rtlCol="0">
            <a:spAutoFit/>
          </a:bodyPr>
          <a:lstStyle/>
          <a:p>
            <a:r>
              <a:rPr lang="es-ES" sz="2400" b="1">
                <a:solidFill>
                  <a:srgbClr val="1269B0"/>
                </a:solidFill>
                <a:latin typeface="Aptos" panose="020B0004020202020204" pitchFamily="34" charset="0"/>
              </a:rPr>
              <a:t>La llamada a la pasarela ocurre después de guardar el pedido</a:t>
            </a:r>
          </a:p>
        </p:txBody>
      </p:sp>
    </p:spTree>
    <p:extLst>
      <p:ext uri="{BB962C8B-B14F-4D97-AF65-F5344CB8AC3E}">
        <p14:creationId xmlns:p14="http://schemas.microsoft.com/office/powerpoint/2010/main" val="1844851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E9308E53-AB71-E198-275F-5A93050618C3}"/>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Atributos de calidad prioritarios</a:t>
            </a:r>
          </a:p>
        </p:txBody>
      </p:sp>
      <p:sp>
        <p:nvSpPr>
          <p:cNvPr id="3" name="CuadroTexto 2">
            <a:extLst>
              <a:ext uri="{FF2B5EF4-FFF2-40B4-BE49-F238E27FC236}">
                <a16:creationId xmlns:a16="http://schemas.microsoft.com/office/drawing/2014/main" id="{ED8E9A77-2813-0C7A-52C6-1707FDA03C46}"/>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6AB6A026-10AD-9A31-4568-48EFAA6CF1AE}"/>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14</a:t>
            </a:r>
          </a:p>
        </p:txBody>
      </p:sp>
      <p:graphicFrame>
        <p:nvGraphicFramePr>
          <p:cNvPr id="5" name="Tabla 4">
            <a:extLst>
              <a:ext uri="{FF2B5EF4-FFF2-40B4-BE49-F238E27FC236}">
                <a16:creationId xmlns:a16="http://schemas.microsoft.com/office/drawing/2014/main" id="{3D006DA3-BD13-68F9-42E2-2E2CFEFE14D8}"/>
              </a:ext>
            </a:extLst>
          </p:cNvPr>
          <p:cNvGraphicFramePr>
            <a:graphicFrameLocks noGrp="1"/>
          </p:cNvGraphicFramePr>
          <p:nvPr>
            <p:extLst>
              <p:ext uri="{D42A27DB-BD31-4B8C-83A1-F6EECF244321}">
                <p14:modId xmlns:p14="http://schemas.microsoft.com/office/powerpoint/2010/main" val="3980655466"/>
              </p:ext>
            </p:extLst>
          </p:nvPr>
        </p:nvGraphicFramePr>
        <p:xfrm>
          <a:off x="533400" y="1409700"/>
          <a:ext cx="11125200" cy="4343400"/>
        </p:xfrm>
        <a:graphic>
          <a:graphicData uri="http://schemas.openxmlformats.org/drawingml/2006/table">
            <a:tbl>
              <a:tblPr firstRow="1" bandRow="1">
                <a:tableStyleId>{5C22544A-7EE6-4342-B048-85BDC9FD1C3A}</a:tableStyleId>
              </a:tblPr>
              <a:tblGrid>
                <a:gridCol w="2489200">
                  <a:extLst>
                    <a:ext uri="{9D8B030D-6E8A-4147-A177-3AD203B41FA5}">
                      <a16:colId xmlns:a16="http://schemas.microsoft.com/office/drawing/2014/main" val="705642138"/>
                    </a:ext>
                  </a:extLst>
                </a:gridCol>
                <a:gridCol w="5651500">
                  <a:extLst>
                    <a:ext uri="{9D8B030D-6E8A-4147-A177-3AD203B41FA5}">
                      <a16:colId xmlns:a16="http://schemas.microsoft.com/office/drawing/2014/main" val="2311094815"/>
                    </a:ext>
                  </a:extLst>
                </a:gridCol>
                <a:gridCol w="2984500">
                  <a:extLst>
                    <a:ext uri="{9D8B030D-6E8A-4147-A177-3AD203B41FA5}">
                      <a16:colId xmlns:a16="http://schemas.microsoft.com/office/drawing/2014/main" val="3487159060"/>
                    </a:ext>
                  </a:extLst>
                </a:gridCol>
              </a:tblGrid>
              <a:tr h="723900">
                <a:tc>
                  <a:txBody>
                    <a:bodyPr/>
                    <a:lstStyle/>
                    <a:p>
                      <a:r>
                        <a:rPr lang="es-ES" sz="1900" b="1">
                          <a:solidFill>
                            <a:srgbClr val="FFFFFF"/>
                          </a:solidFill>
                          <a:latin typeface="Aptos" panose="020B0004020202020204" pitchFamily="34" charset="0"/>
                        </a:rPr>
                        <a:t>Atributo</a:t>
                      </a:r>
                    </a:p>
                  </a:txBody>
                  <a:tcPr marL="152400" marR="127000" marT="127000" marB="101600">
                    <a:solidFill>
                      <a:srgbClr val="102D4E"/>
                    </a:solidFill>
                  </a:tcPr>
                </a:tc>
                <a:tc>
                  <a:txBody>
                    <a:bodyPr/>
                    <a:lstStyle/>
                    <a:p>
                      <a:r>
                        <a:rPr lang="es-ES" sz="1900" b="1">
                          <a:solidFill>
                            <a:srgbClr val="FFFFFF"/>
                          </a:solidFill>
                          <a:latin typeface="Aptos" panose="020B0004020202020204" pitchFamily="34" charset="0"/>
                        </a:rPr>
                        <a:t>Meta propuesta</a:t>
                      </a:r>
                    </a:p>
                  </a:txBody>
                  <a:tcPr marL="152400" marR="127000" marT="127000" marB="101600">
                    <a:solidFill>
                      <a:srgbClr val="102D4E"/>
                    </a:solidFill>
                  </a:tcPr>
                </a:tc>
                <a:tc>
                  <a:txBody>
                    <a:bodyPr/>
                    <a:lstStyle/>
                    <a:p>
                      <a:r>
                        <a:rPr lang="es-ES" sz="1900" b="1">
                          <a:solidFill>
                            <a:srgbClr val="FFFFFF"/>
                          </a:solidFill>
                          <a:latin typeface="Aptos" panose="020B0004020202020204" pitchFamily="34" charset="0"/>
                        </a:rPr>
                        <a:t>Herramienta</a:t>
                      </a:r>
                    </a:p>
                  </a:txBody>
                  <a:tcPr marL="152400" marR="127000" marT="127000" marB="101600">
                    <a:solidFill>
                      <a:srgbClr val="102D4E"/>
                    </a:solidFill>
                  </a:tcPr>
                </a:tc>
                <a:extLst>
                  <a:ext uri="{0D108BD9-81ED-4DB2-BD59-A6C34878D82A}">
                    <a16:rowId xmlns:a16="http://schemas.microsoft.com/office/drawing/2014/main" val="4239034026"/>
                  </a:ext>
                </a:extLst>
              </a:tr>
              <a:tr h="723900">
                <a:tc>
                  <a:txBody>
                    <a:bodyPr/>
                    <a:lstStyle/>
                    <a:p>
                      <a:r>
                        <a:rPr lang="es-ES" sz="1900" b="0">
                          <a:solidFill>
                            <a:srgbClr val="203447"/>
                          </a:solidFill>
                          <a:latin typeface="Aptos" panose="020B0004020202020204" pitchFamily="34" charset="0"/>
                        </a:rPr>
                        <a:t>Rendimiento</a:t>
                      </a:r>
                    </a:p>
                  </a:txBody>
                  <a:tcPr marL="152400" marR="127000" marT="127000" marB="101600">
                    <a:solidFill>
                      <a:srgbClr val="EDF4FA"/>
                    </a:solidFill>
                  </a:tcPr>
                </a:tc>
                <a:tc>
                  <a:txBody>
                    <a:bodyPr/>
                    <a:lstStyle/>
                    <a:p>
                      <a:r>
                        <a:rPr lang="es-ES" sz="1900" b="0">
                          <a:solidFill>
                            <a:srgbClr val="203447"/>
                          </a:solidFill>
                          <a:latin typeface="Aptos" panose="020B0004020202020204" pitchFamily="34" charset="0"/>
                        </a:rPr>
                        <a:t>p95 de hasta 500 ms por endpoint local.</a:t>
                      </a:r>
                    </a:p>
                  </a:txBody>
                  <a:tcPr marL="152400" marR="127000" marT="127000" marB="101600">
                    <a:solidFill>
                      <a:srgbClr val="EDF4FA"/>
                    </a:solidFill>
                  </a:tcPr>
                </a:tc>
                <a:tc>
                  <a:txBody>
                    <a:bodyPr/>
                    <a:lstStyle/>
                    <a:p>
                      <a:r>
                        <a:rPr lang="es-ES" sz="1900" b="0">
                          <a:solidFill>
                            <a:srgbClr val="203447"/>
                          </a:solidFill>
                          <a:latin typeface="Aptos" panose="020B0004020202020204" pitchFamily="34" charset="0"/>
                        </a:rPr>
                        <a:t>k6</a:t>
                      </a:r>
                    </a:p>
                  </a:txBody>
                  <a:tcPr marL="152400" marR="127000" marT="127000" marB="101600">
                    <a:solidFill>
                      <a:srgbClr val="EDF4FA"/>
                    </a:solidFill>
                  </a:tcPr>
                </a:tc>
                <a:extLst>
                  <a:ext uri="{0D108BD9-81ED-4DB2-BD59-A6C34878D82A}">
                    <a16:rowId xmlns:a16="http://schemas.microsoft.com/office/drawing/2014/main" val="3292372430"/>
                  </a:ext>
                </a:extLst>
              </a:tr>
              <a:tr h="723900">
                <a:tc>
                  <a:txBody>
                    <a:bodyPr/>
                    <a:lstStyle/>
                    <a:p>
                      <a:r>
                        <a:rPr lang="es-ES" sz="1900" b="0">
                          <a:solidFill>
                            <a:srgbClr val="203447"/>
                          </a:solidFill>
                          <a:latin typeface="Aptos" panose="020B0004020202020204" pitchFamily="34" charset="0"/>
                        </a:rPr>
                        <a:t>Escalabilidad</a:t>
                      </a:r>
                    </a:p>
                  </a:txBody>
                  <a:tcPr marL="152400" marR="127000" marT="127000" marB="101600">
                    <a:solidFill>
                      <a:srgbClr val="FFFFFF"/>
                    </a:solidFill>
                  </a:tcPr>
                </a:tc>
                <a:tc>
                  <a:txBody>
                    <a:bodyPr/>
                    <a:lstStyle/>
                    <a:p>
                      <a:r>
                        <a:rPr lang="es-ES" sz="1900" b="0">
                          <a:solidFill>
                            <a:srgbClr val="203447"/>
                          </a:solidFill>
                          <a:latin typeface="Aptos" panose="020B0004020202020204" pitchFamily="34" charset="0"/>
                        </a:rPr>
                        <a:t>Evaluar hasta 2,000 usuarios virtuales.</a:t>
                      </a:r>
                    </a:p>
                  </a:txBody>
                  <a:tcPr marL="152400" marR="127000" marT="127000" marB="101600">
                    <a:solidFill>
                      <a:srgbClr val="FFFFFF"/>
                    </a:solidFill>
                  </a:tcPr>
                </a:tc>
                <a:tc>
                  <a:txBody>
                    <a:bodyPr/>
                    <a:lstStyle/>
                    <a:p>
                      <a:r>
                        <a:rPr lang="es-ES" sz="1900" b="0">
                          <a:solidFill>
                            <a:srgbClr val="203447"/>
                          </a:solidFill>
                          <a:latin typeface="Aptos" panose="020B0004020202020204" pitchFamily="34" charset="0"/>
                        </a:rPr>
                        <a:t>k6 + CloudWatch</a:t>
                      </a:r>
                    </a:p>
                  </a:txBody>
                  <a:tcPr marL="152400" marR="127000" marT="127000" marB="101600">
                    <a:solidFill>
                      <a:srgbClr val="FFFFFF"/>
                    </a:solidFill>
                  </a:tcPr>
                </a:tc>
                <a:extLst>
                  <a:ext uri="{0D108BD9-81ED-4DB2-BD59-A6C34878D82A}">
                    <a16:rowId xmlns:a16="http://schemas.microsoft.com/office/drawing/2014/main" val="2276034938"/>
                  </a:ext>
                </a:extLst>
              </a:tr>
              <a:tr h="723900">
                <a:tc>
                  <a:txBody>
                    <a:bodyPr/>
                    <a:lstStyle/>
                    <a:p>
                      <a:r>
                        <a:rPr lang="es-ES" sz="1900" b="0">
                          <a:solidFill>
                            <a:srgbClr val="203447"/>
                          </a:solidFill>
                          <a:latin typeface="Aptos" panose="020B0004020202020204" pitchFamily="34" charset="0"/>
                        </a:rPr>
                        <a:t>Concurrencia</a:t>
                      </a:r>
                    </a:p>
                  </a:txBody>
                  <a:tcPr marL="152400" marR="127000" marT="127000" marB="101600">
                    <a:solidFill>
                      <a:srgbClr val="EDF4FA"/>
                    </a:solidFill>
                  </a:tcPr>
                </a:tc>
                <a:tc>
                  <a:txBody>
                    <a:bodyPr/>
                    <a:lstStyle/>
                    <a:p>
                      <a:r>
                        <a:rPr lang="es-ES" sz="1900" b="0">
                          <a:solidFill>
                            <a:srgbClr val="203447"/>
                          </a:solidFill>
                          <a:latin typeface="Aptos" panose="020B0004020202020204" pitchFamily="34" charset="0"/>
                        </a:rPr>
                        <a:t>Sin sobreventa ni stock negativo.</a:t>
                      </a:r>
                    </a:p>
                  </a:txBody>
                  <a:tcPr marL="152400" marR="127000" marT="127000" marB="101600">
                    <a:solidFill>
                      <a:srgbClr val="EDF4FA"/>
                    </a:solidFill>
                  </a:tcPr>
                </a:tc>
                <a:tc>
                  <a:txBody>
                    <a:bodyPr/>
                    <a:lstStyle/>
                    <a:p>
                      <a:r>
                        <a:rPr lang="es-ES" sz="1900" b="0">
                          <a:solidFill>
                            <a:srgbClr val="203447"/>
                          </a:solidFill>
                          <a:latin typeface="Aptos" panose="020B0004020202020204" pitchFamily="34" charset="0"/>
                        </a:rPr>
                        <a:t>k6 + SQL</a:t>
                      </a:r>
                    </a:p>
                  </a:txBody>
                  <a:tcPr marL="152400" marR="127000" marT="127000" marB="101600">
                    <a:solidFill>
                      <a:srgbClr val="EDF4FA"/>
                    </a:solidFill>
                  </a:tcPr>
                </a:tc>
                <a:extLst>
                  <a:ext uri="{0D108BD9-81ED-4DB2-BD59-A6C34878D82A}">
                    <a16:rowId xmlns:a16="http://schemas.microsoft.com/office/drawing/2014/main" val="1483946350"/>
                  </a:ext>
                </a:extLst>
              </a:tr>
              <a:tr h="723900">
                <a:tc>
                  <a:txBody>
                    <a:bodyPr/>
                    <a:lstStyle/>
                    <a:p>
                      <a:r>
                        <a:rPr lang="es-ES" sz="1900" b="0">
                          <a:solidFill>
                            <a:srgbClr val="203447"/>
                          </a:solidFill>
                          <a:latin typeface="Aptos" panose="020B0004020202020204" pitchFamily="34" charset="0"/>
                        </a:rPr>
                        <a:t>Seguridad</a:t>
                      </a:r>
                    </a:p>
                  </a:txBody>
                  <a:tcPr marL="152400" marR="127000" marT="127000" marB="101600">
                    <a:solidFill>
                      <a:srgbClr val="FFFFFF"/>
                    </a:solidFill>
                  </a:tcPr>
                </a:tc>
                <a:tc>
                  <a:txBody>
                    <a:bodyPr/>
                    <a:lstStyle/>
                    <a:p>
                      <a:r>
                        <a:rPr lang="es-ES" sz="1900" b="0">
                          <a:solidFill>
                            <a:srgbClr val="203447"/>
                          </a:solidFill>
                          <a:latin typeface="Aptos" panose="020B0004020202020204" pitchFamily="34" charset="0"/>
                        </a:rPr>
                        <a:t>Rechazar accesos indebidos de la matriz.</a:t>
                      </a:r>
                    </a:p>
                  </a:txBody>
                  <a:tcPr marL="152400" marR="127000" marT="127000" marB="101600">
                    <a:solidFill>
                      <a:srgbClr val="FFFFFF"/>
                    </a:solidFill>
                  </a:tcPr>
                </a:tc>
                <a:tc>
                  <a:txBody>
                    <a:bodyPr/>
                    <a:lstStyle/>
                    <a:p>
                      <a:r>
                        <a:rPr lang="es-ES" sz="1900" b="0">
                          <a:solidFill>
                            <a:srgbClr val="203447"/>
                          </a:solidFill>
                          <a:latin typeface="Aptos" panose="020B0004020202020204" pitchFamily="34" charset="0"/>
                        </a:rPr>
                        <a:t>Jest + HTTP</a:t>
                      </a:r>
                    </a:p>
                  </a:txBody>
                  <a:tcPr marL="152400" marR="127000" marT="127000" marB="101600">
                    <a:solidFill>
                      <a:srgbClr val="FFFFFF"/>
                    </a:solidFill>
                  </a:tcPr>
                </a:tc>
                <a:extLst>
                  <a:ext uri="{0D108BD9-81ED-4DB2-BD59-A6C34878D82A}">
                    <a16:rowId xmlns:a16="http://schemas.microsoft.com/office/drawing/2014/main" val="564932630"/>
                  </a:ext>
                </a:extLst>
              </a:tr>
              <a:tr h="723900">
                <a:tc>
                  <a:txBody>
                    <a:bodyPr/>
                    <a:lstStyle/>
                    <a:p>
                      <a:r>
                        <a:rPr lang="es-ES" sz="1900" b="0">
                          <a:solidFill>
                            <a:srgbClr val="203447"/>
                          </a:solidFill>
                          <a:latin typeface="Aptos" panose="020B0004020202020204" pitchFamily="34" charset="0"/>
                        </a:rPr>
                        <a:t>Disponibilidad</a:t>
                      </a:r>
                    </a:p>
                  </a:txBody>
                  <a:tcPr marL="152400" marR="127000" marT="127000" marB="101600">
                    <a:solidFill>
                      <a:srgbClr val="EDF4FA"/>
                    </a:solidFill>
                  </a:tcPr>
                </a:tc>
                <a:tc>
                  <a:txBody>
                    <a:bodyPr/>
                    <a:lstStyle/>
                    <a:p>
                      <a:r>
                        <a:rPr lang="pt-BR" sz="1900" b="0">
                          <a:solidFill>
                            <a:srgbClr val="203447"/>
                          </a:solidFill>
                          <a:latin typeface="Aptos" panose="020B0004020202020204" pitchFamily="34" charset="0"/>
                        </a:rPr>
                        <a:t>99.5% mensual, RTO 4 h y RPO 1 h.</a:t>
                      </a:r>
                      <a:endParaRPr lang="es-ES" sz="1900" b="0">
                        <a:solidFill>
                          <a:srgbClr val="203447"/>
                        </a:solidFill>
                        <a:latin typeface="Aptos" panose="020B0004020202020204" pitchFamily="34" charset="0"/>
                      </a:endParaRPr>
                    </a:p>
                  </a:txBody>
                  <a:tcPr marL="152400" marR="127000" marT="127000" marB="101600">
                    <a:solidFill>
                      <a:srgbClr val="EDF4FA"/>
                    </a:solidFill>
                  </a:tcPr>
                </a:tc>
                <a:tc>
                  <a:txBody>
                    <a:bodyPr/>
                    <a:lstStyle/>
                    <a:p>
                      <a:r>
                        <a:rPr lang="es-ES" sz="1900" b="0">
                          <a:solidFill>
                            <a:srgbClr val="203447"/>
                          </a:solidFill>
                          <a:latin typeface="Aptos" panose="020B0004020202020204" pitchFamily="34" charset="0"/>
                        </a:rPr>
                        <a:t>Sondas + CloudWatch</a:t>
                      </a:r>
                    </a:p>
                  </a:txBody>
                  <a:tcPr marL="152400" marR="127000" marT="127000" marB="101600">
                    <a:solidFill>
                      <a:srgbClr val="EDF4FA"/>
                    </a:solidFill>
                  </a:tcPr>
                </a:tc>
                <a:extLst>
                  <a:ext uri="{0D108BD9-81ED-4DB2-BD59-A6C34878D82A}">
                    <a16:rowId xmlns:a16="http://schemas.microsoft.com/office/drawing/2014/main" val="476505232"/>
                  </a:ext>
                </a:extLst>
              </a:tr>
            </a:tbl>
          </a:graphicData>
        </a:graphic>
      </p:graphicFrame>
      <p:sp>
        <p:nvSpPr>
          <p:cNvPr id="6" name="CuadroTexto 5">
            <a:extLst>
              <a:ext uri="{FF2B5EF4-FFF2-40B4-BE49-F238E27FC236}">
                <a16:creationId xmlns:a16="http://schemas.microsoft.com/office/drawing/2014/main" id="{FBB688F9-EA46-5D98-11E8-6B635AE4FD34}"/>
              </a:ext>
            </a:extLst>
          </p:cNvPr>
          <p:cNvSpPr txBox="1"/>
          <p:nvPr/>
        </p:nvSpPr>
        <p:spPr>
          <a:xfrm>
            <a:off x="533400" y="6007100"/>
            <a:ext cx="11125200" cy="292388"/>
          </a:xfrm>
          <a:prstGeom prst="rect">
            <a:avLst/>
          </a:prstGeom>
          <a:noFill/>
        </p:spPr>
        <p:txBody>
          <a:bodyPr vert="horz" wrap="square" lIns="0" tIns="0" rIns="0" bIns="0" rtlCol="0">
            <a:spAutoFit/>
          </a:bodyPr>
          <a:lstStyle/>
          <a:p>
            <a:r>
              <a:rPr lang="es-ES" sz="1900" b="1">
                <a:solidFill>
                  <a:srgbClr val="1269B0"/>
                </a:solidFill>
                <a:latin typeface="Aptos" panose="020B0004020202020204" pitchFamily="34" charset="0"/>
              </a:rPr>
              <a:t>Metas pendientes de validación sobre el software implementado</a:t>
            </a:r>
          </a:p>
        </p:txBody>
      </p:sp>
    </p:spTree>
    <p:extLst>
      <p:ext uri="{BB962C8B-B14F-4D97-AF65-F5344CB8AC3E}">
        <p14:creationId xmlns:p14="http://schemas.microsoft.com/office/powerpoint/2010/main" val="16301479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C49D0372-AE20-2760-E8FA-803207A1BA36}"/>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Medición después del despliegue</a:t>
            </a:r>
          </a:p>
        </p:txBody>
      </p:sp>
      <p:sp>
        <p:nvSpPr>
          <p:cNvPr id="3" name="CuadroTexto 2">
            <a:extLst>
              <a:ext uri="{FF2B5EF4-FFF2-40B4-BE49-F238E27FC236}">
                <a16:creationId xmlns:a16="http://schemas.microsoft.com/office/drawing/2014/main" id="{A5854240-55C3-C1F4-7996-34E30D274E57}"/>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BAD0D6AC-8F88-3ABD-0612-7DFD7A16F3EF}"/>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15</a:t>
            </a:r>
          </a:p>
        </p:txBody>
      </p:sp>
      <p:graphicFrame>
        <p:nvGraphicFramePr>
          <p:cNvPr id="5" name="Tabla 4">
            <a:extLst>
              <a:ext uri="{FF2B5EF4-FFF2-40B4-BE49-F238E27FC236}">
                <a16:creationId xmlns:a16="http://schemas.microsoft.com/office/drawing/2014/main" id="{9105EDE3-9890-306D-B057-4B72EB2E4AB7}"/>
              </a:ext>
            </a:extLst>
          </p:cNvPr>
          <p:cNvGraphicFramePr>
            <a:graphicFrameLocks noGrp="1"/>
          </p:cNvGraphicFramePr>
          <p:nvPr>
            <p:extLst>
              <p:ext uri="{D42A27DB-BD31-4B8C-83A1-F6EECF244321}">
                <p14:modId xmlns:p14="http://schemas.microsoft.com/office/powerpoint/2010/main" val="915370995"/>
              </p:ext>
            </p:extLst>
          </p:nvPr>
        </p:nvGraphicFramePr>
        <p:xfrm>
          <a:off x="533400" y="1435100"/>
          <a:ext cx="11125200" cy="4191000"/>
        </p:xfrm>
        <a:graphic>
          <a:graphicData uri="http://schemas.openxmlformats.org/drawingml/2006/table">
            <a:tbl>
              <a:tblPr firstRow="1" bandRow="1">
                <a:tableStyleId>{5C22544A-7EE6-4342-B048-85BDC9FD1C3A}</a:tableStyleId>
              </a:tblPr>
              <a:tblGrid>
                <a:gridCol w="2413000">
                  <a:extLst>
                    <a:ext uri="{9D8B030D-6E8A-4147-A177-3AD203B41FA5}">
                      <a16:colId xmlns:a16="http://schemas.microsoft.com/office/drawing/2014/main" val="3843146515"/>
                    </a:ext>
                  </a:extLst>
                </a:gridCol>
                <a:gridCol w="5143500">
                  <a:extLst>
                    <a:ext uri="{9D8B030D-6E8A-4147-A177-3AD203B41FA5}">
                      <a16:colId xmlns:a16="http://schemas.microsoft.com/office/drawing/2014/main" val="2906564704"/>
                    </a:ext>
                  </a:extLst>
                </a:gridCol>
                <a:gridCol w="3568700">
                  <a:extLst>
                    <a:ext uri="{9D8B030D-6E8A-4147-A177-3AD203B41FA5}">
                      <a16:colId xmlns:a16="http://schemas.microsoft.com/office/drawing/2014/main" val="1514188845"/>
                    </a:ext>
                  </a:extLst>
                </a:gridCol>
              </a:tblGrid>
              <a:tr h="838200">
                <a:tc>
                  <a:txBody>
                    <a:bodyPr/>
                    <a:lstStyle/>
                    <a:p>
                      <a:r>
                        <a:rPr lang="es-ES" sz="1900" b="1">
                          <a:solidFill>
                            <a:srgbClr val="FFFFFF"/>
                          </a:solidFill>
                          <a:latin typeface="Aptos" panose="020B0004020202020204" pitchFamily="34" charset="0"/>
                        </a:rPr>
                        <a:t>Prueba</a:t>
                      </a:r>
                    </a:p>
                  </a:txBody>
                  <a:tcPr marL="152400" marR="127000" marT="127000" marB="101600">
                    <a:solidFill>
                      <a:srgbClr val="102D4E"/>
                    </a:solidFill>
                  </a:tcPr>
                </a:tc>
                <a:tc>
                  <a:txBody>
                    <a:bodyPr/>
                    <a:lstStyle/>
                    <a:p>
                      <a:r>
                        <a:rPr lang="es-ES" sz="1900" b="1">
                          <a:solidFill>
                            <a:srgbClr val="FFFFFF"/>
                          </a:solidFill>
                          <a:latin typeface="Aptos" panose="020B0004020202020204" pitchFamily="34" charset="0"/>
                        </a:rPr>
                        <a:t>Cómo se realizará</a:t>
                      </a:r>
                    </a:p>
                  </a:txBody>
                  <a:tcPr marL="152400" marR="127000" marT="127000" marB="101600">
                    <a:solidFill>
                      <a:srgbClr val="102D4E"/>
                    </a:solidFill>
                  </a:tcPr>
                </a:tc>
                <a:tc>
                  <a:txBody>
                    <a:bodyPr/>
                    <a:lstStyle/>
                    <a:p>
                      <a:r>
                        <a:rPr lang="es-ES" sz="1900" b="1">
                          <a:solidFill>
                            <a:srgbClr val="FFFFFF"/>
                          </a:solidFill>
                          <a:latin typeface="Aptos" panose="020B0004020202020204" pitchFamily="34" charset="0"/>
                        </a:rPr>
                        <a:t>Evidencia</a:t>
                      </a:r>
                    </a:p>
                  </a:txBody>
                  <a:tcPr marL="152400" marR="127000" marT="127000" marB="101600">
                    <a:solidFill>
                      <a:srgbClr val="102D4E"/>
                    </a:solidFill>
                  </a:tcPr>
                </a:tc>
                <a:extLst>
                  <a:ext uri="{0D108BD9-81ED-4DB2-BD59-A6C34878D82A}">
                    <a16:rowId xmlns:a16="http://schemas.microsoft.com/office/drawing/2014/main" val="1321115434"/>
                  </a:ext>
                </a:extLst>
              </a:tr>
              <a:tr h="838200">
                <a:tc>
                  <a:txBody>
                    <a:bodyPr/>
                    <a:lstStyle/>
                    <a:p>
                      <a:r>
                        <a:rPr lang="es-ES" sz="1900" b="0">
                          <a:solidFill>
                            <a:srgbClr val="203447"/>
                          </a:solidFill>
                          <a:latin typeface="Aptos" panose="020B0004020202020204" pitchFamily="34" charset="0"/>
                        </a:rPr>
                        <a:t>Carga con k6</a:t>
                      </a:r>
                    </a:p>
                  </a:txBody>
                  <a:tcPr marL="152400" marR="127000" marT="127000" marB="101600">
                    <a:solidFill>
                      <a:srgbClr val="EDF4FA"/>
                    </a:solidFill>
                  </a:tcPr>
                </a:tc>
                <a:tc>
                  <a:txBody>
                    <a:bodyPr/>
                    <a:lstStyle/>
                    <a:p>
                      <a:r>
                        <a:rPr lang="es-ES" sz="1900" b="0">
                          <a:solidFill>
                            <a:srgbClr val="203447"/>
                          </a:solidFill>
                          <a:latin typeface="Aptos" panose="020B0004020202020204" pitchFamily="34" charset="0"/>
                        </a:rPr>
                        <a:t>500, 1,000 y 2,000 usuarios.</a:t>
                      </a:r>
                    </a:p>
                    <a:p>
                      <a:r>
                        <a:rPr lang="es-ES" sz="1900" b="0">
                          <a:solidFill>
                            <a:srgbClr val="203447"/>
                          </a:solidFill>
                          <a:latin typeface="Aptos" panose="020B0004020202020204" pitchFamily="34" charset="0"/>
                        </a:rPr>
                        <a:t>Mesetas de 5 min y pausas de 2 s.</a:t>
                      </a:r>
                    </a:p>
                  </a:txBody>
                  <a:tcPr marL="152400" marR="127000" marT="127000" marB="101600">
                    <a:solidFill>
                      <a:srgbClr val="EDF4FA"/>
                    </a:solidFill>
                  </a:tcPr>
                </a:tc>
                <a:tc>
                  <a:txBody>
                    <a:bodyPr/>
                    <a:lstStyle/>
                    <a:p>
                      <a:r>
                        <a:rPr lang="es-ES" sz="1900" b="0">
                          <a:solidFill>
                            <a:srgbClr val="203447"/>
                          </a:solidFill>
                          <a:latin typeface="Aptos" panose="020B0004020202020204" pitchFamily="34" charset="0"/>
                        </a:rPr>
                        <a:t>p95 y errores por endpoint y etapa.</a:t>
                      </a:r>
                    </a:p>
                  </a:txBody>
                  <a:tcPr marL="152400" marR="127000" marT="127000" marB="101600">
                    <a:solidFill>
                      <a:srgbClr val="EDF4FA"/>
                    </a:solidFill>
                  </a:tcPr>
                </a:tc>
                <a:extLst>
                  <a:ext uri="{0D108BD9-81ED-4DB2-BD59-A6C34878D82A}">
                    <a16:rowId xmlns:a16="http://schemas.microsoft.com/office/drawing/2014/main" val="1440663915"/>
                  </a:ext>
                </a:extLst>
              </a:tr>
              <a:tr h="838200">
                <a:tc>
                  <a:txBody>
                    <a:bodyPr/>
                    <a:lstStyle/>
                    <a:p>
                      <a:r>
                        <a:rPr lang="es-ES" sz="1900" b="0">
                          <a:solidFill>
                            <a:srgbClr val="203447"/>
                          </a:solidFill>
                          <a:latin typeface="Aptos" panose="020B0004020202020204" pitchFamily="34" charset="0"/>
                        </a:rPr>
                        <a:t>Stock concurrente</a:t>
                      </a:r>
                    </a:p>
                  </a:txBody>
                  <a:tcPr marL="152400" marR="127000" marT="127000" marB="101600">
                    <a:solidFill>
                      <a:srgbClr val="FFFFFF"/>
                    </a:solidFill>
                  </a:tcPr>
                </a:tc>
                <a:tc>
                  <a:txBody>
                    <a:bodyPr/>
                    <a:lstStyle/>
                    <a:p>
                      <a:r>
                        <a:rPr lang="es-ES" sz="1900" b="0">
                          <a:solidFill>
                            <a:srgbClr val="203447"/>
                          </a:solidFill>
                          <a:latin typeface="Aptos" panose="020B0004020202020204" pitchFamily="34" charset="0"/>
                        </a:rPr>
                        <a:t>500 compradores y 100 unidades.</a:t>
                      </a:r>
                    </a:p>
                    <a:p>
                      <a:r>
                        <a:rPr lang="es-ES" sz="1900" b="0">
                          <a:solidFill>
                            <a:srgbClr val="203447"/>
                          </a:solidFill>
                          <a:latin typeface="Aptos" panose="020B0004020202020204" pitchFamily="34" charset="0"/>
                        </a:rPr>
                        <a:t>Una unidad por intento.</a:t>
                      </a:r>
                    </a:p>
                  </a:txBody>
                  <a:tcPr marL="152400" marR="127000" marT="127000" marB="101600">
                    <a:solidFill>
                      <a:srgbClr val="FFFFFF"/>
                    </a:solidFill>
                  </a:tcPr>
                </a:tc>
                <a:tc>
                  <a:txBody>
                    <a:bodyPr/>
                    <a:lstStyle/>
                    <a:p>
                      <a:r>
                        <a:rPr lang="es-ES" sz="1900" b="0">
                          <a:solidFill>
                            <a:srgbClr val="203447"/>
                          </a:solidFill>
                          <a:latin typeface="Aptos" panose="020B0004020202020204" pitchFamily="34" charset="0"/>
                        </a:rPr>
                        <a:t>100 aceptados, 400 rechazos y stock 0.</a:t>
                      </a:r>
                    </a:p>
                  </a:txBody>
                  <a:tcPr marL="152400" marR="127000" marT="127000" marB="101600">
                    <a:solidFill>
                      <a:srgbClr val="FFFFFF"/>
                    </a:solidFill>
                  </a:tcPr>
                </a:tc>
                <a:extLst>
                  <a:ext uri="{0D108BD9-81ED-4DB2-BD59-A6C34878D82A}">
                    <a16:rowId xmlns:a16="http://schemas.microsoft.com/office/drawing/2014/main" val="567819215"/>
                  </a:ext>
                </a:extLst>
              </a:tr>
              <a:tr h="838200">
                <a:tc>
                  <a:txBody>
                    <a:bodyPr/>
                    <a:lstStyle/>
                    <a:p>
                      <a:r>
                        <a:rPr lang="es-ES" sz="1900" b="0">
                          <a:solidFill>
                            <a:srgbClr val="203447"/>
                          </a:solidFill>
                          <a:latin typeface="Aptos" panose="020B0004020202020204" pitchFamily="34" charset="0"/>
                        </a:rPr>
                        <a:t>Infraestructura</a:t>
                      </a:r>
                    </a:p>
                  </a:txBody>
                  <a:tcPr marL="152400" marR="127000" marT="127000" marB="101600">
                    <a:solidFill>
                      <a:srgbClr val="EDF4FA"/>
                    </a:solidFill>
                  </a:tcPr>
                </a:tc>
                <a:tc>
                  <a:txBody>
                    <a:bodyPr/>
                    <a:lstStyle/>
                    <a:p>
                      <a:r>
                        <a:rPr lang="es-ES" sz="1900" b="0">
                          <a:solidFill>
                            <a:srgbClr val="203447"/>
                          </a:solidFill>
                          <a:latin typeface="Aptos" panose="020B0004020202020204" pitchFamily="34" charset="0"/>
                        </a:rPr>
                        <a:t>Correlacionar carga con CPU, memoria instrumentada y conexiones.</a:t>
                      </a:r>
                    </a:p>
                  </a:txBody>
                  <a:tcPr marL="152400" marR="127000" marT="127000" marB="101600">
                    <a:solidFill>
                      <a:srgbClr val="EDF4FA"/>
                    </a:solidFill>
                  </a:tcPr>
                </a:tc>
                <a:tc>
                  <a:txBody>
                    <a:bodyPr/>
                    <a:lstStyle/>
                    <a:p>
                      <a:r>
                        <a:rPr lang="es-ES" sz="1900" b="0">
                          <a:solidFill>
                            <a:srgbClr val="203447"/>
                          </a:solidFill>
                          <a:latin typeface="Aptos" panose="020B0004020202020204" pitchFamily="34" charset="0"/>
                        </a:rPr>
                        <a:t>Métricas y registros en CloudWatch.</a:t>
                      </a:r>
                    </a:p>
                  </a:txBody>
                  <a:tcPr marL="152400" marR="127000" marT="127000" marB="101600">
                    <a:solidFill>
                      <a:srgbClr val="EDF4FA"/>
                    </a:solidFill>
                  </a:tcPr>
                </a:tc>
                <a:extLst>
                  <a:ext uri="{0D108BD9-81ED-4DB2-BD59-A6C34878D82A}">
                    <a16:rowId xmlns:a16="http://schemas.microsoft.com/office/drawing/2014/main" val="2031920256"/>
                  </a:ext>
                </a:extLst>
              </a:tr>
              <a:tr h="838200">
                <a:tc>
                  <a:txBody>
                    <a:bodyPr/>
                    <a:lstStyle/>
                    <a:p>
                      <a:r>
                        <a:rPr lang="es-ES" sz="1900" b="0">
                          <a:solidFill>
                            <a:srgbClr val="203447"/>
                          </a:solidFill>
                          <a:latin typeface="Aptos" panose="020B0004020202020204" pitchFamily="34" charset="0"/>
                        </a:rPr>
                        <a:t>Disponibilidad</a:t>
                      </a:r>
                    </a:p>
                  </a:txBody>
                  <a:tcPr marL="152400" marR="127000" marT="127000" marB="101600">
                    <a:solidFill>
                      <a:srgbClr val="FFFFFF"/>
                    </a:solidFill>
                  </a:tcPr>
                </a:tc>
                <a:tc>
                  <a:txBody>
                    <a:bodyPr/>
                    <a:lstStyle/>
                    <a:p>
                      <a:r>
                        <a:rPr lang="es-ES" sz="1900" b="0">
                          <a:solidFill>
                            <a:srgbClr val="203447"/>
                          </a:solidFill>
                          <a:latin typeface="Aptos" panose="020B0004020202020204" pitchFamily="34" charset="0"/>
                        </a:rPr>
                        <a:t>Sondas cada minuto durante un mes.</a:t>
                      </a:r>
                    </a:p>
                  </a:txBody>
                  <a:tcPr marL="152400" marR="127000" marT="127000" marB="101600">
                    <a:solidFill>
                      <a:srgbClr val="FFFFFF"/>
                    </a:solidFill>
                  </a:tcPr>
                </a:tc>
                <a:tc>
                  <a:txBody>
                    <a:bodyPr/>
                    <a:lstStyle/>
                    <a:p>
                      <a:r>
                        <a:rPr lang="es-ES" sz="1900" b="0">
                          <a:solidFill>
                            <a:srgbClr val="203447"/>
                          </a:solidFill>
                          <a:latin typeface="Aptos" panose="020B0004020202020204" pitchFamily="34" charset="0"/>
                        </a:rPr>
                        <a:t>Historial, incidentes y cobertura.</a:t>
                      </a:r>
                    </a:p>
                  </a:txBody>
                  <a:tcPr marL="152400" marR="127000" marT="127000" marB="101600">
                    <a:solidFill>
                      <a:srgbClr val="FFFFFF"/>
                    </a:solidFill>
                  </a:tcPr>
                </a:tc>
                <a:extLst>
                  <a:ext uri="{0D108BD9-81ED-4DB2-BD59-A6C34878D82A}">
                    <a16:rowId xmlns:a16="http://schemas.microsoft.com/office/drawing/2014/main" val="1054900449"/>
                  </a:ext>
                </a:extLst>
              </a:tr>
            </a:tbl>
          </a:graphicData>
        </a:graphic>
      </p:graphicFrame>
      <p:sp>
        <p:nvSpPr>
          <p:cNvPr id="6" name="CuadroTexto 5">
            <a:extLst>
              <a:ext uri="{FF2B5EF4-FFF2-40B4-BE49-F238E27FC236}">
                <a16:creationId xmlns:a16="http://schemas.microsoft.com/office/drawing/2014/main" id="{4F7C5878-5800-0D47-EAF0-44B186B679C7}"/>
              </a:ext>
            </a:extLst>
          </p:cNvPr>
          <p:cNvSpPr txBox="1"/>
          <p:nvPr/>
        </p:nvSpPr>
        <p:spPr>
          <a:xfrm>
            <a:off x="533400" y="5918200"/>
            <a:ext cx="11125200" cy="276999"/>
          </a:xfrm>
          <a:prstGeom prst="rect">
            <a:avLst/>
          </a:prstGeom>
          <a:noFill/>
        </p:spPr>
        <p:txBody>
          <a:bodyPr vert="horz" wrap="square" lIns="0" tIns="0" rIns="0" bIns="0" rtlCol="0">
            <a:spAutoFit/>
          </a:bodyPr>
          <a:lstStyle/>
          <a:p>
            <a:r>
              <a:rPr lang="es-ES">
                <a:solidFill>
                  <a:srgbClr val="52677A"/>
                </a:solidFill>
                <a:latin typeface="Aptos" panose="020B0004020202020204" pitchFamily="34" charset="0"/>
              </a:rPr>
              <a:t>Ejecución pendiente. El informe incluirá versión, entorno y resultados reales</a:t>
            </a:r>
          </a:p>
        </p:txBody>
      </p:sp>
    </p:spTree>
    <p:extLst>
      <p:ext uri="{BB962C8B-B14F-4D97-AF65-F5344CB8AC3E}">
        <p14:creationId xmlns:p14="http://schemas.microsoft.com/office/powerpoint/2010/main" val="22266573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0B0CD270-1434-152D-E5AB-BFBCE97919AF}"/>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Siguiente etapa: implementación</a:t>
            </a:r>
          </a:p>
        </p:txBody>
      </p:sp>
      <p:sp>
        <p:nvSpPr>
          <p:cNvPr id="3" name="CuadroTexto 2">
            <a:extLst>
              <a:ext uri="{FF2B5EF4-FFF2-40B4-BE49-F238E27FC236}">
                <a16:creationId xmlns:a16="http://schemas.microsoft.com/office/drawing/2014/main" id="{A84DB7D2-656C-6338-3AFE-E2CB5F07A945}"/>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FDD298C6-A505-8351-ECC6-8CA565A9E611}"/>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16</a:t>
            </a:r>
          </a:p>
        </p:txBody>
      </p:sp>
      <p:sp>
        <p:nvSpPr>
          <p:cNvPr id="5" name="CuadroTexto 4">
            <a:extLst>
              <a:ext uri="{FF2B5EF4-FFF2-40B4-BE49-F238E27FC236}">
                <a16:creationId xmlns:a16="http://schemas.microsoft.com/office/drawing/2014/main" id="{B381DBFF-F6BE-883C-4D9B-940FEDA261A0}"/>
              </a:ext>
            </a:extLst>
          </p:cNvPr>
          <p:cNvSpPr txBox="1"/>
          <p:nvPr/>
        </p:nvSpPr>
        <p:spPr>
          <a:xfrm>
            <a:off x="533400" y="1473200"/>
            <a:ext cx="5334000" cy="430887"/>
          </a:xfrm>
          <a:prstGeom prst="rect">
            <a:avLst/>
          </a:prstGeom>
          <a:noFill/>
        </p:spPr>
        <p:txBody>
          <a:bodyPr vert="horz" wrap="square" lIns="0" tIns="0" rIns="0" bIns="0" rtlCol="0">
            <a:spAutoFit/>
          </a:bodyPr>
          <a:lstStyle/>
          <a:p>
            <a:r>
              <a:rPr lang="es-ES" sz="2800" b="1">
                <a:solidFill>
                  <a:srgbClr val="1269B0"/>
                </a:solidFill>
                <a:latin typeface="Aptos" panose="020B0004020202020204" pitchFamily="34" charset="0"/>
              </a:rPr>
              <a:t>Sprint 01</a:t>
            </a:r>
          </a:p>
        </p:txBody>
      </p:sp>
      <p:sp>
        <p:nvSpPr>
          <p:cNvPr id="6" name="CuadroTexto 5">
            <a:extLst>
              <a:ext uri="{FF2B5EF4-FFF2-40B4-BE49-F238E27FC236}">
                <a16:creationId xmlns:a16="http://schemas.microsoft.com/office/drawing/2014/main" id="{868ABC8A-23D8-17DB-FD98-19020B7A849D}"/>
              </a:ext>
            </a:extLst>
          </p:cNvPr>
          <p:cNvSpPr txBox="1"/>
          <p:nvPr/>
        </p:nvSpPr>
        <p:spPr>
          <a:xfrm>
            <a:off x="533400" y="2286000"/>
            <a:ext cx="5080000" cy="2477601"/>
          </a:xfrm>
          <a:prstGeom prst="rect">
            <a:avLst/>
          </a:prstGeom>
          <a:noFill/>
        </p:spPr>
        <p:txBody>
          <a:bodyPr vert="horz" wrap="square" lIns="0" tIns="0" rIns="0" bIns="0" rtlCol="0">
            <a:spAutoFit/>
          </a:bodyPr>
          <a:lstStyle/>
          <a:p>
            <a:r>
              <a:rPr lang="es-ES" sz="2300">
                <a:solidFill>
                  <a:srgbClr val="203447"/>
                </a:solidFill>
                <a:latin typeface="Aptos" panose="020B0004020202020204" pitchFamily="34" charset="0"/>
              </a:rPr>
              <a:t>Análisis y alcance propuesto</a:t>
            </a:r>
          </a:p>
          <a:p>
            <a:endParaRPr lang="es-ES" sz="2300">
              <a:solidFill>
                <a:srgbClr val="203447"/>
              </a:solidFill>
              <a:latin typeface="Aptos" panose="020B0004020202020204" pitchFamily="34" charset="0"/>
            </a:endParaRPr>
          </a:p>
          <a:p>
            <a:r>
              <a:rPr lang="es-ES" sz="2300">
                <a:solidFill>
                  <a:srgbClr val="203447"/>
                </a:solidFill>
                <a:latin typeface="Aptos" panose="020B0004020202020204" pitchFamily="34" charset="0"/>
              </a:rPr>
              <a:t>Arquitectura y diagramas C4</a:t>
            </a:r>
          </a:p>
          <a:p>
            <a:endParaRPr lang="es-ES" sz="2300">
              <a:solidFill>
                <a:srgbClr val="203447"/>
              </a:solidFill>
              <a:latin typeface="Aptos" panose="020B0004020202020204" pitchFamily="34" charset="0"/>
            </a:endParaRPr>
          </a:p>
          <a:p>
            <a:r>
              <a:rPr lang="es-ES" sz="2300">
                <a:solidFill>
                  <a:srgbClr val="203447"/>
                </a:solidFill>
                <a:latin typeface="Aptos" panose="020B0004020202020204" pitchFamily="34" charset="0"/>
              </a:rPr>
              <a:t>Diseño de datos y módulos</a:t>
            </a:r>
          </a:p>
          <a:p>
            <a:endParaRPr lang="es-ES" sz="2300">
              <a:solidFill>
                <a:srgbClr val="203447"/>
              </a:solidFill>
              <a:latin typeface="Aptos" panose="020B0004020202020204" pitchFamily="34" charset="0"/>
            </a:endParaRPr>
          </a:p>
          <a:p>
            <a:r>
              <a:rPr lang="es-ES" sz="2300">
                <a:solidFill>
                  <a:srgbClr val="203447"/>
                </a:solidFill>
                <a:latin typeface="Aptos" panose="020B0004020202020204" pitchFamily="34" charset="0"/>
              </a:rPr>
              <a:t>Plan de medición de calidad</a:t>
            </a:r>
          </a:p>
        </p:txBody>
      </p:sp>
      <p:sp>
        <p:nvSpPr>
          <p:cNvPr id="7" name="CuadroTexto 6">
            <a:extLst>
              <a:ext uri="{FF2B5EF4-FFF2-40B4-BE49-F238E27FC236}">
                <a16:creationId xmlns:a16="http://schemas.microsoft.com/office/drawing/2014/main" id="{A50C69B5-08FE-C803-3206-1F270BEB34E8}"/>
              </a:ext>
            </a:extLst>
          </p:cNvPr>
          <p:cNvSpPr txBox="1"/>
          <p:nvPr/>
        </p:nvSpPr>
        <p:spPr>
          <a:xfrm>
            <a:off x="6604000" y="1473200"/>
            <a:ext cx="5054600" cy="430887"/>
          </a:xfrm>
          <a:prstGeom prst="rect">
            <a:avLst/>
          </a:prstGeom>
          <a:noFill/>
        </p:spPr>
        <p:txBody>
          <a:bodyPr vert="horz" wrap="square" lIns="0" tIns="0" rIns="0" bIns="0" rtlCol="0">
            <a:spAutoFit/>
          </a:bodyPr>
          <a:lstStyle/>
          <a:p>
            <a:r>
              <a:rPr lang="es-ES" sz="2800" b="1">
                <a:solidFill>
                  <a:srgbClr val="0F776F"/>
                </a:solidFill>
                <a:latin typeface="Aptos" panose="020B0004020202020204" pitchFamily="34" charset="0"/>
              </a:rPr>
              <a:t>Sprint 02 y siguientes</a:t>
            </a:r>
          </a:p>
        </p:txBody>
      </p:sp>
      <p:sp>
        <p:nvSpPr>
          <p:cNvPr id="8" name="CuadroTexto 7">
            <a:extLst>
              <a:ext uri="{FF2B5EF4-FFF2-40B4-BE49-F238E27FC236}">
                <a16:creationId xmlns:a16="http://schemas.microsoft.com/office/drawing/2014/main" id="{9720BA11-CEF8-AD4B-012C-934C1DF6E632}"/>
              </a:ext>
            </a:extLst>
          </p:cNvPr>
          <p:cNvSpPr txBox="1"/>
          <p:nvPr/>
        </p:nvSpPr>
        <p:spPr>
          <a:xfrm>
            <a:off x="6604000" y="2286000"/>
            <a:ext cx="5054600" cy="2477601"/>
          </a:xfrm>
          <a:prstGeom prst="rect">
            <a:avLst/>
          </a:prstGeom>
          <a:noFill/>
        </p:spPr>
        <p:txBody>
          <a:bodyPr vert="horz" wrap="square" lIns="0" tIns="0" rIns="0" bIns="0" rtlCol="0">
            <a:spAutoFit/>
          </a:bodyPr>
          <a:lstStyle/>
          <a:p>
            <a:r>
              <a:rPr lang="es-ES" sz="2300">
                <a:solidFill>
                  <a:srgbClr val="203447"/>
                </a:solidFill>
                <a:latin typeface="Aptos" panose="020B0004020202020204" pitchFamily="34" charset="0"/>
              </a:rPr>
              <a:t>Validar el MVP e implementar el núcleo</a:t>
            </a:r>
          </a:p>
          <a:p>
            <a:endParaRPr lang="es-ES" sz="2300">
              <a:solidFill>
                <a:srgbClr val="203447"/>
              </a:solidFill>
              <a:latin typeface="Aptos" panose="020B0004020202020204" pitchFamily="34" charset="0"/>
            </a:endParaRPr>
          </a:p>
          <a:p>
            <a:r>
              <a:rPr lang="es-ES" sz="2300">
                <a:solidFill>
                  <a:srgbClr val="203447"/>
                </a:solidFill>
                <a:latin typeface="Aptos" panose="020B0004020202020204" pitchFamily="34" charset="0"/>
              </a:rPr>
              <a:t>Documentar la API con Swagger</a:t>
            </a:r>
          </a:p>
          <a:p>
            <a:endParaRPr lang="es-ES" sz="2300">
              <a:solidFill>
                <a:srgbClr val="203447"/>
              </a:solidFill>
              <a:latin typeface="Aptos" panose="020B0004020202020204" pitchFamily="34" charset="0"/>
            </a:endParaRPr>
          </a:p>
          <a:p>
            <a:r>
              <a:rPr lang="es-ES" sz="2300">
                <a:solidFill>
                  <a:srgbClr val="203447"/>
                </a:solidFill>
                <a:latin typeface="Aptos" panose="020B0004020202020204" pitchFamily="34" charset="0"/>
              </a:rPr>
              <a:t>Desplegar el entorno de pruebas</a:t>
            </a:r>
          </a:p>
          <a:p>
            <a:endParaRPr lang="es-ES" sz="2300">
              <a:solidFill>
                <a:srgbClr val="203447"/>
              </a:solidFill>
              <a:latin typeface="Aptos" panose="020B0004020202020204" pitchFamily="34" charset="0"/>
            </a:endParaRPr>
          </a:p>
          <a:p>
            <a:r>
              <a:rPr lang="es-ES" sz="2300">
                <a:solidFill>
                  <a:srgbClr val="203447"/>
                </a:solidFill>
                <a:latin typeface="Aptos" panose="020B0004020202020204" pitchFamily="34" charset="0"/>
              </a:rPr>
              <a:t>Ejecutar y registrar mediciones</a:t>
            </a:r>
          </a:p>
        </p:txBody>
      </p:sp>
    </p:spTree>
    <p:extLst>
      <p:ext uri="{BB962C8B-B14F-4D97-AF65-F5344CB8AC3E}">
        <p14:creationId xmlns:p14="http://schemas.microsoft.com/office/powerpoint/2010/main" val="2944986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FAF84A46-60D3-B275-6FFF-E7617A6AAC35}"/>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Anexo: contexto completo</a:t>
            </a:r>
          </a:p>
        </p:txBody>
      </p:sp>
      <p:sp>
        <p:nvSpPr>
          <p:cNvPr id="3" name="CuadroTexto 2">
            <a:extLst>
              <a:ext uri="{FF2B5EF4-FFF2-40B4-BE49-F238E27FC236}">
                <a16:creationId xmlns:a16="http://schemas.microsoft.com/office/drawing/2014/main" id="{ED936A49-0246-8030-8190-6BD269098BA7}"/>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36386069-7E49-27E5-BA4B-07F0F2341565}"/>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17</a:t>
            </a:r>
          </a:p>
        </p:txBody>
      </p:sp>
      <p:pic>
        <p:nvPicPr>
          <p:cNvPr id="6" name="Imagen 5">
            <a:extLst>
              <a:ext uri="{FF2B5EF4-FFF2-40B4-BE49-F238E27FC236}">
                <a16:creationId xmlns:a16="http://schemas.microsoft.com/office/drawing/2014/main" id="{AB9B3C7A-CCF5-D677-D9A7-E3ED2AD90BD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502477" y="1143000"/>
            <a:ext cx="7187046" cy="5270500"/>
          </a:xfrm>
          <a:prstGeom prst="rect">
            <a:avLst/>
          </a:prstGeom>
        </p:spPr>
      </p:pic>
    </p:spTree>
    <p:extLst>
      <p:ext uri="{BB962C8B-B14F-4D97-AF65-F5344CB8AC3E}">
        <p14:creationId xmlns:p14="http://schemas.microsoft.com/office/powerpoint/2010/main" val="3871082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BBCAAF8E-DAAE-A760-2C81-5A1F1707EAB8}"/>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Anexo: contenedores completos</a:t>
            </a:r>
          </a:p>
        </p:txBody>
      </p:sp>
      <p:sp>
        <p:nvSpPr>
          <p:cNvPr id="3" name="CuadroTexto 2">
            <a:extLst>
              <a:ext uri="{FF2B5EF4-FFF2-40B4-BE49-F238E27FC236}">
                <a16:creationId xmlns:a16="http://schemas.microsoft.com/office/drawing/2014/main" id="{EE1B864F-6B89-A5AA-2A42-65BE83AB3A59}"/>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35D4757E-A6E4-4FC9-767C-1CAEFF8D4A4B}"/>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18</a:t>
            </a:r>
          </a:p>
        </p:txBody>
      </p:sp>
      <p:pic>
        <p:nvPicPr>
          <p:cNvPr id="6" name="Imagen 5">
            <a:extLst>
              <a:ext uri="{FF2B5EF4-FFF2-40B4-BE49-F238E27FC236}">
                <a16:creationId xmlns:a16="http://schemas.microsoft.com/office/drawing/2014/main" id="{D0F7FD24-F751-3C3D-D130-7F5F49967DE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862564" y="1143000"/>
            <a:ext cx="6466871" cy="5270500"/>
          </a:xfrm>
          <a:prstGeom prst="rect">
            <a:avLst/>
          </a:prstGeom>
        </p:spPr>
      </p:pic>
    </p:spTree>
    <p:extLst>
      <p:ext uri="{BB962C8B-B14F-4D97-AF65-F5344CB8AC3E}">
        <p14:creationId xmlns:p14="http://schemas.microsoft.com/office/powerpoint/2010/main" val="24678307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2038343E-5125-0339-261D-F872A3B9C0C3}"/>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Anexo: componentes completos</a:t>
            </a:r>
          </a:p>
        </p:txBody>
      </p:sp>
      <p:sp>
        <p:nvSpPr>
          <p:cNvPr id="3" name="CuadroTexto 2">
            <a:extLst>
              <a:ext uri="{FF2B5EF4-FFF2-40B4-BE49-F238E27FC236}">
                <a16:creationId xmlns:a16="http://schemas.microsoft.com/office/drawing/2014/main" id="{E603DCD2-4A7B-9E95-75A5-807B9AA43A22}"/>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211387E6-C89B-0DF5-0330-5B61ED74877D}"/>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19</a:t>
            </a:r>
          </a:p>
        </p:txBody>
      </p:sp>
      <p:pic>
        <p:nvPicPr>
          <p:cNvPr id="6" name="Imagen 5">
            <a:extLst>
              <a:ext uri="{FF2B5EF4-FFF2-40B4-BE49-F238E27FC236}">
                <a16:creationId xmlns:a16="http://schemas.microsoft.com/office/drawing/2014/main" id="{539EFC40-8D23-F708-352D-27EB43EE3CC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921000" y="1143000"/>
            <a:ext cx="6350000" cy="5270500"/>
          </a:xfrm>
          <a:prstGeom prst="rect">
            <a:avLst/>
          </a:prstGeom>
        </p:spPr>
      </p:pic>
    </p:spTree>
    <p:extLst>
      <p:ext uri="{BB962C8B-B14F-4D97-AF65-F5344CB8AC3E}">
        <p14:creationId xmlns:p14="http://schemas.microsoft.com/office/powerpoint/2010/main" val="18624791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D479C8B6-5026-98DF-3F76-4199FE8CCED9}"/>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Anexo: clases de Pedidos</a:t>
            </a:r>
          </a:p>
        </p:txBody>
      </p:sp>
      <p:sp>
        <p:nvSpPr>
          <p:cNvPr id="3" name="CuadroTexto 2">
            <a:extLst>
              <a:ext uri="{FF2B5EF4-FFF2-40B4-BE49-F238E27FC236}">
                <a16:creationId xmlns:a16="http://schemas.microsoft.com/office/drawing/2014/main" id="{955B657A-0DD6-AFF3-374A-6F63281D3702}"/>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9BAE0152-41B2-6077-FC7F-D1A16DC2587A}"/>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20</a:t>
            </a:r>
          </a:p>
        </p:txBody>
      </p:sp>
      <p:pic>
        <p:nvPicPr>
          <p:cNvPr id="6" name="Imagen 5">
            <a:extLst>
              <a:ext uri="{FF2B5EF4-FFF2-40B4-BE49-F238E27FC236}">
                <a16:creationId xmlns:a16="http://schemas.microsoft.com/office/drawing/2014/main" id="{FBC04FF1-509C-2FBD-B5C1-8994462D0CF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780123" y="1143000"/>
            <a:ext cx="6631755" cy="5270500"/>
          </a:xfrm>
          <a:prstGeom prst="rect">
            <a:avLst/>
          </a:prstGeom>
        </p:spPr>
      </p:pic>
    </p:spTree>
    <p:extLst>
      <p:ext uri="{BB962C8B-B14F-4D97-AF65-F5344CB8AC3E}">
        <p14:creationId xmlns:p14="http://schemas.microsoft.com/office/powerpoint/2010/main" val="7051815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6638D061-E5EE-298C-75E3-A0C7B8E9BDBA}"/>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Anexo: secuencia de pedido y pago</a:t>
            </a:r>
          </a:p>
        </p:txBody>
      </p:sp>
      <p:sp>
        <p:nvSpPr>
          <p:cNvPr id="3" name="CuadroTexto 2">
            <a:extLst>
              <a:ext uri="{FF2B5EF4-FFF2-40B4-BE49-F238E27FC236}">
                <a16:creationId xmlns:a16="http://schemas.microsoft.com/office/drawing/2014/main" id="{37BA0AA6-A17D-D5AE-35F8-80B4A4E6822D}"/>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2CC64906-671A-994F-B85C-8AA9C7CCBC1F}"/>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21</a:t>
            </a:r>
          </a:p>
        </p:txBody>
      </p:sp>
      <p:pic>
        <p:nvPicPr>
          <p:cNvPr id="6" name="Imagen 5">
            <a:extLst>
              <a:ext uri="{FF2B5EF4-FFF2-40B4-BE49-F238E27FC236}">
                <a16:creationId xmlns:a16="http://schemas.microsoft.com/office/drawing/2014/main" id="{69EF5728-FC11-5BE5-D347-DF38D1FC46A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901758" y="1143000"/>
            <a:ext cx="6388485" cy="5270500"/>
          </a:xfrm>
          <a:prstGeom prst="rect">
            <a:avLst/>
          </a:prstGeom>
        </p:spPr>
      </p:pic>
    </p:spTree>
    <p:extLst>
      <p:ext uri="{BB962C8B-B14F-4D97-AF65-F5344CB8AC3E}">
        <p14:creationId xmlns:p14="http://schemas.microsoft.com/office/powerpoint/2010/main" val="680032393"/>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2499</Words>
  <Application>Microsoft Office PowerPoint</Application>
  <PresentationFormat>Personalizado</PresentationFormat>
  <Paragraphs>364</Paragraphs>
  <Slides>21</Slides>
  <Notes>21</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21</vt:i4>
      </vt:variant>
    </vt:vector>
  </HeadingPairs>
  <TitlesOfParts>
    <vt:vector size="25" baseType="lpstr">
      <vt:lpstr>Aptos</vt:lpstr>
      <vt:lpstr>Aptos Display</vt:lpstr>
      <vt:lpstr>Arial</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User</dc:creator>
  <cp:lastModifiedBy>User</cp:lastModifiedBy>
  <cp:revision>2</cp:revision>
  <dcterms:created xsi:type="dcterms:W3CDTF">2026-10-30T11:15:57Z</dcterms:created>
  <dcterms:modified xsi:type="dcterms:W3CDTF">2026-10-30T11:27:03Z</dcterms:modified>
</cp:coreProperties>
</file>